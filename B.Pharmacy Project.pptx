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theme/themeOverride1.xml" ContentType="application/vnd.openxmlformats-officedocument.themeOverr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4.xml" ContentType="application/vnd.openxmlformats-officedocument.presentationml.notesSlide+xml"/>
  <Override PartName="/ppt/charts/chart6.xml" ContentType="application/vnd.openxmlformats-officedocument.drawingml.chart+xml"/>
  <Override PartName="/ppt/theme/themeOverride2.xml" ContentType="application/vnd.openxmlformats-officedocument.themeOverride+xml"/>
  <Override PartName="/ppt/charts/chart7.xml" ContentType="application/vnd.openxmlformats-officedocument.drawingml.chart+xml"/>
  <Override PartName="/ppt/charts/chart8.xml" ContentType="application/vnd.openxmlformats-officedocument.drawingml.chart+xml"/>
  <Override PartName="/ppt/theme/themeOverride3.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7" r:id="rId1"/>
  </p:sldMasterIdLst>
  <p:notesMasterIdLst>
    <p:notesMasterId r:id="rId33"/>
  </p:notesMasterIdLst>
  <p:sldIdLst>
    <p:sldId id="265" r:id="rId2"/>
    <p:sldId id="262" r:id="rId3"/>
    <p:sldId id="280" r:id="rId4"/>
    <p:sldId id="258" r:id="rId5"/>
    <p:sldId id="257" r:id="rId6"/>
    <p:sldId id="269" r:id="rId7"/>
    <p:sldId id="276" r:id="rId8"/>
    <p:sldId id="282" r:id="rId9"/>
    <p:sldId id="259" r:id="rId10"/>
    <p:sldId id="260" r:id="rId11"/>
    <p:sldId id="272" r:id="rId12"/>
    <p:sldId id="284" r:id="rId13"/>
    <p:sldId id="271" r:id="rId14"/>
    <p:sldId id="273" r:id="rId15"/>
    <p:sldId id="278" r:id="rId16"/>
    <p:sldId id="274" r:id="rId17"/>
    <p:sldId id="285" r:id="rId18"/>
    <p:sldId id="275" r:id="rId19"/>
    <p:sldId id="286" r:id="rId20"/>
    <p:sldId id="287" r:id="rId21"/>
    <p:sldId id="289" r:id="rId22"/>
    <p:sldId id="288" r:id="rId23"/>
    <p:sldId id="294" r:id="rId24"/>
    <p:sldId id="290" r:id="rId25"/>
    <p:sldId id="291" r:id="rId26"/>
    <p:sldId id="292" r:id="rId27"/>
    <p:sldId id="293" r:id="rId28"/>
    <p:sldId id="295" r:id="rId29"/>
    <p:sldId id="281" r:id="rId30"/>
    <p:sldId id="283" r:id="rId31"/>
    <p:sldId id="266"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AA6B5F-A945-48CD-AF38-D96511CF2146}" v="213" dt="2023-08-09T12:20:19.8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6" autoAdjust="0"/>
    <p:restoredTop sz="94660"/>
  </p:normalViewPr>
  <p:slideViewPr>
    <p:cSldViewPr>
      <p:cViewPr varScale="1">
        <p:scale>
          <a:sx n="78" d="100"/>
          <a:sy n="78" d="100"/>
        </p:scale>
        <p:origin x="1517"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jji sathvika" userId="f6df90e50ee94c36" providerId="LiveId" clId="{7DAA6B5F-A945-48CD-AF38-D96511CF2146}"/>
    <pc:docChg chg="undo custSel addSld delSld modSld">
      <pc:chgData name="gajji sathvika" userId="f6df90e50ee94c36" providerId="LiveId" clId="{7DAA6B5F-A945-48CD-AF38-D96511CF2146}" dt="2023-08-09T12:28:49.999" v="1492" actId="255"/>
      <pc:docMkLst>
        <pc:docMk/>
      </pc:docMkLst>
      <pc:sldChg chg="modSp mod">
        <pc:chgData name="gajji sathvika" userId="f6df90e50ee94c36" providerId="LiveId" clId="{7DAA6B5F-A945-48CD-AF38-D96511CF2146}" dt="2023-08-09T12:21:09.471" v="1435" actId="20577"/>
        <pc:sldMkLst>
          <pc:docMk/>
          <pc:sldMk cId="0" sldId="262"/>
        </pc:sldMkLst>
        <pc:spChg chg="mod">
          <ac:chgData name="gajji sathvika" userId="f6df90e50ee94c36" providerId="LiveId" clId="{7DAA6B5F-A945-48CD-AF38-D96511CF2146}" dt="2023-08-09T12:21:09.471" v="1435" actId="20577"/>
          <ac:spMkLst>
            <pc:docMk/>
            <pc:sldMk cId="0" sldId="262"/>
            <ac:spMk id="3" creationId="{00000000-0000-0000-0000-000000000000}"/>
          </ac:spMkLst>
        </pc:spChg>
      </pc:sldChg>
      <pc:sldChg chg="addSp delSp modSp mod">
        <pc:chgData name="gajji sathvika" userId="f6df90e50ee94c36" providerId="LiveId" clId="{7DAA6B5F-A945-48CD-AF38-D96511CF2146}" dt="2023-08-09T12:20:23.452" v="1434" actId="21"/>
        <pc:sldMkLst>
          <pc:docMk/>
          <pc:sldMk cId="0" sldId="265"/>
        </pc:sldMkLst>
        <pc:picChg chg="add mod">
          <ac:chgData name="gajji sathvika" userId="f6df90e50ee94c36" providerId="LiveId" clId="{7DAA6B5F-A945-48CD-AF38-D96511CF2146}" dt="2023-08-09T12:20:19.818" v="1433" actId="1076"/>
          <ac:picMkLst>
            <pc:docMk/>
            <pc:sldMk cId="0" sldId="265"/>
            <ac:picMk id="2" creationId="{9321EC95-FF3E-067E-17C6-1814AD13221C}"/>
          </ac:picMkLst>
        </pc:picChg>
        <pc:picChg chg="del mod">
          <ac:chgData name="gajji sathvika" userId="f6df90e50ee94c36" providerId="LiveId" clId="{7DAA6B5F-A945-48CD-AF38-D96511CF2146}" dt="2023-08-09T12:20:23.452" v="1434" actId="21"/>
          <ac:picMkLst>
            <pc:docMk/>
            <pc:sldMk cId="0" sldId="265"/>
            <ac:picMk id="2052" creationId="{00000000-0000-0000-0000-000000000000}"/>
          </ac:picMkLst>
        </pc:picChg>
      </pc:sldChg>
      <pc:sldChg chg="addSp modSp mod">
        <pc:chgData name="gajji sathvika" userId="f6df90e50ee94c36" providerId="LiveId" clId="{7DAA6B5F-A945-48CD-AF38-D96511CF2146}" dt="2023-08-09T12:21:35.047" v="1436" actId="1076"/>
        <pc:sldMkLst>
          <pc:docMk/>
          <pc:sldMk cId="2197362965" sldId="269"/>
        </pc:sldMkLst>
        <pc:spChg chg="mod">
          <ac:chgData name="gajji sathvika" userId="f6df90e50ee94c36" providerId="LiveId" clId="{7DAA6B5F-A945-48CD-AF38-D96511CF2146}" dt="2023-08-09T12:17:10.431" v="1407" actId="1076"/>
          <ac:spMkLst>
            <pc:docMk/>
            <pc:sldMk cId="2197362965" sldId="269"/>
            <ac:spMk id="2" creationId="{B5AA0026-B062-32A8-D47D-A536317B8B39}"/>
          </ac:spMkLst>
        </pc:spChg>
        <pc:spChg chg="mod">
          <ac:chgData name="gajji sathvika" userId="f6df90e50ee94c36" providerId="LiveId" clId="{7DAA6B5F-A945-48CD-AF38-D96511CF2146}" dt="2023-08-09T12:18:57.359" v="1423" actId="207"/>
          <ac:spMkLst>
            <pc:docMk/>
            <pc:sldMk cId="2197362965" sldId="269"/>
            <ac:spMk id="3" creationId="{27C3EC16-98A6-8259-7C41-BB4CE374DBEF}"/>
          </ac:spMkLst>
        </pc:spChg>
        <pc:spChg chg="add mod">
          <ac:chgData name="gajji sathvika" userId="f6df90e50ee94c36" providerId="LiveId" clId="{7DAA6B5F-A945-48CD-AF38-D96511CF2146}" dt="2023-08-09T12:17:54.231" v="1414" actId="1076"/>
          <ac:spMkLst>
            <pc:docMk/>
            <pc:sldMk cId="2197362965" sldId="269"/>
            <ac:spMk id="5" creationId="{CD48972B-A252-0F7F-EF72-1FD23D42DCE0}"/>
          </ac:spMkLst>
        </pc:spChg>
        <pc:spChg chg="add mod">
          <ac:chgData name="gajji sathvika" userId="f6df90e50ee94c36" providerId="LiveId" clId="{7DAA6B5F-A945-48CD-AF38-D96511CF2146}" dt="2023-08-09T12:21:35.047" v="1436" actId="1076"/>
          <ac:spMkLst>
            <pc:docMk/>
            <pc:sldMk cId="2197362965" sldId="269"/>
            <ac:spMk id="7" creationId="{EDF4FB0A-5364-5546-9C7E-2EE46A27E834}"/>
          </ac:spMkLst>
        </pc:spChg>
        <pc:cxnChg chg="add mod">
          <ac:chgData name="gajji sathvika" userId="f6df90e50ee94c36" providerId="LiveId" clId="{7DAA6B5F-A945-48CD-AF38-D96511CF2146}" dt="2023-08-09T12:18:23.689" v="1418" actId="13822"/>
          <ac:cxnSpMkLst>
            <pc:docMk/>
            <pc:sldMk cId="2197362965" sldId="269"/>
            <ac:cxnSpMk id="9" creationId="{850B00C6-0B95-E304-F1F9-A5D5FA35C614}"/>
          </ac:cxnSpMkLst>
        </pc:cxnChg>
        <pc:cxnChg chg="add mod">
          <ac:chgData name="gajji sathvika" userId="f6df90e50ee94c36" providerId="LiveId" clId="{7DAA6B5F-A945-48CD-AF38-D96511CF2146}" dt="2023-08-09T12:18:34.182" v="1420" actId="13822"/>
          <ac:cxnSpMkLst>
            <pc:docMk/>
            <pc:sldMk cId="2197362965" sldId="269"/>
            <ac:cxnSpMk id="11" creationId="{FB1C1F45-D65F-88CB-5348-82F74EAE7DAD}"/>
          </ac:cxnSpMkLst>
        </pc:cxnChg>
      </pc:sldChg>
      <pc:sldChg chg="del">
        <pc:chgData name="gajji sathvika" userId="f6df90e50ee94c36" providerId="LiveId" clId="{7DAA6B5F-A945-48CD-AF38-D96511CF2146}" dt="2023-08-09T12:19:31.094" v="1425" actId="2696"/>
        <pc:sldMkLst>
          <pc:docMk/>
          <pc:sldMk cId="2863776594" sldId="270"/>
        </pc:sldMkLst>
      </pc:sldChg>
      <pc:sldChg chg="addSp delSp modSp mod">
        <pc:chgData name="gajji sathvika" userId="f6df90e50ee94c36" providerId="LiveId" clId="{7DAA6B5F-A945-48CD-AF38-D96511CF2146}" dt="2023-08-09T12:28:49.999" v="1492" actId="255"/>
        <pc:sldMkLst>
          <pc:docMk/>
          <pc:sldMk cId="2470681624" sldId="271"/>
        </pc:sldMkLst>
        <pc:spChg chg="add del mod">
          <ac:chgData name="gajji sathvika" userId="f6df90e50ee94c36" providerId="LiveId" clId="{7DAA6B5F-A945-48CD-AF38-D96511CF2146}" dt="2023-08-09T12:28:49.999" v="1492" actId="255"/>
          <ac:spMkLst>
            <pc:docMk/>
            <pc:sldMk cId="2470681624" sldId="271"/>
            <ac:spMk id="2" creationId="{DDFAE494-BE99-20F5-373E-D32D1425E613}"/>
          </ac:spMkLst>
        </pc:spChg>
        <pc:spChg chg="add del mod">
          <ac:chgData name="gajji sathvika" userId="f6df90e50ee94c36" providerId="LiveId" clId="{7DAA6B5F-A945-48CD-AF38-D96511CF2146}" dt="2023-08-09T12:28:06.983" v="1478" actId="21"/>
          <ac:spMkLst>
            <pc:docMk/>
            <pc:sldMk cId="2470681624" sldId="271"/>
            <ac:spMk id="4" creationId="{A5AC32D8-6E8B-BFFF-4B04-4DAAF3369CB6}"/>
          </ac:spMkLst>
        </pc:spChg>
        <pc:graphicFrameChg chg="mod modGraphic">
          <ac:chgData name="gajji sathvika" userId="f6df90e50ee94c36" providerId="LiveId" clId="{7DAA6B5F-A945-48CD-AF38-D96511CF2146}" dt="2023-08-09T12:24:16.496" v="1463" actId="1076"/>
          <ac:graphicFrameMkLst>
            <pc:docMk/>
            <pc:sldMk cId="2470681624" sldId="271"/>
            <ac:graphicFrameMk id="6" creationId="{00000000-0000-0000-0000-000000000000}"/>
          </ac:graphicFrameMkLst>
        </pc:graphicFrameChg>
      </pc:sldChg>
      <pc:sldChg chg="modSp mod">
        <pc:chgData name="gajji sathvika" userId="f6df90e50ee94c36" providerId="LiveId" clId="{7DAA6B5F-A945-48CD-AF38-D96511CF2146}" dt="2023-08-09T12:25:24.545" v="1470" actId="20577"/>
        <pc:sldMkLst>
          <pc:docMk/>
          <pc:sldMk cId="4174381431" sldId="274"/>
        </pc:sldMkLst>
        <pc:graphicFrameChg chg="modGraphic">
          <ac:chgData name="gajji sathvika" userId="f6df90e50ee94c36" providerId="LiveId" clId="{7DAA6B5F-A945-48CD-AF38-D96511CF2146}" dt="2023-08-09T12:25:24.545" v="1470" actId="20577"/>
          <ac:graphicFrameMkLst>
            <pc:docMk/>
            <pc:sldMk cId="4174381431" sldId="274"/>
            <ac:graphicFrameMk id="6" creationId="{00000000-0000-0000-0000-000000000000}"/>
          </ac:graphicFrameMkLst>
        </pc:graphicFrameChg>
      </pc:sldChg>
      <pc:sldChg chg="modSp mod">
        <pc:chgData name="gajji sathvika" userId="f6df90e50ee94c36" providerId="LiveId" clId="{7DAA6B5F-A945-48CD-AF38-D96511CF2146}" dt="2023-08-09T12:24:55.619" v="1466" actId="2711"/>
        <pc:sldMkLst>
          <pc:docMk/>
          <pc:sldMk cId="3642932298" sldId="278"/>
        </pc:sldMkLst>
        <pc:spChg chg="mod">
          <ac:chgData name="gajji sathvika" userId="f6df90e50ee94c36" providerId="LiveId" clId="{7DAA6B5F-A945-48CD-AF38-D96511CF2146}" dt="2023-08-09T12:24:41.569" v="1464" actId="1076"/>
          <ac:spMkLst>
            <pc:docMk/>
            <pc:sldMk cId="3642932298" sldId="278"/>
            <ac:spMk id="4" creationId="{6243294F-9EA6-E8FC-23E4-5654800C183B}"/>
          </ac:spMkLst>
        </pc:spChg>
        <pc:graphicFrameChg chg="modGraphic">
          <ac:chgData name="gajji sathvika" userId="f6df90e50ee94c36" providerId="LiveId" clId="{7DAA6B5F-A945-48CD-AF38-D96511CF2146}" dt="2023-08-09T12:24:55.619" v="1466" actId="2711"/>
          <ac:graphicFrameMkLst>
            <pc:docMk/>
            <pc:sldMk cId="3642932298" sldId="278"/>
            <ac:graphicFrameMk id="5" creationId="{00000000-0000-0000-0000-000000000000}"/>
          </ac:graphicFrameMkLst>
        </pc:graphicFrameChg>
      </pc:sldChg>
      <pc:sldChg chg="addSp delSp modSp mod">
        <pc:chgData name="gajji sathvika" userId="f6df90e50ee94c36" providerId="LiveId" clId="{7DAA6B5F-A945-48CD-AF38-D96511CF2146}" dt="2023-08-09T11:57:55.436" v="794" actId="255"/>
        <pc:sldMkLst>
          <pc:docMk/>
          <pc:sldMk cId="2709245728" sldId="288"/>
        </pc:sldMkLst>
        <pc:spChg chg="mod">
          <ac:chgData name="gajji sathvika" userId="f6df90e50ee94c36" providerId="LiveId" clId="{7DAA6B5F-A945-48CD-AF38-D96511CF2146}" dt="2023-08-09T11:57:55.436" v="794" actId="255"/>
          <ac:spMkLst>
            <pc:docMk/>
            <pc:sldMk cId="2709245728" sldId="288"/>
            <ac:spMk id="5" creationId="{00000000-0000-0000-0000-000000000000}"/>
          </ac:spMkLst>
        </pc:spChg>
        <pc:graphicFrameChg chg="del mod modGraphic">
          <ac:chgData name="gajji sathvika" userId="f6df90e50ee94c36" providerId="LiveId" clId="{7DAA6B5F-A945-48CD-AF38-D96511CF2146}" dt="2023-08-09T11:50:18.894" v="700" actId="478"/>
          <ac:graphicFrameMkLst>
            <pc:docMk/>
            <pc:sldMk cId="2709245728" sldId="288"/>
            <ac:graphicFrameMk id="3" creationId="{00000000-0000-0000-0000-000000000000}"/>
          </ac:graphicFrameMkLst>
        </pc:graphicFrameChg>
        <pc:graphicFrameChg chg="del mod">
          <ac:chgData name="gajji sathvika" userId="f6df90e50ee94c36" providerId="LiveId" clId="{7DAA6B5F-A945-48CD-AF38-D96511CF2146}" dt="2023-08-09T11:49:26.488" v="686" actId="21"/>
          <ac:graphicFrameMkLst>
            <pc:docMk/>
            <pc:sldMk cId="2709245728" sldId="288"/>
            <ac:graphicFrameMk id="4" creationId="{902DE463-204C-68FA-6CCB-B089696E76A9}"/>
          </ac:graphicFrameMkLst>
        </pc:graphicFrameChg>
        <pc:graphicFrameChg chg="add mod modGraphic">
          <ac:chgData name="gajji sathvika" userId="f6df90e50ee94c36" providerId="LiveId" clId="{7DAA6B5F-A945-48CD-AF38-D96511CF2146}" dt="2023-08-09T11:51:35.937" v="714" actId="2711"/>
          <ac:graphicFrameMkLst>
            <pc:docMk/>
            <pc:sldMk cId="2709245728" sldId="288"/>
            <ac:graphicFrameMk id="6" creationId="{82F29CD8-D6A1-4E66-38BA-DA7232C71596}"/>
          </ac:graphicFrameMkLst>
        </pc:graphicFrameChg>
        <pc:graphicFrameChg chg="add mod">
          <ac:chgData name="gajji sathvika" userId="f6df90e50ee94c36" providerId="LiveId" clId="{7DAA6B5F-A945-48CD-AF38-D96511CF2146}" dt="2023-08-09T11:55:33.673" v="759"/>
          <ac:graphicFrameMkLst>
            <pc:docMk/>
            <pc:sldMk cId="2709245728" sldId="288"/>
            <ac:graphicFrameMk id="7" creationId="{F5B7AD81-0D54-9DBC-C548-D38108E4E060}"/>
          </ac:graphicFrameMkLst>
        </pc:graphicFrameChg>
      </pc:sldChg>
      <pc:sldChg chg="addSp delSp modSp mod">
        <pc:chgData name="gajji sathvika" userId="f6df90e50ee94c36" providerId="LiveId" clId="{7DAA6B5F-A945-48CD-AF38-D96511CF2146}" dt="2023-08-09T11:57:47.167" v="793" actId="255"/>
        <pc:sldMkLst>
          <pc:docMk/>
          <pc:sldMk cId="1085206699" sldId="289"/>
        </pc:sldMkLst>
        <pc:spChg chg="mod">
          <ac:chgData name="gajji sathvika" userId="f6df90e50ee94c36" providerId="LiveId" clId="{7DAA6B5F-A945-48CD-AF38-D96511CF2146}" dt="2023-08-09T11:57:47.167" v="793" actId="255"/>
          <ac:spMkLst>
            <pc:docMk/>
            <pc:sldMk cId="1085206699" sldId="289"/>
            <ac:spMk id="7" creationId="{00000000-0000-0000-0000-000000000000}"/>
          </ac:spMkLst>
        </pc:spChg>
        <pc:graphicFrameChg chg="del mod modGraphic">
          <ac:chgData name="gajji sathvika" userId="f6df90e50ee94c36" providerId="LiveId" clId="{7DAA6B5F-A945-48CD-AF38-D96511CF2146}" dt="2023-08-09T11:35:49.832" v="606" actId="21"/>
          <ac:graphicFrameMkLst>
            <pc:docMk/>
            <pc:sldMk cId="1085206699" sldId="289"/>
            <ac:graphicFrameMk id="3" creationId="{00000000-0000-0000-0000-000000000000}"/>
          </ac:graphicFrameMkLst>
        </pc:graphicFrameChg>
        <pc:graphicFrameChg chg="del">
          <ac:chgData name="gajji sathvika" userId="f6df90e50ee94c36" providerId="LiveId" clId="{7DAA6B5F-A945-48CD-AF38-D96511CF2146}" dt="2023-08-09T11:35:58.172" v="607" actId="21"/>
          <ac:graphicFrameMkLst>
            <pc:docMk/>
            <pc:sldMk cId="1085206699" sldId="289"/>
            <ac:graphicFrameMk id="4" creationId="{434C2D7F-A9D4-876E-4A98-F11FA51F1114}"/>
          </ac:graphicFrameMkLst>
        </pc:graphicFrameChg>
        <pc:graphicFrameChg chg="add mod modGraphic">
          <ac:chgData name="gajji sathvika" userId="f6df90e50ee94c36" providerId="LiveId" clId="{7DAA6B5F-A945-48CD-AF38-D96511CF2146}" dt="2023-08-09T11:40:21.102" v="661" actId="14100"/>
          <ac:graphicFrameMkLst>
            <pc:docMk/>
            <pc:sldMk cId="1085206699" sldId="289"/>
            <ac:graphicFrameMk id="5" creationId="{82B95822-99EE-96CC-A795-41BF13B5C104}"/>
          </ac:graphicFrameMkLst>
        </pc:graphicFrameChg>
        <pc:graphicFrameChg chg="add mod">
          <ac:chgData name="gajji sathvika" userId="f6df90e50ee94c36" providerId="LiveId" clId="{7DAA6B5F-A945-48CD-AF38-D96511CF2146}" dt="2023-08-09T11:55:23.749" v="757"/>
          <ac:graphicFrameMkLst>
            <pc:docMk/>
            <pc:sldMk cId="1085206699" sldId="289"/>
            <ac:graphicFrameMk id="6" creationId="{E4198B29-DB04-4249-E739-239D6562F3A7}"/>
          </ac:graphicFrameMkLst>
        </pc:graphicFrameChg>
      </pc:sldChg>
      <pc:sldChg chg="addSp delSp modSp mod">
        <pc:chgData name="gajji sathvika" userId="f6df90e50ee94c36" providerId="LiveId" clId="{7DAA6B5F-A945-48CD-AF38-D96511CF2146}" dt="2023-08-09T11:59:48.715" v="820" actId="255"/>
        <pc:sldMkLst>
          <pc:docMk/>
          <pc:sldMk cId="547450800" sldId="290"/>
        </pc:sldMkLst>
        <pc:spChg chg="add mod">
          <ac:chgData name="gajji sathvika" userId="f6df90e50ee94c36" providerId="LiveId" clId="{7DAA6B5F-A945-48CD-AF38-D96511CF2146}" dt="2023-08-09T10:42:08.746" v="359" actId="255"/>
          <ac:spMkLst>
            <pc:docMk/>
            <pc:sldMk cId="547450800" sldId="290"/>
            <ac:spMk id="7" creationId="{08FF0F5D-B206-2F81-0643-A40BA76EB9AD}"/>
          </ac:spMkLst>
        </pc:spChg>
        <pc:spChg chg="add mod">
          <ac:chgData name="gajji sathvika" userId="f6df90e50ee94c36" providerId="LiveId" clId="{7DAA6B5F-A945-48CD-AF38-D96511CF2146}" dt="2023-08-09T11:58:14.037" v="796" actId="1076"/>
          <ac:spMkLst>
            <pc:docMk/>
            <pc:sldMk cId="547450800" sldId="290"/>
            <ac:spMk id="8" creationId="{49480118-E62A-42D5-1BC3-A354C42512EE}"/>
          </ac:spMkLst>
        </pc:spChg>
        <pc:graphicFrameChg chg="add del mod">
          <ac:chgData name="gajji sathvika" userId="f6df90e50ee94c36" providerId="LiveId" clId="{7DAA6B5F-A945-48CD-AF38-D96511CF2146}" dt="2023-08-09T10:16:09.930" v="10"/>
          <ac:graphicFrameMkLst>
            <pc:docMk/>
            <pc:sldMk cId="547450800" sldId="290"/>
            <ac:graphicFrameMk id="3" creationId="{29149350-7129-D9D5-1196-F21E39ADF9FE}"/>
          </ac:graphicFrameMkLst>
        </pc:graphicFrameChg>
        <pc:graphicFrameChg chg="add del mod">
          <ac:chgData name="gajji sathvika" userId="f6df90e50ee94c36" providerId="LiveId" clId="{7DAA6B5F-A945-48CD-AF38-D96511CF2146}" dt="2023-08-09T10:16:09.284" v="8"/>
          <ac:graphicFrameMkLst>
            <pc:docMk/>
            <pc:sldMk cId="547450800" sldId="290"/>
            <ac:graphicFrameMk id="4" creationId="{E62550B7-7791-E857-3B49-A2FD046DA277}"/>
          </ac:graphicFrameMkLst>
        </pc:graphicFrameChg>
        <pc:graphicFrameChg chg="add mod modGraphic">
          <ac:chgData name="gajji sathvika" userId="f6df90e50ee94c36" providerId="LiveId" clId="{7DAA6B5F-A945-48CD-AF38-D96511CF2146}" dt="2023-08-09T10:39:18.544" v="327" actId="2711"/>
          <ac:graphicFrameMkLst>
            <pc:docMk/>
            <pc:sldMk cId="547450800" sldId="290"/>
            <ac:graphicFrameMk id="5" creationId="{BD7F008E-E0BE-197E-E63C-3F4523A64466}"/>
          </ac:graphicFrameMkLst>
        </pc:graphicFrameChg>
        <pc:graphicFrameChg chg="add del mod">
          <ac:chgData name="gajji sathvika" userId="f6df90e50ee94c36" providerId="LiveId" clId="{7DAA6B5F-A945-48CD-AF38-D96511CF2146}" dt="2023-08-09T11:59:48.715" v="820" actId="255"/>
          <ac:graphicFrameMkLst>
            <pc:docMk/>
            <pc:sldMk cId="547450800" sldId="290"/>
            <ac:graphicFrameMk id="6" creationId="{CF847479-9323-C2A7-0FFE-F2530067B8EE}"/>
          </ac:graphicFrameMkLst>
        </pc:graphicFrameChg>
      </pc:sldChg>
      <pc:sldChg chg="addSp delSp modSp new mod">
        <pc:chgData name="gajji sathvika" userId="f6df90e50ee94c36" providerId="LiveId" clId="{7DAA6B5F-A945-48CD-AF38-D96511CF2146}" dt="2023-08-09T10:41:54.813" v="358" actId="255"/>
        <pc:sldMkLst>
          <pc:docMk/>
          <pc:sldMk cId="2131075279" sldId="291"/>
        </pc:sldMkLst>
        <pc:spChg chg="add mod">
          <ac:chgData name="gajji sathvika" userId="f6df90e50ee94c36" providerId="LiveId" clId="{7DAA6B5F-A945-48CD-AF38-D96511CF2146}" dt="2023-08-09T10:38:31.484" v="318" actId="1076"/>
          <ac:spMkLst>
            <pc:docMk/>
            <pc:sldMk cId="2131075279" sldId="291"/>
            <ac:spMk id="8" creationId="{1979EDFE-9390-B767-82B2-6C074560FA93}"/>
          </ac:spMkLst>
        </pc:spChg>
        <pc:spChg chg="add del mod">
          <ac:chgData name="gajji sathvika" userId="f6df90e50ee94c36" providerId="LiveId" clId="{7DAA6B5F-A945-48CD-AF38-D96511CF2146}" dt="2023-08-09T10:38:17.594" v="315" actId="767"/>
          <ac:spMkLst>
            <pc:docMk/>
            <pc:sldMk cId="2131075279" sldId="291"/>
            <ac:spMk id="9" creationId="{6EA39C15-99A0-9DF3-742D-208284357819}"/>
          </ac:spMkLst>
        </pc:spChg>
        <pc:spChg chg="add del">
          <ac:chgData name="gajji sathvika" userId="f6df90e50ee94c36" providerId="LiveId" clId="{7DAA6B5F-A945-48CD-AF38-D96511CF2146}" dt="2023-08-09T10:39:44.909" v="329" actId="22"/>
          <ac:spMkLst>
            <pc:docMk/>
            <pc:sldMk cId="2131075279" sldId="291"/>
            <ac:spMk id="11" creationId="{1E99F576-5C26-DC94-768E-74F70DB7EBF0}"/>
          </ac:spMkLst>
        </pc:spChg>
        <pc:spChg chg="add del mod">
          <ac:chgData name="gajji sathvika" userId="f6df90e50ee94c36" providerId="LiveId" clId="{7DAA6B5F-A945-48CD-AF38-D96511CF2146}" dt="2023-08-09T10:39:57.160" v="332"/>
          <ac:spMkLst>
            <pc:docMk/>
            <pc:sldMk cId="2131075279" sldId="291"/>
            <ac:spMk id="12" creationId="{B63AA472-FE79-752E-4068-3C611769C8A6}"/>
          </ac:spMkLst>
        </pc:spChg>
        <pc:spChg chg="add del">
          <ac:chgData name="gajji sathvika" userId="f6df90e50ee94c36" providerId="LiveId" clId="{7DAA6B5F-A945-48CD-AF38-D96511CF2146}" dt="2023-08-09T10:40:06.579" v="336" actId="22"/>
          <ac:spMkLst>
            <pc:docMk/>
            <pc:sldMk cId="2131075279" sldId="291"/>
            <ac:spMk id="14" creationId="{168965AC-13EE-C1B6-BC5F-11D2BF048E78}"/>
          </ac:spMkLst>
        </pc:spChg>
        <pc:spChg chg="add del mod">
          <ac:chgData name="gajji sathvika" userId="f6df90e50ee94c36" providerId="LiveId" clId="{7DAA6B5F-A945-48CD-AF38-D96511CF2146}" dt="2023-08-09T10:40:05.952" v="335" actId="767"/>
          <ac:spMkLst>
            <pc:docMk/>
            <pc:sldMk cId="2131075279" sldId="291"/>
            <ac:spMk id="15" creationId="{F38C0EB6-E722-5F0C-4E79-2AC4990DF239}"/>
          </ac:spMkLst>
        </pc:spChg>
        <pc:spChg chg="add mod">
          <ac:chgData name="gajji sathvika" userId="f6df90e50ee94c36" providerId="LiveId" clId="{7DAA6B5F-A945-48CD-AF38-D96511CF2146}" dt="2023-08-09T10:41:54.813" v="358" actId="255"/>
          <ac:spMkLst>
            <pc:docMk/>
            <pc:sldMk cId="2131075279" sldId="291"/>
            <ac:spMk id="16" creationId="{D47B447C-21C6-2245-45AC-8E0808A100CB}"/>
          </ac:spMkLst>
        </pc:spChg>
        <pc:spChg chg="add del mod">
          <ac:chgData name="gajji sathvika" userId="f6df90e50ee94c36" providerId="LiveId" clId="{7DAA6B5F-A945-48CD-AF38-D96511CF2146}" dt="2023-08-09T10:41:35.702" v="355" actId="478"/>
          <ac:spMkLst>
            <pc:docMk/>
            <pc:sldMk cId="2131075279" sldId="291"/>
            <ac:spMk id="18" creationId="{2228C6DC-39FA-551B-9B7B-07404D71494F}"/>
          </ac:spMkLst>
        </pc:spChg>
        <pc:graphicFrameChg chg="add del mod">
          <ac:chgData name="gajji sathvika" userId="f6df90e50ee94c36" providerId="LiveId" clId="{7DAA6B5F-A945-48CD-AF38-D96511CF2146}" dt="2023-08-09T10:27:07.644" v="172"/>
          <ac:graphicFrameMkLst>
            <pc:docMk/>
            <pc:sldMk cId="2131075279" sldId="291"/>
            <ac:graphicFrameMk id="3" creationId="{75CA3C69-049E-A3BA-9AD0-6DA6B8210B25}"/>
          </ac:graphicFrameMkLst>
        </pc:graphicFrameChg>
        <pc:graphicFrameChg chg="add del modGraphic">
          <ac:chgData name="gajji sathvika" userId="f6df90e50ee94c36" providerId="LiveId" clId="{7DAA6B5F-A945-48CD-AF38-D96511CF2146}" dt="2023-08-09T10:28:38.281" v="183" actId="3680"/>
          <ac:graphicFrameMkLst>
            <pc:docMk/>
            <pc:sldMk cId="2131075279" sldId="291"/>
            <ac:graphicFrameMk id="4" creationId="{3B9A150A-EC12-AC76-26AA-C03B72F13723}"/>
          </ac:graphicFrameMkLst>
        </pc:graphicFrameChg>
        <pc:graphicFrameChg chg="add mod modGraphic">
          <ac:chgData name="gajji sathvika" userId="f6df90e50ee94c36" providerId="LiveId" clId="{7DAA6B5F-A945-48CD-AF38-D96511CF2146}" dt="2023-08-09T10:41:27.930" v="352" actId="1076"/>
          <ac:graphicFrameMkLst>
            <pc:docMk/>
            <pc:sldMk cId="2131075279" sldId="291"/>
            <ac:graphicFrameMk id="5" creationId="{649A5CAE-F745-1FB1-E9F4-A342C447B892}"/>
          </ac:graphicFrameMkLst>
        </pc:graphicFrameChg>
        <pc:graphicFrameChg chg="add mod">
          <ac:chgData name="gajji sathvika" userId="f6df90e50ee94c36" providerId="LiveId" clId="{7DAA6B5F-A945-48CD-AF38-D96511CF2146}" dt="2023-08-09T10:38:22.194" v="316"/>
          <ac:graphicFrameMkLst>
            <pc:docMk/>
            <pc:sldMk cId="2131075279" sldId="291"/>
            <ac:graphicFrameMk id="6" creationId="{BCEA938D-312C-A161-8A01-8A46ABB9767C}"/>
          </ac:graphicFrameMkLst>
        </pc:graphicFrameChg>
      </pc:sldChg>
      <pc:sldChg chg="addSp modSp new mod">
        <pc:chgData name="gajji sathvika" userId="f6df90e50ee94c36" providerId="LiveId" clId="{7DAA6B5F-A945-48CD-AF38-D96511CF2146}" dt="2023-08-09T12:00:23.335" v="828"/>
        <pc:sldMkLst>
          <pc:docMk/>
          <pc:sldMk cId="3905734020" sldId="292"/>
        </pc:sldMkLst>
        <pc:spChg chg="add mod">
          <ac:chgData name="gajji sathvika" userId="f6df90e50ee94c36" providerId="LiveId" clId="{7DAA6B5F-A945-48CD-AF38-D96511CF2146}" dt="2023-08-09T10:59:57.590" v="531" actId="255"/>
          <ac:spMkLst>
            <pc:docMk/>
            <pc:sldMk cId="3905734020" sldId="292"/>
            <ac:spMk id="6" creationId="{65800F54-48D5-CD3F-9135-5FBC59BAE8A1}"/>
          </ac:spMkLst>
        </pc:spChg>
        <pc:spChg chg="add mod">
          <ac:chgData name="gajji sathvika" userId="f6df90e50ee94c36" providerId="LiveId" clId="{7DAA6B5F-A945-48CD-AF38-D96511CF2146}" dt="2023-08-09T10:58:54.827" v="525" actId="2711"/>
          <ac:spMkLst>
            <pc:docMk/>
            <pc:sldMk cId="3905734020" sldId="292"/>
            <ac:spMk id="8" creationId="{F0992AA0-9F62-FE49-0064-F34B1D57B5C1}"/>
          </ac:spMkLst>
        </pc:spChg>
        <pc:graphicFrameChg chg="add mod modGraphic">
          <ac:chgData name="gajji sathvika" userId="f6df90e50ee94c36" providerId="LiveId" clId="{7DAA6B5F-A945-48CD-AF38-D96511CF2146}" dt="2023-08-09T11:10:02.437" v="598" actId="20577"/>
          <ac:graphicFrameMkLst>
            <pc:docMk/>
            <pc:sldMk cId="3905734020" sldId="292"/>
            <ac:graphicFrameMk id="3" creationId="{922C5EC1-4709-89F4-0A51-129D5914229D}"/>
          </ac:graphicFrameMkLst>
        </pc:graphicFrameChg>
        <pc:graphicFrameChg chg="add mod">
          <ac:chgData name="gajji sathvika" userId="f6df90e50ee94c36" providerId="LiveId" clId="{7DAA6B5F-A945-48CD-AF38-D96511CF2146}" dt="2023-08-09T12:00:23.335" v="828"/>
          <ac:graphicFrameMkLst>
            <pc:docMk/>
            <pc:sldMk cId="3905734020" sldId="292"/>
            <ac:graphicFrameMk id="4" creationId="{07DE9F67-9A58-FF1D-11DD-4A045A238767}"/>
          </ac:graphicFrameMkLst>
        </pc:graphicFrameChg>
      </pc:sldChg>
      <pc:sldChg chg="addSp delSp modSp new mod">
        <pc:chgData name="gajji sathvika" userId="f6df90e50ee94c36" providerId="LiveId" clId="{7DAA6B5F-A945-48CD-AF38-D96511CF2146}" dt="2023-08-09T12:04:35.242" v="913" actId="14100"/>
        <pc:sldMkLst>
          <pc:docMk/>
          <pc:sldMk cId="2109180873" sldId="293"/>
        </pc:sldMkLst>
        <pc:spChg chg="add mod">
          <ac:chgData name="gajji sathvika" userId="f6df90e50ee94c36" providerId="LiveId" clId="{7DAA6B5F-A945-48CD-AF38-D96511CF2146}" dt="2023-08-09T12:04:35.242" v="913" actId="14100"/>
          <ac:spMkLst>
            <pc:docMk/>
            <pc:sldMk cId="2109180873" sldId="293"/>
            <ac:spMk id="5" creationId="{39D650D9-ED44-7DDC-7ABA-801461F17D52}"/>
          </ac:spMkLst>
        </pc:spChg>
        <pc:spChg chg="add del mod">
          <ac:chgData name="gajji sathvika" userId="f6df90e50ee94c36" providerId="LiveId" clId="{7DAA6B5F-A945-48CD-AF38-D96511CF2146}" dt="2023-08-09T12:03:06.374" v="853"/>
          <ac:spMkLst>
            <pc:docMk/>
            <pc:sldMk cId="2109180873" sldId="293"/>
            <ac:spMk id="6" creationId="{05B02F2B-CFC9-BA50-35A2-F6821B950718}"/>
          </ac:spMkLst>
        </pc:spChg>
        <pc:spChg chg="add mod">
          <ac:chgData name="gajji sathvika" userId="f6df90e50ee94c36" providerId="LiveId" clId="{7DAA6B5F-A945-48CD-AF38-D96511CF2146}" dt="2023-08-09T12:04:18.826" v="911" actId="20577"/>
          <ac:spMkLst>
            <pc:docMk/>
            <pc:sldMk cId="2109180873" sldId="293"/>
            <ac:spMk id="7" creationId="{C8748A76-05A3-4DF4-0F96-FF5A78FA74EB}"/>
          </ac:spMkLst>
        </pc:spChg>
        <pc:graphicFrameChg chg="add mod modGraphic">
          <ac:chgData name="gajji sathvika" userId="f6df90e50ee94c36" providerId="LiveId" clId="{7DAA6B5F-A945-48CD-AF38-D96511CF2146}" dt="2023-08-09T11:08:02.601" v="596" actId="1076"/>
          <ac:graphicFrameMkLst>
            <pc:docMk/>
            <pc:sldMk cId="2109180873" sldId="293"/>
            <ac:graphicFrameMk id="4" creationId="{5C7327A2-E1AD-7E99-7627-ABD61DF36DD3}"/>
          </ac:graphicFrameMkLst>
        </pc:graphicFrameChg>
        <pc:picChg chg="add mod">
          <ac:chgData name="gajji sathvika" userId="f6df90e50ee94c36" providerId="LiveId" clId="{7DAA6B5F-A945-48CD-AF38-D96511CF2146}" dt="2023-08-09T12:03:05.374" v="851" actId="1076"/>
          <ac:picMkLst>
            <pc:docMk/>
            <pc:sldMk cId="2109180873" sldId="293"/>
            <ac:picMk id="3" creationId="{4F3C0FF7-6053-C171-BCB2-786B73091CB1}"/>
          </ac:picMkLst>
        </pc:picChg>
      </pc:sldChg>
      <pc:sldChg chg="addSp delSp modSp new mod">
        <pc:chgData name="gajji sathvika" userId="f6df90e50ee94c36" providerId="LiveId" clId="{7DAA6B5F-A945-48CD-AF38-D96511CF2146}" dt="2023-08-09T11:57:39.572" v="792" actId="255"/>
        <pc:sldMkLst>
          <pc:docMk/>
          <pc:sldMk cId="2856187378" sldId="294"/>
        </pc:sldMkLst>
        <pc:spChg chg="add mod">
          <ac:chgData name="gajji sathvika" userId="f6df90e50ee94c36" providerId="LiveId" clId="{7DAA6B5F-A945-48CD-AF38-D96511CF2146}" dt="2023-08-09T11:57:39.572" v="792" actId="255"/>
          <ac:spMkLst>
            <pc:docMk/>
            <pc:sldMk cId="2856187378" sldId="294"/>
            <ac:spMk id="5" creationId="{897501C0-FF06-D876-D5BC-72E284C564A0}"/>
          </ac:spMkLst>
        </pc:spChg>
        <pc:spChg chg="add del mod">
          <ac:chgData name="gajji sathvika" userId="f6df90e50ee94c36" providerId="LiveId" clId="{7DAA6B5F-A945-48CD-AF38-D96511CF2146}" dt="2023-08-09T11:57:28.262" v="790"/>
          <ac:spMkLst>
            <pc:docMk/>
            <pc:sldMk cId="2856187378" sldId="294"/>
            <ac:spMk id="6" creationId="{BCDB152E-99EE-B33B-2C36-2961A33B451D}"/>
          </ac:spMkLst>
        </pc:spChg>
        <pc:graphicFrameChg chg="add mod">
          <ac:chgData name="gajji sathvika" userId="f6df90e50ee94c36" providerId="LiveId" clId="{7DAA6B5F-A945-48CD-AF38-D96511CF2146}" dt="2023-08-09T11:57:08.782" v="776"/>
          <ac:graphicFrameMkLst>
            <pc:docMk/>
            <pc:sldMk cId="2856187378" sldId="294"/>
            <ac:graphicFrameMk id="3" creationId="{6A3E6554-3E40-A45C-A9F9-C2D0687D3D8A}"/>
          </ac:graphicFrameMkLst>
        </pc:graphicFrameChg>
      </pc:sldChg>
      <pc:sldChg chg="addSp delSp modSp new mod">
        <pc:chgData name="gajji sathvika" userId="f6df90e50ee94c36" providerId="LiveId" clId="{7DAA6B5F-A945-48CD-AF38-D96511CF2146}" dt="2023-08-09T12:15:36.744" v="1398" actId="1076"/>
        <pc:sldMkLst>
          <pc:docMk/>
          <pc:sldMk cId="1005570028" sldId="295"/>
        </pc:sldMkLst>
        <pc:spChg chg="add mod">
          <ac:chgData name="gajji sathvika" userId="f6df90e50ee94c36" providerId="LiveId" clId="{7DAA6B5F-A945-48CD-AF38-D96511CF2146}" dt="2023-08-09T12:14:08.934" v="1387" actId="1076"/>
          <ac:spMkLst>
            <pc:docMk/>
            <pc:sldMk cId="1005570028" sldId="295"/>
            <ac:spMk id="3" creationId="{84EBDAB0-97FB-00F7-C91C-6D67A9F39DD7}"/>
          </ac:spMkLst>
        </pc:spChg>
        <pc:spChg chg="add mod">
          <ac:chgData name="gajji sathvika" userId="f6df90e50ee94c36" providerId="LiveId" clId="{7DAA6B5F-A945-48CD-AF38-D96511CF2146}" dt="2023-08-09T12:15:36.744" v="1398" actId="1076"/>
          <ac:spMkLst>
            <pc:docMk/>
            <pc:sldMk cId="1005570028" sldId="295"/>
            <ac:spMk id="8" creationId="{EB57D6A2-BCCA-7FF0-28DD-52C4A0F90D7F}"/>
          </ac:spMkLst>
        </pc:spChg>
        <pc:graphicFrameChg chg="add mod modGraphic">
          <ac:chgData name="gajji sathvika" userId="f6df90e50ee94c36" providerId="LiveId" clId="{7DAA6B5F-A945-48CD-AF38-D96511CF2146}" dt="2023-08-09T12:15:24.296" v="1396" actId="1076"/>
          <ac:graphicFrameMkLst>
            <pc:docMk/>
            <pc:sldMk cId="1005570028" sldId="295"/>
            <ac:graphicFrameMk id="4" creationId="{AC1E076B-BCFA-7FF1-16D8-4AF74530D32E}"/>
          </ac:graphicFrameMkLst>
        </pc:graphicFrameChg>
        <pc:graphicFrameChg chg="add del mod modGraphic">
          <ac:chgData name="gajji sathvika" userId="f6df90e50ee94c36" providerId="LiveId" clId="{7DAA6B5F-A945-48CD-AF38-D96511CF2146}" dt="2023-08-09T12:11:18.992" v="975" actId="21"/>
          <ac:graphicFrameMkLst>
            <pc:docMk/>
            <pc:sldMk cId="1005570028" sldId="295"/>
            <ac:graphicFrameMk id="5" creationId="{5A2575B5-1DFF-1D22-EC49-C07EDFDDA14F}"/>
          </ac:graphicFrameMkLst>
        </pc:graphicFrameChg>
        <pc:graphicFrameChg chg="add mod modGraphic">
          <ac:chgData name="gajji sathvika" userId="f6df90e50ee94c36" providerId="LiveId" clId="{7DAA6B5F-A945-48CD-AF38-D96511CF2146}" dt="2023-08-09T12:15:31.441" v="1397" actId="1076"/>
          <ac:graphicFrameMkLst>
            <pc:docMk/>
            <pc:sldMk cId="1005570028" sldId="295"/>
            <ac:graphicFrameMk id="6" creationId="{EF011BBF-B107-324E-28E7-8031E0974028}"/>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f6df90e50ee94c36/Documents/RESULTS-PROJECT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2" Type="http://schemas.openxmlformats.org/officeDocument/2006/relationships/oleObject" Target="../embeddings/oleObject1.bin"/><Relationship Id="rId1" Type="http://schemas.openxmlformats.org/officeDocument/2006/relationships/themeOverride" Target="../theme/themeOverride1.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f6df90e50ee94c36/Documents/RESULTS-PROJECT1.xlsx"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2" Type="http://schemas.openxmlformats.org/officeDocument/2006/relationships/package" Target="../embeddings/Microsoft_Excel_Worksheet2.xlsx"/><Relationship Id="rId1" Type="http://schemas.openxmlformats.org/officeDocument/2006/relationships/themeOverride" Target="../theme/themeOverride2.xml"/></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8.xml.rels><?xml version="1.0" encoding="UTF-8" standalone="yes"?>
<Relationships xmlns="http://schemas.openxmlformats.org/package/2006/relationships"><Relationship Id="rId2" Type="http://schemas.openxmlformats.org/officeDocument/2006/relationships/package" Target="../embeddings/Microsoft_Excel_Worksheet4.xlsx"/><Relationship Id="rId1" Type="http://schemas.openxmlformats.org/officeDocument/2006/relationships/themeOverride" Target="../theme/themeOverrid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Standard</a:t>
            </a:r>
            <a:r>
              <a:rPr lang="en-US" baseline="0" dirty="0"/>
              <a:t> Calibration Curve</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7.1594300712410949E-2"/>
          <c:y val="6.5168835129126579E-2"/>
          <c:w val="0.8823761000509226"/>
          <c:h val="0.77892344084519316"/>
        </c:manualLayout>
      </c:layout>
      <c:scatterChart>
        <c:scatterStyle val="lineMarker"/>
        <c:varyColors val="0"/>
        <c:ser>
          <c:idx val="0"/>
          <c:order val="0"/>
          <c:tx>
            <c:strRef>
              <c:f>'calibration curve'!$C$5</c:f>
              <c:strCache>
                <c:ptCount val="1"/>
                <c:pt idx="0">
                  <c:v>ABSOR</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1"/>
            <c:dispEq val="1"/>
            <c:trendlineLbl>
              <c:layout>
                <c:manualLayout>
                  <c:x val="0.17700651734003764"/>
                  <c:y val="0.15814600387579314"/>
                </c:manualLayout>
              </c:layout>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rendlineLbl>
          </c:trendline>
          <c:xVal>
            <c:numRef>
              <c:f>'calibration curve'!$B$6:$B$11</c:f>
              <c:numCache>
                <c:formatCode>General</c:formatCode>
                <c:ptCount val="6"/>
                <c:pt idx="0">
                  <c:v>0</c:v>
                </c:pt>
                <c:pt idx="1">
                  <c:v>5</c:v>
                </c:pt>
                <c:pt idx="2">
                  <c:v>10</c:v>
                </c:pt>
                <c:pt idx="3">
                  <c:v>15</c:v>
                </c:pt>
                <c:pt idx="4">
                  <c:v>20</c:v>
                </c:pt>
                <c:pt idx="5">
                  <c:v>25</c:v>
                </c:pt>
              </c:numCache>
            </c:numRef>
          </c:xVal>
          <c:yVal>
            <c:numRef>
              <c:f>'calibration curve'!$C$6:$C$11</c:f>
              <c:numCache>
                <c:formatCode>General</c:formatCode>
                <c:ptCount val="6"/>
                <c:pt idx="0">
                  <c:v>0</c:v>
                </c:pt>
                <c:pt idx="1">
                  <c:v>0.18099999999999999</c:v>
                </c:pt>
                <c:pt idx="2">
                  <c:v>0.36199999999999999</c:v>
                </c:pt>
                <c:pt idx="3">
                  <c:v>0.54300000000000004</c:v>
                </c:pt>
                <c:pt idx="4">
                  <c:v>0.71199999999999997</c:v>
                </c:pt>
                <c:pt idx="5">
                  <c:v>0.86699999999999999</c:v>
                </c:pt>
              </c:numCache>
            </c:numRef>
          </c:yVal>
          <c:smooth val="0"/>
          <c:extLst>
            <c:ext xmlns:c16="http://schemas.microsoft.com/office/drawing/2014/chart" uri="{C3380CC4-5D6E-409C-BE32-E72D297353CC}">
              <c16:uniqueId val="{00000001-D84E-48F4-8D7E-42574FF016B6}"/>
            </c:ext>
          </c:extLst>
        </c:ser>
        <c:dLbls>
          <c:showLegendKey val="0"/>
          <c:showVal val="0"/>
          <c:showCatName val="0"/>
          <c:showSerName val="0"/>
          <c:showPercent val="0"/>
          <c:showBubbleSize val="0"/>
        </c:dLbls>
        <c:axId val="-1066495520"/>
        <c:axId val="-1066494976"/>
      </c:scatterChart>
      <c:valAx>
        <c:axId val="-106649552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Concentration</a:t>
                </a:r>
                <a:r>
                  <a:rPr lang="en-IN" baseline="0"/>
                  <a:t> µg/ml</a:t>
                </a:r>
                <a:endParaRPr lang="en-IN"/>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66494976"/>
        <c:crosses val="autoZero"/>
        <c:crossBetween val="midCat"/>
      </c:valAx>
      <c:valAx>
        <c:axId val="-1066494976"/>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Absorbance</a:t>
                </a:r>
              </a:p>
            </c:rich>
          </c:tx>
          <c:layout>
            <c:manualLayout>
              <c:xMode val="edge"/>
              <c:yMode val="edge"/>
              <c:x val="0"/>
              <c:y val="0.28552227002437108"/>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66495520"/>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32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a:t>Standard Calibration Curve</a:t>
            </a:r>
          </a:p>
        </c:rich>
      </c:tx>
      <c:overlay val="0"/>
      <c:spPr>
        <a:noFill/>
        <a:ln>
          <a:noFill/>
        </a:ln>
        <a:effectLst/>
      </c:spPr>
    </c:title>
    <c:autoTitleDeleted val="0"/>
    <c:plotArea>
      <c:layout>
        <c:manualLayout>
          <c:layoutTarget val="inner"/>
          <c:xMode val="edge"/>
          <c:yMode val="edge"/>
          <c:x val="8.6726346185024034E-2"/>
          <c:y val="0.11576329554550362"/>
          <c:w val="0.88389129483814521"/>
          <c:h val="0.72088764946048411"/>
        </c:manualLayout>
      </c:layout>
      <c:scatterChart>
        <c:scatterStyle val="lineMarker"/>
        <c:varyColors val="0"/>
        <c:ser>
          <c:idx val="0"/>
          <c:order val="0"/>
          <c:tx>
            <c:strRef>
              <c:f>'calibration curve'!$C$5</c:f>
              <c:strCache>
                <c:ptCount val="1"/>
                <c:pt idx="0">
                  <c:v>ABSOR</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1"/>
            <c:dispEq val="1"/>
            <c:trendlineLbl>
              <c:layout>
                <c:manualLayout>
                  <c:x val="0.16227066983905811"/>
                  <c:y val="-0.13467582509633105"/>
                </c:manualLayout>
              </c:layout>
              <c:numFmt formatCode="General" sourceLinked="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rendlineLbl>
          </c:trendline>
          <c:xVal>
            <c:numRef>
              <c:f>'calibration curve'!$B$6:$B$11</c:f>
              <c:numCache>
                <c:formatCode>General</c:formatCode>
                <c:ptCount val="6"/>
                <c:pt idx="0">
                  <c:v>0</c:v>
                </c:pt>
                <c:pt idx="1">
                  <c:v>5</c:v>
                </c:pt>
                <c:pt idx="2">
                  <c:v>10</c:v>
                </c:pt>
                <c:pt idx="3">
                  <c:v>15</c:v>
                </c:pt>
                <c:pt idx="4">
                  <c:v>20</c:v>
                </c:pt>
                <c:pt idx="5">
                  <c:v>25</c:v>
                </c:pt>
              </c:numCache>
            </c:numRef>
          </c:xVal>
          <c:yVal>
            <c:numRef>
              <c:f>'calibration curve'!$C$6:$C$11</c:f>
              <c:numCache>
                <c:formatCode>General</c:formatCode>
                <c:ptCount val="6"/>
                <c:pt idx="0">
                  <c:v>0</c:v>
                </c:pt>
                <c:pt idx="1">
                  <c:v>0.18099999999999999</c:v>
                </c:pt>
                <c:pt idx="2">
                  <c:v>0.36199999999999999</c:v>
                </c:pt>
                <c:pt idx="3">
                  <c:v>0.54300000000000004</c:v>
                </c:pt>
                <c:pt idx="4">
                  <c:v>0.71199999999999997</c:v>
                </c:pt>
                <c:pt idx="5">
                  <c:v>0.86699999999999999</c:v>
                </c:pt>
              </c:numCache>
            </c:numRef>
          </c:yVal>
          <c:smooth val="0"/>
          <c:extLst>
            <c:ext xmlns:c16="http://schemas.microsoft.com/office/drawing/2014/chart" uri="{C3380CC4-5D6E-409C-BE32-E72D297353CC}">
              <c16:uniqueId val="{00000001-F3C0-431B-99F9-3E78F6135714}"/>
            </c:ext>
          </c:extLst>
        </c:ser>
        <c:dLbls>
          <c:showLegendKey val="0"/>
          <c:showVal val="0"/>
          <c:showCatName val="0"/>
          <c:showSerName val="0"/>
          <c:showPercent val="0"/>
          <c:showBubbleSize val="0"/>
        </c:dLbls>
        <c:axId val="-984506512"/>
        <c:axId val="-984496720"/>
      </c:scatterChart>
      <c:valAx>
        <c:axId val="-984506512"/>
        <c:scaling>
          <c:orientation val="minMax"/>
        </c:scaling>
        <c:delete val="0"/>
        <c:axPos val="b"/>
        <c:majorGridlines>
          <c:spPr>
            <a:ln w="9525" cap="flat" cmpd="sng" algn="ctr">
              <a:no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IN"/>
                  <a:t>Concentration (µg/ml)</a:t>
                </a:r>
              </a:p>
            </c:rich>
          </c:tx>
          <c:overlay val="0"/>
          <c:spPr>
            <a:noFill/>
            <a:ln>
              <a:noFill/>
            </a:ln>
            <a:effectLst/>
          </c:sp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984496720"/>
        <c:crosses val="autoZero"/>
        <c:crossBetween val="midCat"/>
      </c:valAx>
      <c:valAx>
        <c:axId val="-984496720"/>
        <c:scaling>
          <c:orientation val="minMax"/>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IN"/>
                  <a:t>Absorbance (nm)</a:t>
                </a:r>
              </a:p>
            </c:rich>
          </c:tx>
          <c:overlay val="0"/>
          <c:spPr>
            <a:noFill/>
            <a:ln>
              <a:noFill/>
            </a:ln>
            <a:effectLst/>
          </c:sp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984506512"/>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solidFill>
        <a:schemeClr val="tx1">
          <a:lumMod val="15000"/>
          <a:lumOff val="85000"/>
        </a:schemeClr>
      </a:solidFill>
      <a:round/>
    </a:ln>
    <a:effectLst/>
  </c:spPr>
  <c:txPr>
    <a:bodyPr/>
    <a:lstStyle/>
    <a:p>
      <a:pPr>
        <a:defRPr sz="1100">
          <a:latin typeface="Times New Roman" panose="02020603050405020304" pitchFamily="18" charset="0"/>
          <a:cs typeface="Times New Roman" panose="02020603050405020304" pitchFamily="18" charset="0"/>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800" dirty="0">
                <a:latin typeface="Times New Roman" panose="02020603050405020304" pitchFamily="18" charset="0"/>
                <a:cs typeface="Times New Roman" panose="02020603050405020304" pitchFamily="18" charset="0"/>
              </a:rPr>
              <a:t>%</a:t>
            </a:r>
            <a:r>
              <a:rPr lang="en-IN" sz="1800" baseline="0" dirty="0">
                <a:latin typeface="Times New Roman" panose="02020603050405020304" pitchFamily="18" charset="0"/>
                <a:cs typeface="Times New Roman" panose="02020603050405020304" pitchFamily="18" charset="0"/>
              </a:rPr>
              <a:t> Drug Release F1-F4</a:t>
            </a:r>
            <a:endParaRPr lang="en-IN" sz="1800" dirty="0">
              <a:latin typeface="Times New Roman" panose="02020603050405020304" pitchFamily="18" charset="0"/>
              <a:cs typeface="Times New Roman" panose="02020603050405020304" pitchFamily="18" charset="0"/>
            </a:endParaRPr>
          </a:p>
        </c:rich>
      </c:tx>
      <c:layout>
        <c:manualLayout>
          <c:xMode val="edge"/>
          <c:yMode val="edge"/>
          <c:x val="0.3349033816425121"/>
          <c:y val="1.9230769230769232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4539693407889231"/>
          <c:y val="0.173137492428831"/>
          <c:w val="0.82345829053976949"/>
          <c:h val="0.5969409953563497"/>
        </c:manualLayout>
      </c:layout>
      <c:scatterChart>
        <c:scatterStyle val="smoothMarker"/>
        <c:varyColors val="0"/>
        <c:ser>
          <c:idx val="0"/>
          <c:order val="0"/>
          <c:tx>
            <c:strRef>
              <c:f>Sheet1!$E$4</c:f>
              <c:strCache>
                <c:ptCount val="1"/>
                <c:pt idx="0">
                  <c:v>F1</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Sheet1!$D$5:$D$15</c:f>
              <c:numCache>
                <c:formatCode>General</c:formatCode>
                <c:ptCount val="11"/>
                <c:pt idx="0">
                  <c:v>0</c:v>
                </c:pt>
                <c:pt idx="1">
                  <c:v>1</c:v>
                </c:pt>
                <c:pt idx="2">
                  <c:v>2</c:v>
                </c:pt>
                <c:pt idx="3">
                  <c:v>3</c:v>
                </c:pt>
                <c:pt idx="4">
                  <c:v>4</c:v>
                </c:pt>
                <c:pt idx="5">
                  <c:v>5</c:v>
                </c:pt>
                <c:pt idx="6">
                  <c:v>6</c:v>
                </c:pt>
                <c:pt idx="7">
                  <c:v>7</c:v>
                </c:pt>
                <c:pt idx="8">
                  <c:v>8</c:v>
                </c:pt>
                <c:pt idx="9">
                  <c:v>10</c:v>
                </c:pt>
                <c:pt idx="10">
                  <c:v>12</c:v>
                </c:pt>
              </c:numCache>
            </c:numRef>
          </c:xVal>
          <c:yVal>
            <c:numRef>
              <c:f>Sheet1!$E$5:$E$15</c:f>
              <c:numCache>
                <c:formatCode>General</c:formatCode>
                <c:ptCount val="11"/>
                <c:pt idx="0">
                  <c:v>0</c:v>
                </c:pt>
                <c:pt idx="1">
                  <c:v>17</c:v>
                </c:pt>
                <c:pt idx="2">
                  <c:v>26</c:v>
                </c:pt>
                <c:pt idx="3">
                  <c:v>37</c:v>
                </c:pt>
                <c:pt idx="4">
                  <c:v>43</c:v>
                </c:pt>
                <c:pt idx="5">
                  <c:v>48</c:v>
                </c:pt>
                <c:pt idx="6">
                  <c:v>52</c:v>
                </c:pt>
                <c:pt idx="7">
                  <c:v>59</c:v>
                </c:pt>
                <c:pt idx="8">
                  <c:v>71</c:v>
                </c:pt>
                <c:pt idx="9">
                  <c:v>88</c:v>
                </c:pt>
                <c:pt idx="10">
                  <c:v>93</c:v>
                </c:pt>
              </c:numCache>
            </c:numRef>
          </c:yVal>
          <c:smooth val="1"/>
          <c:extLst>
            <c:ext xmlns:c16="http://schemas.microsoft.com/office/drawing/2014/chart" uri="{C3380CC4-5D6E-409C-BE32-E72D297353CC}">
              <c16:uniqueId val="{00000000-27BE-4113-B122-6B0B763012F6}"/>
            </c:ext>
          </c:extLst>
        </c:ser>
        <c:ser>
          <c:idx val="1"/>
          <c:order val="1"/>
          <c:tx>
            <c:strRef>
              <c:f>Sheet1!$F$4</c:f>
              <c:strCache>
                <c:ptCount val="1"/>
                <c:pt idx="0">
                  <c:v>F2</c:v>
                </c:pt>
              </c:strCache>
            </c:strRef>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Sheet1!$D$5:$D$15</c:f>
              <c:numCache>
                <c:formatCode>General</c:formatCode>
                <c:ptCount val="11"/>
                <c:pt idx="0">
                  <c:v>0</c:v>
                </c:pt>
                <c:pt idx="1">
                  <c:v>1</c:v>
                </c:pt>
                <c:pt idx="2">
                  <c:v>2</c:v>
                </c:pt>
                <c:pt idx="3">
                  <c:v>3</c:v>
                </c:pt>
                <c:pt idx="4">
                  <c:v>4</c:v>
                </c:pt>
                <c:pt idx="5">
                  <c:v>5</c:v>
                </c:pt>
                <c:pt idx="6">
                  <c:v>6</c:v>
                </c:pt>
                <c:pt idx="7">
                  <c:v>7</c:v>
                </c:pt>
                <c:pt idx="8">
                  <c:v>8</c:v>
                </c:pt>
                <c:pt idx="9">
                  <c:v>10</c:v>
                </c:pt>
                <c:pt idx="10">
                  <c:v>12</c:v>
                </c:pt>
              </c:numCache>
            </c:numRef>
          </c:xVal>
          <c:yVal>
            <c:numRef>
              <c:f>Sheet1!$F$5:$F$15</c:f>
              <c:numCache>
                <c:formatCode>General</c:formatCode>
                <c:ptCount val="11"/>
                <c:pt idx="0">
                  <c:v>0</c:v>
                </c:pt>
                <c:pt idx="1">
                  <c:v>12</c:v>
                </c:pt>
                <c:pt idx="2">
                  <c:v>22</c:v>
                </c:pt>
                <c:pt idx="3">
                  <c:v>34</c:v>
                </c:pt>
                <c:pt idx="4">
                  <c:v>41</c:v>
                </c:pt>
                <c:pt idx="5">
                  <c:v>46</c:v>
                </c:pt>
                <c:pt idx="6">
                  <c:v>48</c:v>
                </c:pt>
                <c:pt idx="7">
                  <c:v>54</c:v>
                </c:pt>
                <c:pt idx="8">
                  <c:v>64</c:v>
                </c:pt>
                <c:pt idx="9">
                  <c:v>79</c:v>
                </c:pt>
                <c:pt idx="10">
                  <c:v>91</c:v>
                </c:pt>
              </c:numCache>
            </c:numRef>
          </c:yVal>
          <c:smooth val="1"/>
          <c:extLst>
            <c:ext xmlns:c16="http://schemas.microsoft.com/office/drawing/2014/chart" uri="{C3380CC4-5D6E-409C-BE32-E72D297353CC}">
              <c16:uniqueId val="{00000001-27BE-4113-B122-6B0B763012F6}"/>
            </c:ext>
          </c:extLst>
        </c:ser>
        <c:ser>
          <c:idx val="2"/>
          <c:order val="2"/>
          <c:tx>
            <c:strRef>
              <c:f>Sheet1!$G$4</c:f>
              <c:strCache>
                <c:ptCount val="1"/>
                <c:pt idx="0">
                  <c:v>F3</c:v>
                </c:pt>
              </c:strCache>
            </c:strRef>
          </c:tx>
          <c:spPr>
            <a:ln w="19050" cap="rnd">
              <a:solidFill>
                <a:schemeClr val="accent3"/>
              </a:solidFill>
              <a:round/>
            </a:ln>
            <a:effectLst/>
          </c:spPr>
          <c:marker>
            <c:symbol val="circle"/>
            <c:size val="5"/>
            <c:spPr>
              <a:solidFill>
                <a:schemeClr val="accent3"/>
              </a:solidFill>
              <a:ln w="9525">
                <a:solidFill>
                  <a:schemeClr val="accent3"/>
                </a:solidFill>
              </a:ln>
              <a:effectLst/>
            </c:spPr>
          </c:marker>
          <c:xVal>
            <c:numRef>
              <c:f>Sheet1!$D$5:$D$15</c:f>
              <c:numCache>
                <c:formatCode>General</c:formatCode>
                <c:ptCount val="11"/>
                <c:pt idx="0">
                  <c:v>0</c:v>
                </c:pt>
                <c:pt idx="1">
                  <c:v>1</c:v>
                </c:pt>
                <c:pt idx="2">
                  <c:v>2</c:v>
                </c:pt>
                <c:pt idx="3">
                  <c:v>3</c:v>
                </c:pt>
                <c:pt idx="4">
                  <c:v>4</c:v>
                </c:pt>
                <c:pt idx="5">
                  <c:v>5</c:v>
                </c:pt>
                <c:pt idx="6">
                  <c:v>6</c:v>
                </c:pt>
                <c:pt idx="7">
                  <c:v>7</c:v>
                </c:pt>
                <c:pt idx="8">
                  <c:v>8</c:v>
                </c:pt>
                <c:pt idx="9">
                  <c:v>10</c:v>
                </c:pt>
                <c:pt idx="10">
                  <c:v>12</c:v>
                </c:pt>
              </c:numCache>
            </c:numRef>
          </c:xVal>
          <c:yVal>
            <c:numRef>
              <c:f>Sheet1!$G$5:$G$15</c:f>
              <c:numCache>
                <c:formatCode>General</c:formatCode>
                <c:ptCount val="11"/>
                <c:pt idx="0">
                  <c:v>0</c:v>
                </c:pt>
                <c:pt idx="1">
                  <c:v>14</c:v>
                </c:pt>
                <c:pt idx="2">
                  <c:v>28</c:v>
                </c:pt>
                <c:pt idx="3">
                  <c:v>39</c:v>
                </c:pt>
                <c:pt idx="4">
                  <c:v>53</c:v>
                </c:pt>
                <c:pt idx="5">
                  <c:v>57</c:v>
                </c:pt>
                <c:pt idx="6">
                  <c:v>59</c:v>
                </c:pt>
                <c:pt idx="7">
                  <c:v>69</c:v>
                </c:pt>
                <c:pt idx="8">
                  <c:v>77</c:v>
                </c:pt>
                <c:pt idx="9">
                  <c:v>87</c:v>
                </c:pt>
                <c:pt idx="10">
                  <c:v>94</c:v>
                </c:pt>
              </c:numCache>
            </c:numRef>
          </c:yVal>
          <c:smooth val="1"/>
          <c:extLst>
            <c:ext xmlns:c16="http://schemas.microsoft.com/office/drawing/2014/chart" uri="{C3380CC4-5D6E-409C-BE32-E72D297353CC}">
              <c16:uniqueId val="{00000002-27BE-4113-B122-6B0B763012F6}"/>
            </c:ext>
          </c:extLst>
        </c:ser>
        <c:ser>
          <c:idx val="3"/>
          <c:order val="3"/>
          <c:tx>
            <c:strRef>
              <c:f>Sheet1!$H$4</c:f>
              <c:strCache>
                <c:ptCount val="1"/>
                <c:pt idx="0">
                  <c:v>F4</c:v>
                </c:pt>
              </c:strCache>
            </c:strRef>
          </c:tx>
          <c:spPr>
            <a:ln w="19050" cap="rnd">
              <a:solidFill>
                <a:schemeClr val="accent4"/>
              </a:solidFill>
              <a:round/>
            </a:ln>
            <a:effectLst/>
          </c:spPr>
          <c:marker>
            <c:symbol val="circle"/>
            <c:size val="5"/>
            <c:spPr>
              <a:solidFill>
                <a:schemeClr val="accent4"/>
              </a:solidFill>
              <a:ln w="9525">
                <a:solidFill>
                  <a:schemeClr val="accent4"/>
                </a:solidFill>
              </a:ln>
              <a:effectLst/>
            </c:spPr>
          </c:marker>
          <c:xVal>
            <c:numRef>
              <c:f>Sheet1!$D$5:$D$15</c:f>
              <c:numCache>
                <c:formatCode>General</c:formatCode>
                <c:ptCount val="11"/>
                <c:pt idx="0">
                  <c:v>0</c:v>
                </c:pt>
                <c:pt idx="1">
                  <c:v>1</c:v>
                </c:pt>
                <c:pt idx="2">
                  <c:v>2</c:v>
                </c:pt>
                <c:pt idx="3">
                  <c:v>3</c:v>
                </c:pt>
                <c:pt idx="4">
                  <c:v>4</c:v>
                </c:pt>
                <c:pt idx="5">
                  <c:v>5</c:v>
                </c:pt>
                <c:pt idx="6">
                  <c:v>6</c:v>
                </c:pt>
                <c:pt idx="7">
                  <c:v>7</c:v>
                </c:pt>
                <c:pt idx="8">
                  <c:v>8</c:v>
                </c:pt>
                <c:pt idx="9">
                  <c:v>10</c:v>
                </c:pt>
                <c:pt idx="10">
                  <c:v>12</c:v>
                </c:pt>
              </c:numCache>
            </c:numRef>
          </c:xVal>
          <c:yVal>
            <c:numRef>
              <c:f>Sheet1!$H$5:$H$15</c:f>
              <c:numCache>
                <c:formatCode>General</c:formatCode>
                <c:ptCount val="11"/>
                <c:pt idx="0">
                  <c:v>0</c:v>
                </c:pt>
                <c:pt idx="1">
                  <c:v>16</c:v>
                </c:pt>
                <c:pt idx="2">
                  <c:v>29</c:v>
                </c:pt>
                <c:pt idx="3">
                  <c:v>37</c:v>
                </c:pt>
                <c:pt idx="4">
                  <c:v>52</c:v>
                </c:pt>
                <c:pt idx="5">
                  <c:v>58</c:v>
                </c:pt>
                <c:pt idx="6">
                  <c:v>62</c:v>
                </c:pt>
                <c:pt idx="7">
                  <c:v>79</c:v>
                </c:pt>
                <c:pt idx="8">
                  <c:v>87</c:v>
                </c:pt>
                <c:pt idx="9">
                  <c:v>92</c:v>
                </c:pt>
                <c:pt idx="10">
                  <c:v>98</c:v>
                </c:pt>
              </c:numCache>
            </c:numRef>
          </c:yVal>
          <c:smooth val="1"/>
          <c:extLst>
            <c:ext xmlns:c16="http://schemas.microsoft.com/office/drawing/2014/chart" uri="{C3380CC4-5D6E-409C-BE32-E72D297353CC}">
              <c16:uniqueId val="{00000003-27BE-4113-B122-6B0B763012F6}"/>
            </c:ext>
          </c:extLst>
        </c:ser>
        <c:dLbls>
          <c:showLegendKey val="0"/>
          <c:showVal val="0"/>
          <c:showCatName val="0"/>
          <c:showSerName val="0"/>
          <c:showPercent val="0"/>
          <c:showBubbleSize val="0"/>
        </c:dLbls>
        <c:axId val="1141574687"/>
        <c:axId val="1141575167"/>
      </c:scatterChart>
      <c:valAx>
        <c:axId val="1141574687"/>
        <c:scaling>
          <c:orientation val="minMax"/>
        </c:scaling>
        <c:delete val="0"/>
        <c:axPos val="b"/>
        <c:majorGridlines>
          <c:spPr>
            <a:ln w="9525" cap="flat" cmpd="sng" algn="ctr">
              <a:no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800" dirty="0">
                    <a:latin typeface="Times New Roman" panose="02020603050405020304" pitchFamily="18" charset="0"/>
                    <a:cs typeface="Times New Roman" panose="02020603050405020304" pitchFamily="18" charset="0"/>
                  </a:rPr>
                  <a:t>Time</a:t>
                </a:r>
                <a:r>
                  <a:rPr lang="en-US" sz="1800" baseline="0" dirty="0">
                    <a:latin typeface="Times New Roman" panose="02020603050405020304" pitchFamily="18" charset="0"/>
                    <a:cs typeface="Times New Roman" panose="02020603050405020304" pitchFamily="18" charset="0"/>
                  </a:rPr>
                  <a:t> (</a:t>
                </a:r>
                <a:r>
                  <a:rPr lang="en-US" sz="1800" baseline="0" dirty="0" err="1">
                    <a:latin typeface="Times New Roman" panose="02020603050405020304" pitchFamily="18" charset="0"/>
                    <a:cs typeface="Times New Roman" panose="02020603050405020304" pitchFamily="18" charset="0"/>
                  </a:rPr>
                  <a:t>hrs</a:t>
                </a:r>
                <a:r>
                  <a:rPr lang="en-US" sz="1800" baseline="0" dirty="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c:rich>
          </c:tx>
          <c:layout>
            <c:manualLayout>
              <c:xMode val="edge"/>
              <c:yMode val="edge"/>
              <c:x val="0.43413081516984298"/>
              <c:y val="0.8077011407227944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41575167"/>
        <c:crosses val="autoZero"/>
        <c:crossBetween val="midCat"/>
      </c:valAx>
      <c:valAx>
        <c:axId val="1141575167"/>
        <c:scaling>
          <c:orientation val="minMax"/>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800" dirty="0">
                    <a:latin typeface="Times New Roman" panose="02020603050405020304" pitchFamily="18" charset="0"/>
                    <a:cs typeface="Times New Roman" panose="02020603050405020304" pitchFamily="18" charset="0"/>
                  </a:rPr>
                  <a:t>Cumulative % Drug Release</a:t>
                </a:r>
              </a:p>
            </c:rich>
          </c:tx>
          <c:layout>
            <c:manualLayout>
              <c:xMode val="edge"/>
              <c:yMode val="edge"/>
              <c:x val="1.7088896496633574E-2"/>
              <c:y val="0.14540606703008277"/>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4157468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2000" dirty="0">
                <a:latin typeface="Times New Roman" panose="02020603050405020304" pitchFamily="18" charset="0"/>
                <a:cs typeface="Times New Roman" panose="02020603050405020304" pitchFamily="18" charset="0"/>
              </a:rPr>
              <a:t>%</a:t>
            </a:r>
            <a:r>
              <a:rPr lang="en-IN" sz="2000" baseline="0" dirty="0">
                <a:latin typeface="Times New Roman" panose="02020603050405020304" pitchFamily="18" charset="0"/>
                <a:cs typeface="Times New Roman" panose="02020603050405020304" pitchFamily="18" charset="0"/>
              </a:rPr>
              <a:t> Drug Release F5-F8</a:t>
            </a:r>
            <a:endParaRPr lang="en-IN" sz="2000" dirty="0">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smoothMarker"/>
        <c:varyColors val="0"/>
        <c:ser>
          <c:idx val="0"/>
          <c:order val="0"/>
          <c:tx>
            <c:strRef>
              <c:f>Sheet1!$E$18</c:f>
              <c:strCache>
                <c:ptCount val="1"/>
                <c:pt idx="0">
                  <c:v>F5</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Sheet1!$D$19:$D$29</c:f>
              <c:numCache>
                <c:formatCode>General</c:formatCode>
                <c:ptCount val="11"/>
                <c:pt idx="0">
                  <c:v>0</c:v>
                </c:pt>
                <c:pt idx="1">
                  <c:v>1</c:v>
                </c:pt>
                <c:pt idx="2">
                  <c:v>2</c:v>
                </c:pt>
                <c:pt idx="3">
                  <c:v>3</c:v>
                </c:pt>
                <c:pt idx="4">
                  <c:v>4</c:v>
                </c:pt>
                <c:pt idx="5">
                  <c:v>5</c:v>
                </c:pt>
                <c:pt idx="6">
                  <c:v>6</c:v>
                </c:pt>
                <c:pt idx="7">
                  <c:v>7</c:v>
                </c:pt>
                <c:pt idx="8">
                  <c:v>8</c:v>
                </c:pt>
                <c:pt idx="9">
                  <c:v>10</c:v>
                </c:pt>
                <c:pt idx="10">
                  <c:v>12</c:v>
                </c:pt>
              </c:numCache>
            </c:numRef>
          </c:xVal>
          <c:yVal>
            <c:numRef>
              <c:f>Sheet1!$E$19:$E$29</c:f>
              <c:numCache>
                <c:formatCode>General</c:formatCode>
                <c:ptCount val="11"/>
                <c:pt idx="0">
                  <c:v>0</c:v>
                </c:pt>
                <c:pt idx="1">
                  <c:v>13</c:v>
                </c:pt>
                <c:pt idx="2">
                  <c:v>18</c:v>
                </c:pt>
                <c:pt idx="3">
                  <c:v>26</c:v>
                </c:pt>
                <c:pt idx="4">
                  <c:v>39</c:v>
                </c:pt>
                <c:pt idx="5">
                  <c:v>43</c:v>
                </c:pt>
                <c:pt idx="6">
                  <c:v>54</c:v>
                </c:pt>
                <c:pt idx="7">
                  <c:v>57</c:v>
                </c:pt>
                <c:pt idx="8">
                  <c:v>69</c:v>
                </c:pt>
                <c:pt idx="9">
                  <c:v>76</c:v>
                </c:pt>
                <c:pt idx="10">
                  <c:v>88</c:v>
                </c:pt>
              </c:numCache>
            </c:numRef>
          </c:yVal>
          <c:smooth val="1"/>
          <c:extLst>
            <c:ext xmlns:c16="http://schemas.microsoft.com/office/drawing/2014/chart" uri="{C3380CC4-5D6E-409C-BE32-E72D297353CC}">
              <c16:uniqueId val="{00000000-3A96-4A2F-9A2D-51F225AD588D}"/>
            </c:ext>
          </c:extLst>
        </c:ser>
        <c:ser>
          <c:idx val="1"/>
          <c:order val="1"/>
          <c:tx>
            <c:strRef>
              <c:f>Sheet1!$F$18</c:f>
              <c:strCache>
                <c:ptCount val="1"/>
                <c:pt idx="0">
                  <c:v>F6</c:v>
                </c:pt>
              </c:strCache>
            </c:strRef>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Sheet1!$D$19:$D$29</c:f>
              <c:numCache>
                <c:formatCode>General</c:formatCode>
                <c:ptCount val="11"/>
                <c:pt idx="0">
                  <c:v>0</c:v>
                </c:pt>
                <c:pt idx="1">
                  <c:v>1</c:v>
                </c:pt>
                <c:pt idx="2">
                  <c:v>2</c:v>
                </c:pt>
                <c:pt idx="3">
                  <c:v>3</c:v>
                </c:pt>
                <c:pt idx="4">
                  <c:v>4</c:v>
                </c:pt>
                <c:pt idx="5">
                  <c:v>5</c:v>
                </c:pt>
                <c:pt idx="6">
                  <c:v>6</c:v>
                </c:pt>
                <c:pt idx="7">
                  <c:v>7</c:v>
                </c:pt>
                <c:pt idx="8">
                  <c:v>8</c:v>
                </c:pt>
                <c:pt idx="9">
                  <c:v>10</c:v>
                </c:pt>
                <c:pt idx="10">
                  <c:v>12</c:v>
                </c:pt>
              </c:numCache>
            </c:numRef>
          </c:xVal>
          <c:yVal>
            <c:numRef>
              <c:f>Sheet1!$F$19:$F$29</c:f>
              <c:numCache>
                <c:formatCode>General</c:formatCode>
                <c:ptCount val="11"/>
                <c:pt idx="0">
                  <c:v>0</c:v>
                </c:pt>
                <c:pt idx="1">
                  <c:v>15</c:v>
                </c:pt>
                <c:pt idx="2">
                  <c:v>24</c:v>
                </c:pt>
                <c:pt idx="3">
                  <c:v>36</c:v>
                </c:pt>
                <c:pt idx="4">
                  <c:v>44</c:v>
                </c:pt>
                <c:pt idx="5">
                  <c:v>47</c:v>
                </c:pt>
                <c:pt idx="6">
                  <c:v>52</c:v>
                </c:pt>
                <c:pt idx="7">
                  <c:v>55</c:v>
                </c:pt>
                <c:pt idx="8">
                  <c:v>72</c:v>
                </c:pt>
                <c:pt idx="9">
                  <c:v>89</c:v>
                </c:pt>
                <c:pt idx="10">
                  <c:v>95</c:v>
                </c:pt>
              </c:numCache>
            </c:numRef>
          </c:yVal>
          <c:smooth val="1"/>
          <c:extLst>
            <c:ext xmlns:c16="http://schemas.microsoft.com/office/drawing/2014/chart" uri="{C3380CC4-5D6E-409C-BE32-E72D297353CC}">
              <c16:uniqueId val="{00000001-3A96-4A2F-9A2D-51F225AD588D}"/>
            </c:ext>
          </c:extLst>
        </c:ser>
        <c:ser>
          <c:idx val="2"/>
          <c:order val="2"/>
          <c:tx>
            <c:strRef>
              <c:f>Sheet1!$G$18</c:f>
              <c:strCache>
                <c:ptCount val="1"/>
                <c:pt idx="0">
                  <c:v>F7</c:v>
                </c:pt>
              </c:strCache>
            </c:strRef>
          </c:tx>
          <c:spPr>
            <a:ln w="19050" cap="rnd">
              <a:solidFill>
                <a:schemeClr val="accent3"/>
              </a:solidFill>
              <a:round/>
            </a:ln>
            <a:effectLst/>
          </c:spPr>
          <c:marker>
            <c:symbol val="circle"/>
            <c:size val="5"/>
            <c:spPr>
              <a:solidFill>
                <a:schemeClr val="accent3"/>
              </a:solidFill>
              <a:ln w="9525">
                <a:solidFill>
                  <a:schemeClr val="accent3"/>
                </a:solidFill>
              </a:ln>
              <a:effectLst/>
            </c:spPr>
          </c:marker>
          <c:xVal>
            <c:numRef>
              <c:f>Sheet1!$D$19:$D$29</c:f>
              <c:numCache>
                <c:formatCode>General</c:formatCode>
                <c:ptCount val="11"/>
                <c:pt idx="0">
                  <c:v>0</c:v>
                </c:pt>
                <c:pt idx="1">
                  <c:v>1</c:v>
                </c:pt>
                <c:pt idx="2">
                  <c:v>2</c:v>
                </c:pt>
                <c:pt idx="3">
                  <c:v>3</c:v>
                </c:pt>
                <c:pt idx="4">
                  <c:v>4</c:v>
                </c:pt>
                <c:pt idx="5">
                  <c:v>5</c:v>
                </c:pt>
                <c:pt idx="6">
                  <c:v>6</c:v>
                </c:pt>
                <c:pt idx="7">
                  <c:v>7</c:v>
                </c:pt>
                <c:pt idx="8">
                  <c:v>8</c:v>
                </c:pt>
                <c:pt idx="9">
                  <c:v>10</c:v>
                </c:pt>
                <c:pt idx="10">
                  <c:v>12</c:v>
                </c:pt>
              </c:numCache>
            </c:numRef>
          </c:xVal>
          <c:yVal>
            <c:numRef>
              <c:f>Sheet1!$G$19:$G$29</c:f>
              <c:numCache>
                <c:formatCode>General</c:formatCode>
                <c:ptCount val="11"/>
                <c:pt idx="0">
                  <c:v>0</c:v>
                </c:pt>
                <c:pt idx="1">
                  <c:v>14</c:v>
                </c:pt>
                <c:pt idx="2">
                  <c:v>25</c:v>
                </c:pt>
                <c:pt idx="3">
                  <c:v>31</c:v>
                </c:pt>
                <c:pt idx="4">
                  <c:v>45</c:v>
                </c:pt>
                <c:pt idx="5">
                  <c:v>48</c:v>
                </c:pt>
                <c:pt idx="6">
                  <c:v>54</c:v>
                </c:pt>
                <c:pt idx="7">
                  <c:v>57</c:v>
                </c:pt>
                <c:pt idx="8">
                  <c:v>77</c:v>
                </c:pt>
                <c:pt idx="9">
                  <c:v>84</c:v>
                </c:pt>
                <c:pt idx="10">
                  <c:v>90</c:v>
                </c:pt>
              </c:numCache>
            </c:numRef>
          </c:yVal>
          <c:smooth val="1"/>
          <c:extLst>
            <c:ext xmlns:c16="http://schemas.microsoft.com/office/drawing/2014/chart" uri="{C3380CC4-5D6E-409C-BE32-E72D297353CC}">
              <c16:uniqueId val="{00000002-3A96-4A2F-9A2D-51F225AD588D}"/>
            </c:ext>
          </c:extLst>
        </c:ser>
        <c:ser>
          <c:idx val="3"/>
          <c:order val="3"/>
          <c:tx>
            <c:strRef>
              <c:f>Sheet1!$H$18</c:f>
              <c:strCache>
                <c:ptCount val="1"/>
                <c:pt idx="0">
                  <c:v>F8</c:v>
                </c:pt>
              </c:strCache>
            </c:strRef>
          </c:tx>
          <c:spPr>
            <a:ln w="19050" cap="rnd">
              <a:solidFill>
                <a:schemeClr val="accent4"/>
              </a:solidFill>
              <a:round/>
            </a:ln>
            <a:effectLst/>
          </c:spPr>
          <c:marker>
            <c:symbol val="circle"/>
            <c:size val="5"/>
            <c:spPr>
              <a:solidFill>
                <a:schemeClr val="accent4"/>
              </a:solidFill>
              <a:ln w="9525">
                <a:solidFill>
                  <a:schemeClr val="accent4"/>
                </a:solidFill>
              </a:ln>
              <a:effectLst/>
            </c:spPr>
          </c:marker>
          <c:xVal>
            <c:numRef>
              <c:f>Sheet1!$D$19:$D$29</c:f>
              <c:numCache>
                <c:formatCode>General</c:formatCode>
                <c:ptCount val="11"/>
                <c:pt idx="0">
                  <c:v>0</c:v>
                </c:pt>
                <c:pt idx="1">
                  <c:v>1</c:v>
                </c:pt>
                <c:pt idx="2">
                  <c:v>2</c:v>
                </c:pt>
                <c:pt idx="3">
                  <c:v>3</c:v>
                </c:pt>
                <c:pt idx="4">
                  <c:v>4</c:v>
                </c:pt>
                <c:pt idx="5">
                  <c:v>5</c:v>
                </c:pt>
                <c:pt idx="6">
                  <c:v>6</c:v>
                </c:pt>
                <c:pt idx="7">
                  <c:v>7</c:v>
                </c:pt>
                <c:pt idx="8">
                  <c:v>8</c:v>
                </c:pt>
                <c:pt idx="9">
                  <c:v>10</c:v>
                </c:pt>
                <c:pt idx="10">
                  <c:v>12</c:v>
                </c:pt>
              </c:numCache>
            </c:numRef>
          </c:xVal>
          <c:yVal>
            <c:numRef>
              <c:f>Sheet1!$H$19:$H$29</c:f>
              <c:numCache>
                <c:formatCode>General</c:formatCode>
                <c:ptCount val="11"/>
                <c:pt idx="0">
                  <c:v>0</c:v>
                </c:pt>
                <c:pt idx="1">
                  <c:v>11</c:v>
                </c:pt>
                <c:pt idx="2">
                  <c:v>19</c:v>
                </c:pt>
                <c:pt idx="3">
                  <c:v>28</c:v>
                </c:pt>
                <c:pt idx="4">
                  <c:v>37</c:v>
                </c:pt>
                <c:pt idx="5">
                  <c:v>43</c:v>
                </c:pt>
                <c:pt idx="6">
                  <c:v>49</c:v>
                </c:pt>
                <c:pt idx="7">
                  <c:v>53</c:v>
                </c:pt>
                <c:pt idx="8">
                  <c:v>63</c:v>
                </c:pt>
                <c:pt idx="9">
                  <c:v>75</c:v>
                </c:pt>
                <c:pt idx="10">
                  <c:v>82</c:v>
                </c:pt>
              </c:numCache>
            </c:numRef>
          </c:yVal>
          <c:smooth val="1"/>
          <c:extLst>
            <c:ext xmlns:c16="http://schemas.microsoft.com/office/drawing/2014/chart" uri="{C3380CC4-5D6E-409C-BE32-E72D297353CC}">
              <c16:uniqueId val="{00000003-3A96-4A2F-9A2D-51F225AD588D}"/>
            </c:ext>
          </c:extLst>
        </c:ser>
        <c:dLbls>
          <c:showLegendKey val="0"/>
          <c:showVal val="0"/>
          <c:showCatName val="0"/>
          <c:showSerName val="0"/>
          <c:showPercent val="0"/>
          <c:showBubbleSize val="0"/>
        </c:dLbls>
        <c:axId val="379597039"/>
        <c:axId val="379598959"/>
      </c:scatterChart>
      <c:valAx>
        <c:axId val="379597039"/>
        <c:scaling>
          <c:orientation val="minMax"/>
        </c:scaling>
        <c:delete val="0"/>
        <c:axPos val="b"/>
        <c:majorGridlines>
          <c:spPr>
            <a:ln w="9525" cap="flat" cmpd="sng" algn="ctr">
              <a:no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sz="2000" dirty="0">
                    <a:latin typeface="Times New Roman" panose="02020603050405020304" pitchFamily="18" charset="0"/>
                    <a:cs typeface="Times New Roman" panose="02020603050405020304" pitchFamily="18" charset="0"/>
                  </a:rPr>
                  <a:t>Time</a:t>
                </a:r>
                <a:r>
                  <a:rPr lang="en-IN" sz="2000" baseline="0" dirty="0">
                    <a:latin typeface="Times New Roman" panose="02020603050405020304" pitchFamily="18" charset="0"/>
                    <a:cs typeface="Times New Roman" panose="02020603050405020304" pitchFamily="18" charset="0"/>
                  </a:rPr>
                  <a:t> (hrs)</a:t>
                </a:r>
                <a:endParaRPr lang="en-IN" sz="2000" dirty="0">
                  <a:latin typeface="Times New Roman" panose="02020603050405020304" pitchFamily="18" charset="0"/>
                  <a:cs typeface="Times New Roman" panose="02020603050405020304" pitchFamily="18" charset="0"/>
                </a:endParaRPr>
              </a:p>
            </c:rich>
          </c:tx>
          <c:layout>
            <c:manualLayout>
              <c:xMode val="edge"/>
              <c:yMode val="edge"/>
              <c:x val="0.48140857392825898"/>
              <c:y val="0.8543076212695635"/>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79598959"/>
        <c:crosses val="autoZero"/>
        <c:crossBetween val="midCat"/>
      </c:valAx>
      <c:valAx>
        <c:axId val="379598959"/>
        <c:scaling>
          <c:orientation val="minMax"/>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sz="2000" dirty="0">
                    <a:latin typeface="Times New Roman" panose="02020603050405020304" pitchFamily="18" charset="0"/>
                    <a:cs typeface="Times New Roman" panose="02020603050405020304" pitchFamily="18" charset="0"/>
                  </a:rPr>
                  <a:t>Cumulative</a:t>
                </a:r>
                <a:r>
                  <a:rPr lang="en-IN" sz="2000" baseline="0" dirty="0">
                    <a:latin typeface="Times New Roman" panose="02020603050405020304" pitchFamily="18" charset="0"/>
                    <a:cs typeface="Times New Roman" panose="02020603050405020304" pitchFamily="18" charset="0"/>
                  </a:rPr>
                  <a:t> % Drug Release</a:t>
                </a:r>
                <a:endParaRPr lang="en-IN" sz="2000" dirty="0">
                  <a:latin typeface="Times New Roman" panose="02020603050405020304" pitchFamily="18" charset="0"/>
                  <a:cs typeface="Times New Roman" panose="02020603050405020304" pitchFamily="18" charset="0"/>
                </a:endParaRPr>
              </a:p>
            </c:rich>
          </c:tx>
          <c:layout>
            <c:manualLayout>
              <c:xMode val="edge"/>
              <c:yMode val="edge"/>
              <c:x val="2.5000000000000001E-2"/>
              <c:y val="0.10492296101876156"/>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79597039"/>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2000" dirty="0">
                <a:latin typeface="Times New Roman" panose="02020603050405020304" pitchFamily="18" charset="0"/>
                <a:cs typeface="Times New Roman" panose="02020603050405020304" pitchFamily="18" charset="0"/>
              </a:rPr>
              <a:t>%</a:t>
            </a:r>
            <a:r>
              <a:rPr lang="en-IN" sz="2000" baseline="0" dirty="0">
                <a:latin typeface="Times New Roman" panose="02020603050405020304" pitchFamily="18" charset="0"/>
                <a:cs typeface="Times New Roman" panose="02020603050405020304" pitchFamily="18" charset="0"/>
              </a:rPr>
              <a:t> Drug Release F1-F8</a:t>
            </a:r>
            <a:endParaRPr lang="en-IN" sz="2000" dirty="0">
              <a:latin typeface="Times New Roman" panose="02020603050405020304" pitchFamily="18" charset="0"/>
              <a:cs typeface="Times New Roman" panose="02020603050405020304" pitchFamily="18" charset="0"/>
            </a:endParaRPr>
          </a:p>
        </c:rich>
      </c:tx>
      <c:layout>
        <c:manualLayout>
          <c:xMode val="edge"/>
          <c:yMode val="edge"/>
          <c:x val="0.31397900262467193"/>
          <c:y val="5.5555555555555552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smoothMarker"/>
        <c:varyColors val="0"/>
        <c:ser>
          <c:idx val="0"/>
          <c:order val="0"/>
          <c:tx>
            <c:strRef>
              <c:f>Sheet1!$E$4</c:f>
              <c:strCache>
                <c:ptCount val="1"/>
                <c:pt idx="0">
                  <c:v>F1</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Sheet1!$D$5:$D$15</c:f>
              <c:numCache>
                <c:formatCode>General</c:formatCode>
                <c:ptCount val="11"/>
                <c:pt idx="0">
                  <c:v>0</c:v>
                </c:pt>
                <c:pt idx="1">
                  <c:v>1</c:v>
                </c:pt>
                <c:pt idx="2">
                  <c:v>2</c:v>
                </c:pt>
                <c:pt idx="3">
                  <c:v>3</c:v>
                </c:pt>
                <c:pt idx="4">
                  <c:v>4</c:v>
                </c:pt>
                <c:pt idx="5">
                  <c:v>5</c:v>
                </c:pt>
                <c:pt idx="6">
                  <c:v>6</c:v>
                </c:pt>
                <c:pt idx="7">
                  <c:v>7</c:v>
                </c:pt>
                <c:pt idx="8">
                  <c:v>8</c:v>
                </c:pt>
                <c:pt idx="9">
                  <c:v>10</c:v>
                </c:pt>
                <c:pt idx="10">
                  <c:v>12</c:v>
                </c:pt>
              </c:numCache>
            </c:numRef>
          </c:xVal>
          <c:yVal>
            <c:numRef>
              <c:f>Sheet1!$E$5:$E$15</c:f>
              <c:numCache>
                <c:formatCode>General</c:formatCode>
                <c:ptCount val="11"/>
                <c:pt idx="0">
                  <c:v>0</c:v>
                </c:pt>
                <c:pt idx="1">
                  <c:v>17</c:v>
                </c:pt>
                <c:pt idx="2">
                  <c:v>26</c:v>
                </c:pt>
                <c:pt idx="3">
                  <c:v>37</c:v>
                </c:pt>
                <c:pt idx="4">
                  <c:v>43</c:v>
                </c:pt>
                <c:pt idx="5">
                  <c:v>48</c:v>
                </c:pt>
                <c:pt idx="6">
                  <c:v>52</c:v>
                </c:pt>
                <c:pt idx="7">
                  <c:v>59</c:v>
                </c:pt>
                <c:pt idx="8">
                  <c:v>71</c:v>
                </c:pt>
                <c:pt idx="9">
                  <c:v>88</c:v>
                </c:pt>
                <c:pt idx="10">
                  <c:v>93</c:v>
                </c:pt>
              </c:numCache>
            </c:numRef>
          </c:yVal>
          <c:smooth val="1"/>
          <c:extLst>
            <c:ext xmlns:c16="http://schemas.microsoft.com/office/drawing/2014/chart" uri="{C3380CC4-5D6E-409C-BE32-E72D297353CC}">
              <c16:uniqueId val="{00000000-D05D-473D-B00A-E49BF0889858}"/>
            </c:ext>
          </c:extLst>
        </c:ser>
        <c:ser>
          <c:idx val="1"/>
          <c:order val="1"/>
          <c:tx>
            <c:strRef>
              <c:f>Sheet1!$F$4</c:f>
              <c:strCache>
                <c:ptCount val="1"/>
                <c:pt idx="0">
                  <c:v>F2</c:v>
                </c:pt>
              </c:strCache>
            </c:strRef>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Sheet1!$D$5:$D$15</c:f>
              <c:numCache>
                <c:formatCode>General</c:formatCode>
                <c:ptCount val="11"/>
                <c:pt idx="0">
                  <c:v>0</c:v>
                </c:pt>
                <c:pt idx="1">
                  <c:v>1</c:v>
                </c:pt>
                <c:pt idx="2">
                  <c:v>2</c:v>
                </c:pt>
                <c:pt idx="3">
                  <c:v>3</c:v>
                </c:pt>
                <c:pt idx="4">
                  <c:v>4</c:v>
                </c:pt>
                <c:pt idx="5">
                  <c:v>5</c:v>
                </c:pt>
                <c:pt idx="6">
                  <c:v>6</c:v>
                </c:pt>
                <c:pt idx="7">
                  <c:v>7</c:v>
                </c:pt>
                <c:pt idx="8">
                  <c:v>8</c:v>
                </c:pt>
                <c:pt idx="9">
                  <c:v>10</c:v>
                </c:pt>
                <c:pt idx="10">
                  <c:v>12</c:v>
                </c:pt>
              </c:numCache>
            </c:numRef>
          </c:xVal>
          <c:yVal>
            <c:numRef>
              <c:f>Sheet1!$F$5:$F$15</c:f>
              <c:numCache>
                <c:formatCode>General</c:formatCode>
                <c:ptCount val="11"/>
                <c:pt idx="0">
                  <c:v>0</c:v>
                </c:pt>
                <c:pt idx="1">
                  <c:v>12</c:v>
                </c:pt>
                <c:pt idx="2">
                  <c:v>22</c:v>
                </c:pt>
                <c:pt idx="3">
                  <c:v>34</c:v>
                </c:pt>
                <c:pt idx="4">
                  <c:v>41</c:v>
                </c:pt>
                <c:pt idx="5">
                  <c:v>46</c:v>
                </c:pt>
                <c:pt idx="6">
                  <c:v>48</c:v>
                </c:pt>
                <c:pt idx="7">
                  <c:v>54</c:v>
                </c:pt>
                <c:pt idx="8">
                  <c:v>64</c:v>
                </c:pt>
                <c:pt idx="9">
                  <c:v>79</c:v>
                </c:pt>
                <c:pt idx="10">
                  <c:v>91</c:v>
                </c:pt>
              </c:numCache>
            </c:numRef>
          </c:yVal>
          <c:smooth val="1"/>
          <c:extLst>
            <c:ext xmlns:c16="http://schemas.microsoft.com/office/drawing/2014/chart" uri="{C3380CC4-5D6E-409C-BE32-E72D297353CC}">
              <c16:uniqueId val="{00000001-D05D-473D-B00A-E49BF0889858}"/>
            </c:ext>
          </c:extLst>
        </c:ser>
        <c:ser>
          <c:idx val="2"/>
          <c:order val="2"/>
          <c:tx>
            <c:strRef>
              <c:f>Sheet1!$G$4</c:f>
              <c:strCache>
                <c:ptCount val="1"/>
                <c:pt idx="0">
                  <c:v>F3</c:v>
                </c:pt>
              </c:strCache>
            </c:strRef>
          </c:tx>
          <c:spPr>
            <a:ln w="19050" cap="rnd">
              <a:solidFill>
                <a:schemeClr val="accent3"/>
              </a:solidFill>
              <a:round/>
            </a:ln>
            <a:effectLst/>
          </c:spPr>
          <c:marker>
            <c:symbol val="circle"/>
            <c:size val="5"/>
            <c:spPr>
              <a:solidFill>
                <a:schemeClr val="accent3"/>
              </a:solidFill>
              <a:ln w="9525">
                <a:solidFill>
                  <a:schemeClr val="accent3"/>
                </a:solidFill>
              </a:ln>
              <a:effectLst/>
            </c:spPr>
          </c:marker>
          <c:xVal>
            <c:numRef>
              <c:f>Sheet1!$D$5:$D$15</c:f>
              <c:numCache>
                <c:formatCode>General</c:formatCode>
                <c:ptCount val="11"/>
                <c:pt idx="0">
                  <c:v>0</c:v>
                </c:pt>
                <c:pt idx="1">
                  <c:v>1</c:v>
                </c:pt>
                <c:pt idx="2">
                  <c:v>2</c:v>
                </c:pt>
                <c:pt idx="3">
                  <c:v>3</c:v>
                </c:pt>
                <c:pt idx="4">
                  <c:v>4</c:v>
                </c:pt>
                <c:pt idx="5">
                  <c:v>5</c:v>
                </c:pt>
                <c:pt idx="6">
                  <c:v>6</c:v>
                </c:pt>
                <c:pt idx="7">
                  <c:v>7</c:v>
                </c:pt>
                <c:pt idx="8">
                  <c:v>8</c:v>
                </c:pt>
                <c:pt idx="9">
                  <c:v>10</c:v>
                </c:pt>
                <c:pt idx="10">
                  <c:v>12</c:v>
                </c:pt>
              </c:numCache>
            </c:numRef>
          </c:xVal>
          <c:yVal>
            <c:numRef>
              <c:f>Sheet1!$G$5:$G$15</c:f>
              <c:numCache>
                <c:formatCode>General</c:formatCode>
                <c:ptCount val="11"/>
                <c:pt idx="0">
                  <c:v>0</c:v>
                </c:pt>
                <c:pt idx="1">
                  <c:v>14</c:v>
                </c:pt>
                <c:pt idx="2">
                  <c:v>28</c:v>
                </c:pt>
                <c:pt idx="3">
                  <c:v>39</c:v>
                </c:pt>
                <c:pt idx="4">
                  <c:v>53</c:v>
                </c:pt>
                <c:pt idx="5">
                  <c:v>57</c:v>
                </c:pt>
                <c:pt idx="6">
                  <c:v>59</c:v>
                </c:pt>
                <c:pt idx="7">
                  <c:v>69</c:v>
                </c:pt>
                <c:pt idx="8">
                  <c:v>77</c:v>
                </c:pt>
                <c:pt idx="9">
                  <c:v>87</c:v>
                </c:pt>
                <c:pt idx="10">
                  <c:v>94</c:v>
                </c:pt>
              </c:numCache>
            </c:numRef>
          </c:yVal>
          <c:smooth val="1"/>
          <c:extLst>
            <c:ext xmlns:c16="http://schemas.microsoft.com/office/drawing/2014/chart" uri="{C3380CC4-5D6E-409C-BE32-E72D297353CC}">
              <c16:uniqueId val="{00000002-D05D-473D-B00A-E49BF0889858}"/>
            </c:ext>
          </c:extLst>
        </c:ser>
        <c:ser>
          <c:idx val="3"/>
          <c:order val="3"/>
          <c:tx>
            <c:strRef>
              <c:f>Sheet1!$H$4</c:f>
              <c:strCache>
                <c:ptCount val="1"/>
                <c:pt idx="0">
                  <c:v>F4</c:v>
                </c:pt>
              </c:strCache>
            </c:strRef>
          </c:tx>
          <c:spPr>
            <a:ln w="19050" cap="rnd">
              <a:solidFill>
                <a:schemeClr val="accent4"/>
              </a:solidFill>
              <a:round/>
            </a:ln>
            <a:effectLst/>
          </c:spPr>
          <c:marker>
            <c:symbol val="circle"/>
            <c:size val="5"/>
            <c:spPr>
              <a:solidFill>
                <a:schemeClr val="accent4"/>
              </a:solidFill>
              <a:ln w="9525">
                <a:solidFill>
                  <a:schemeClr val="accent4"/>
                </a:solidFill>
              </a:ln>
              <a:effectLst/>
            </c:spPr>
          </c:marker>
          <c:xVal>
            <c:numRef>
              <c:f>Sheet1!$D$5:$D$15</c:f>
              <c:numCache>
                <c:formatCode>General</c:formatCode>
                <c:ptCount val="11"/>
                <c:pt idx="0">
                  <c:v>0</c:v>
                </c:pt>
                <c:pt idx="1">
                  <c:v>1</c:v>
                </c:pt>
                <c:pt idx="2">
                  <c:v>2</c:v>
                </c:pt>
                <c:pt idx="3">
                  <c:v>3</c:v>
                </c:pt>
                <c:pt idx="4">
                  <c:v>4</c:v>
                </c:pt>
                <c:pt idx="5">
                  <c:v>5</c:v>
                </c:pt>
                <c:pt idx="6">
                  <c:v>6</c:v>
                </c:pt>
                <c:pt idx="7">
                  <c:v>7</c:v>
                </c:pt>
                <c:pt idx="8">
                  <c:v>8</c:v>
                </c:pt>
                <c:pt idx="9">
                  <c:v>10</c:v>
                </c:pt>
                <c:pt idx="10">
                  <c:v>12</c:v>
                </c:pt>
              </c:numCache>
            </c:numRef>
          </c:xVal>
          <c:yVal>
            <c:numRef>
              <c:f>Sheet1!$H$5:$H$15</c:f>
              <c:numCache>
                <c:formatCode>General</c:formatCode>
                <c:ptCount val="11"/>
                <c:pt idx="0">
                  <c:v>0</c:v>
                </c:pt>
                <c:pt idx="1">
                  <c:v>16</c:v>
                </c:pt>
                <c:pt idx="2">
                  <c:v>29</c:v>
                </c:pt>
                <c:pt idx="3">
                  <c:v>37</c:v>
                </c:pt>
                <c:pt idx="4">
                  <c:v>52</c:v>
                </c:pt>
                <c:pt idx="5">
                  <c:v>58</c:v>
                </c:pt>
                <c:pt idx="6">
                  <c:v>62</c:v>
                </c:pt>
                <c:pt idx="7">
                  <c:v>79</c:v>
                </c:pt>
                <c:pt idx="8">
                  <c:v>87</c:v>
                </c:pt>
                <c:pt idx="9">
                  <c:v>92</c:v>
                </c:pt>
                <c:pt idx="10">
                  <c:v>98</c:v>
                </c:pt>
              </c:numCache>
            </c:numRef>
          </c:yVal>
          <c:smooth val="1"/>
          <c:extLst>
            <c:ext xmlns:c16="http://schemas.microsoft.com/office/drawing/2014/chart" uri="{C3380CC4-5D6E-409C-BE32-E72D297353CC}">
              <c16:uniqueId val="{00000003-D05D-473D-B00A-E49BF0889858}"/>
            </c:ext>
          </c:extLst>
        </c:ser>
        <c:ser>
          <c:idx val="4"/>
          <c:order val="4"/>
          <c:tx>
            <c:strRef>
              <c:f>Sheet1!$I$4</c:f>
              <c:strCache>
                <c:ptCount val="1"/>
                <c:pt idx="0">
                  <c:v>F5</c:v>
                </c:pt>
              </c:strCache>
            </c:strRef>
          </c:tx>
          <c:spPr>
            <a:ln w="19050" cap="rnd">
              <a:solidFill>
                <a:schemeClr val="accent5"/>
              </a:solidFill>
              <a:round/>
            </a:ln>
            <a:effectLst/>
          </c:spPr>
          <c:marker>
            <c:symbol val="circle"/>
            <c:size val="5"/>
            <c:spPr>
              <a:solidFill>
                <a:schemeClr val="accent5"/>
              </a:solidFill>
              <a:ln w="9525">
                <a:solidFill>
                  <a:schemeClr val="accent5"/>
                </a:solidFill>
              </a:ln>
              <a:effectLst/>
            </c:spPr>
          </c:marker>
          <c:xVal>
            <c:numRef>
              <c:f>Sheet1!$D$5:$D$15</c:f>
              <c:numCache>
                <c:formatCode>General</c:formatCode>
                <c:ptCount val="11"/>
                <c:pt idx="0">
                  <c:v>0</c:v>
                </c:pt>
                <c:pt idx="1">
                  <c:v>1</c:v>
                </c:pt>
                <c:pt idx="2">
                  <c:v>2</c:v>
                </c:pt>
                <c:pt idx="3">
                  <c:v>3</c:v>
                </c:pt>
                <c:pt idx="4">
                  <c:v>4</c:v>
                </c:pt>
                <c:pt idx="5">
                  <c:v>5</c:v>
                </c:pt>
                <c:pt idx="6">
                  <c:v>6</c:v>
                </c:pt>
                <c:pt idx="7">
                  <c:v>7</c:v>
                </c:pt>
                <c:pt idx="8">
                  <c:v>8</c:v>
                </c:pt>
                <c:pt idx="9">
                  <c:v>10</c:v>
                </c:pt>
                <c:pt idx="10">
                  <c:v>12</c:v>
                </c:pt>
              </c:numCache>
            </c:numRef>
          </c:xVal>
          <c:yVal>
            <c:numRef>
              <c:f>Sheet1!$I$5:$I$15</c:f>
              <c:numCache>
                <c:formatCode>General</c:formatCode>
                <c:ptCount val="11"/>
                <c:pt idx="0">
                  <c:v>0</c:v>
                </c:pt>
                <c:pt idx="1">
                  <c:v>13</c:v>
                </c:pt>
                <c:pt idx="2">
                  <c:v>18</c:v>
                </c:pt>
                <c:pt idx="3">
                  <c:v>26</c:v>
                </c:pt>
                <c:pt idx="4">
                  <c:v>39</c:v>
                </c:pt>
                <c:pt idx="5">
                  <c:v>43</c:v>
                </c:pt>
                <c:pt idx="6">
                  <c:v>54</c:v>
                </c:pt>
                <c:pt idx="7">
                  <c:v>57</c:v>
                </c:pt>
                <c:pt idx="8">
                  <c:v>69</c:v>
                </c:pt>
                <c:pt idx="9">
                  <c:v>76</c:v>
                </c:pt>
                <c:pt idx="10">
                  <c:v>88</c:v>
                </c:pt>
              </c:numCache>
            </c:numRef>
          </c:yVal>
          <c:smooth val="1"/>
          <c:extLst>
            <c:ext xmlns:c16="http://schemas.microsoft.com/office/drawing/2014/chart" uri="{C3380CC4-5D6E-409C-BE32-E72D297353CC}">
              <c16:uniqueId val="{00000004-D05D-473D-B00A-E49BF0889858}"/>
            </c:ext>
          </c:extLst>
        </c:ser>
        <c:ser>
          <c:idx val="5"/>
          <c:order val="5"/>
          <c:tx>
            <c:strRef>
              <c:f>Sheet1!$J$4</c:f>
              <c:strCache>
                <c:ptCount val="1"/>
                <c:pt idx="0">
                  <c:v>F6</c:v>
                </c:pt>
              </c:strCache>
            </c:strRef>
          </c:tx>
          <c:spPr>
            <a:ln w="19050" cap="rnd">
              <a:solidFill>
                <a:schemeClr val="accent6"/>
              </a:solidFill>
              <a:round/>
            </a:ln>
            <a:effectLst/>
          </c:spPr>
          <c:marker>
            <c:symbol val="circle"/>
            <c:size val="5"/>
            <c:spPr>
              <a:solidFill>
                <a:schemeClr val="accent6"/>
              </a:solidFill>
              <a:ln w="9525">
                <a:solidFill>
                  <a:schemeClr val="accent6"/>
                </a:solidFill>
              </a:ln>
              <a:effectLst/>
            </c:spPr>
          </c:marker>
          <c:xVal>
            <c:numRef>
              <c:f>Sheet1!$D$5:$D$15</c:f>
              <c:numCache>
                <c:formatCode>General</c:formatCode>
                <c:ptCount val="11"/>
                <c:pt idx="0">
                  <c:v>0</c:v>
                </c:pt>
                <c:pt idx="1">
                  <c:v>1</c:v>
                </c:pt>
                <c:pt idx="2">
                  <c:v>2</c:v>
                </c:pt>
                <c:pt idx="3">
                  <c:v>3</c:v>
                </c:pt>
                <c:pt idx="4">
                  <c:v>4</c:v>
                </c:pt>
                <c:pt idx="5">
                  <c:v>5</c:v>
                </c:pt>
                <c:pt idx="6">
                  <c:v>6</c:v>
                </c:pt>
                <c:pt idx="7">
                  <c:v>7</c:v>
                </c:pt>
                <c:pt idx="8">
                  <c:v>8</c:v>
                </c:pt>
                <c:pt idx="9">
                  <c:v>10</c:v>
                </c:pt>
                <c:pt idx="10">
                  <c:v>12</c:v>
                </c:pt>
              </c:numCache>
            </c:numRef>
          </c:xVal>
          <c:yVal>
            <c:numRef>
              <c:f>Sheet1!$J$5:$J$15</c:f>
              <c:numCache>
                <c:formatCode>General</c:formatCode>
                <c:ptCount val="11"/>
                <c:pt idx="0">
                  <c:v>0</c:v>
                </c:pt>
                <c:pt idx="1">
                  <c:v>15</c:v>
                </c:pt>
                <c:pt idx="2">
                  <c:v>24</c:v>
                </c:pt>
                <c:pt idx="3">
                  <c:v>36</c:v>
                </c:pt>
                <c:pt idx="4">
                  <c:v>44</c:v>
                </c:pt>
                <c:pt idx="5">
                  <c:v>47</c:v>
                </c:pt>
                <c:pt idx="6">
                  <c:v>52</c:v>
                </c:pt>
                <c:pt idx="7">
                  <c:v>55</c:v>
                </c:pt>
                <c:pt idx="8">
                  <c:v>72</c:v>
                </c:pt>
                <c:pt idx="9">
                  <c:v>89</c:v>
                </c:pt>
                <c:pt idx="10">
                  <c:v>95</c:v>
                </c:pt>
              </c:numCache>
            </c:numRef>
          </c:yVal>
          <c:smooth val="1"/>
          <c:extLst>
            <c:ext xmlns:c16="http://schemas.microsoft.com/office/drawing/2014/chart" uri="{C3380CC4-5D6E-409C-BE32-E72D297353CC}">
              <c16:uniqueId val="{00000005-D05D-473D-B00A-E49BF0889858}"/>
            </c:ext>
          </c:extLst>
        </c:ser>
        <c:ser>
          <c:idx val="6"/>
          <c:order val="6"/>
          <c:tx>
            <c:strRef>
              <c:f>Sheet1!$K$4</c:f>
              <c:strCache>
                <c:ptCount val="1"/>
                <c:pt idx="0">
                  <c:v>F7</c:v>
                </c:pt>
              </c:strCache>
            </c:strRef>
          </c:tx>
          <c:spPr>
            <a:ln w="19050" cap="rnd">
              <a:solidFill>
                <a:schemeClr val="accent1">
                  <a:lumMod val="60000"/>
                </a:schemeClr>
              </a:solidFill>
              <a:round/>
            </a:ln>
            <a:effectLst/>
          </c:spPr>
          <c:marker>
            <c:symbol val="circle"/>
            <c:size val="5"/>
            <c:spPr>
              <a:solidFill>
                <a:schemeClr val="accent1">
                  <a:lumMod val="60000"/>
                </a:schemeClr>
              </a:solidFill>
              <a:ln w="9525">
                <a:solidFill>
                  <a:schemeClr val="accent1">
                    <a:lumMod val="60000"/>
                  </a:schemeClr>
                </a:solidFill>
              </a:ln>
              <a:effectLst/>
            </c:spPr>
          </c:marker>
          <c:xVal>
            <c:numRef>
              <c:f>Sheet1!$D$5:$D$15</c:f>
              <c:numCache>
                <c:formatCode>General</c:formatCode>
                <c:ptCount val="11"/>
                <c:pt idx="0">
                  <c:v>0</c:v>
                </c:pt>
                <c:pt idx="1">
                  <c:v>1</c:v>
                </c:pt>
                <c:pt idx="2">
                  <c:v>2</c:v>
                </c:pt>
                <c:pt idx="3">
                  <c:v>3</c:v>
                </c:pt>
                <c:pt idx="4">
                  <c:v>4</c:v>
                </c:pt>
                <c:pt idx="5">
                  <c:v>5</c:v>
                </c:pt>
                <c:pt idx="6">
                  <c:v>6</c:v>
                </c:pt>
                <c:pt idx="7">
                  <c:v>7</c:v>
                </c:pt>
                <c:pt idx="8">
                  <c:v>8</c:v>
                </c:pt>
                <c:pt idx="9">
                  <c:v>10</c:v>
                </c:pt>
                <c:pt idx="10">
                  <c:v>12</c:v>
                </c:pt>
              </c:numCache>
            </c:numRef>
          </c:xVal>
          <c:yVal>
            <c:numRef>
              <c:f>Sheet1!$K$5:$K$15</c:f>
              <c:numCache>
                <c:formatCode>General</c:formatCode>
                <c:ptCount val="11"/>
                <c:pt idx="0">
                  <c:v>0</c:v>
                </c:pt>
                <c:pt idx="1">
                  <c:v>14</c:v>
                </c:pt>
                <c:pt idx="2">
                  <c:v>25</c:v>
                </c:pt>
                <c:pt idx="3">
                  <c:v>31</c:v>
                </c:pt>
                <c:pt idx="4">
                  <c:v>45</c:v>
                </c:pt>
                <c:pt idx="5">
                  <c:v>48</c:v>
                </c:pt>
                <c:pt idx="6">
                  <c:v>54</c:v>
                </c:pt>
                <c:pt idx="7">
                  <c:v>57</c:v>
                </c:pt>
                <c:pt idx="8">
                  <c:v>77</c:v>
                </c:pt>
                <c:pt idx="9">
                  <c:v>84</c:v>
                </c:pt>
                <c:pt idx="10">
                  <c:v>90</c:v>
                </c:pt>
              </c:numCache>
            </c:numRef>
          </c:yVal>
          <c:smooth val="1"/>
          <c:extLst>
            <c:ext xmlns:c16="http://schemas.microsoft.com/office/drawing/2014/chart" uri="{C3380CC4-5D6E-409C-BE32-E72D297353CC}">
              <c16:uniqueId val="{00000006-D05D-473D-B00A-E49BF0889858}"/>
            </c:ext>
          </c:extLst>
        </c:ser>
        <c:ser>
          <c:idx val="7"/>
          <c:order val="7"/>
          <c:tx>
            <c:strRef>
              <c:f>Sheet1!$L$4</c:f>
              <c:strCache>
                <c:ptCount val="1"/>
                <c:pt idx="0">
                  <c:v>F8</c:v>
                </c:pt>
              </c:strCache>
            </c:strRef>
          </c:tx>
          <c:spPr>
            <a:ln w="19050" cap="rnd">
              <a:solidFill>
                <a:schemeClr val="accent2">
                  <a:lumMod val="60000"/>
                </a:schemeClr>
              </a:solidFill>
              <a:round/>
            </a:ln>
            <a:effectLst/>
          </c:spPr>
          <c:marker>
            <c:symbol val="circle"/>
            <c:size val="5"/>
            <c:spPr>
              <a:solidFill>
                <a:schemeClr val="accent2">
                  <a:lumMod val="60000"/>
                </a:schemeClr>
              </a:solidFill>
              <a:ln w="9525">
                <a:solidFill>
                  <a:schemeClr val="accent2">
                    <a:lumMod val="60000"/>
                  </a:schemeClr>
                </a:solidFill>
              </a:ln>
              <a:effectLst/>
            </c:spPr>
          </c:marker>
          <c:xVal>
            <c:numRef>
              <c:f>Sheet1!$D$5:$D$15</c:f>
              <c:numCache>
                <c:formatCode>General</c:formatCode>
                <c:ptCount val="11"/>
                <c:pt idx="0">
                  <c:v>0</c:v>
                </c:pt>
                <c:pt idx="1">
                  <c:v>1</c:v>
                </c:pt>
                <c:pt idx="2">
                  <c:v>2</c:v>
                </c:pt>
                <c:pt idx="3">
                  <c:v>3</c:v>
                </c:pt>
                <c:pt idx="4">
                  <c:v>4</c:v>
                </c:pt>
                <c:pt idx="5">
                  <c:v>5</c:v>
                </c:pt>
                <c:pt idx="6">
                  <c:v>6</c:v>
                </c:pt>
                <c:pt idx="7">
                  <c:v>7</c:v>
                </c:pt>
                <c:pt idx="8">
                  <c:v>8</c:v>
                </c:pt>
                <c:pt idx="9">
                  <c:v>10</c:v>
                </c:pt>
                <c:pt idx="10">
                  <c:v>12</c:v>
                </c:pt>
              </c:numCache>
            </c:numRef>
          </c:xVal>
          <c:yVal>
            <c:numRef>
              <c:f>Sheet1!$L$5:$L$15</c:f>
              <c:numCache>
                <c:formatCode>General</c:formatCode>
                <c:ptCount val="11"/>
                <c:pt idx="0">
                  <c:v>0</c:v>
                </c:pt>
                <c:pt idx="1">
                  <c:v>11</c:v>
                </c:pt>
                <c:pt idx="2">
                  <c:v>19</c:v>
                </c:pt>
                <c:pt idx="3">
                  <c:v>28</c:v>
                </c:pt>
                <c:pt idx="4">
                  <c:v>37</c:v>
                </c:pt>
                <c:pt idx="5">
                  <c:v>43</c:v>
                </c:pt>
                <c:pt idx="6">
                  <c:v>49</c:v>
                </c:pt>
                <c:pt idx="7">
                  <c:v>53</c:v>
                </c:pt>
                <c:pt idx="8">
                  <c:v>63</c:v>
                </c:pt>
                <c:pt idx="9">
                  <c:v>75</c:v>
                </c:pt>
                <c:pt idx="10">
                  <c:v>82</c:v>
                </c:pt>
              </c:numCache>
            </c:numRef>
          </c:yVal>
          <c:smooth val="1"/>
          <c:extLst>
            <c:ext xmlns:c16="http://schemas.microsoft.com/office/drawing/2014/chart" uri="{C3380CC4-5D6E-409C-BE32-E72D297353CC}">
              <c16:uniqueId val="{00000007-D05D-473D-B00A-E49BF0889858}"/>
            </c:ext>
          </c:extLst>
        </c:ser>
        <c:dLbls>
          <c:showLegendKey val="0"/>
          <c:showVal val="0"/>
          <c:showCatName val="0"/>
          <c:showSerName val="0"/>
          <c:showPercent val="0"/>
          <c:showBubbleSize val="0"/>
        </c:dLbls>
        <c:axId val="379418575"/>
        <c:axId val="379404655"/>
      </c:scatterChart>
      <c:valAx>
        <c:axId val="379418575"/>
        <c:scaling>
          <c:orientation val="minMax"/>
        </c:scaling>
        <c:delete val="0"/>
        <c:axPos val="b"/>
        <c:majorGridlines>
          <c:spPr>
            <a:ln w="9525" cap="flat" cmpd="sng" algn="ctr">
              <a:no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sz="2000" dirty="0">
                    <a:latin typeface="Times New Roman" panose="02020603050405020304" pitchFamily="18" charset="0"/>
                    <a:cs typeface="Times New Roman" panose="02020603050405020304" pitchFamily="18" charset="0"/>
                  </a:rPr>
                  <a:t>Time</a:t>
                </a:r>
                <a:r>
                  <a:rPr lang="en-IN" sz="2000" baseline="0" dirty="0">
                    <a:latin typeface="Times New Roman" panose="02020603050405020304" pitchFamily="18" charset="0"/>
                    <a:cs typeface="Times New Roman" panose="02020603050405020304" pitchFamily="18" charset="0"/>
                  </a:rPr>
                  <a:t> (hrs)</a:t>
                </a:r>
                <a:endParaRPr lang="en-IN" sz="2000" dirty="0">
                  <a:latin typeface="Times New Roman" panose="02020603050405020304" pitchFamily="18" charset="0"/>
                  <a:cs typeface="Times New Roman" panose="02020603050405020304" pitchFamily="18" charset="0"/>
                </a:endParaRPr>
              </a:p>
            </c:rich>
          </c:tx>
          <c:layout>
            <c:manualLayout>
              <c:xMode val="edge"/>
              <c:yMode val="edge"/>
              <c:x val="0.48722064954678429"/>
              <c:y val="0.85905166459455728"/>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79404655"/>
        <c:crosses val="autoZero"/>
        <c:crossBetween val="midCat"/>
      </c:valAx>
      <c:valAx>
        <c:axId val="379404655"/>
        <c:scaling>
          <c:orientation val="minMax"/>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sz="2000" dirty="0">
                    <a:latin typeface="Times New Roman" panose="02020603050405020304" pitchFamily="18" charset="0"/>
                    <a:cs typeface="Times New Roman" panose="02020603050405020304" pitchFamily="18" charset="0"/>
                  </a:rPr>
                  <a:t>Cumulative</a:t>
                </a:r>
                <a:r>
                  <a:rPr lang="en-IN" sz="2000" baseline="0" dirty="0">
                    <a:latin typeface="Times New Roman" panose="02020603050405020304" pitchFamily="18" charset="0"/>
                    <a:cs typeface="Times New Roman" panose="02020603050405020304" pitchFamily="18" charset="0"/>
                  </a:rPr>
                  <a:t> % Drug Release</a:t>
                </a:r>
                <a:endParaRPr lang="en-IN" sz="2000" dirty="0">
                  <a:latin typeface="Times New Roman" panose="02020603050405020304" pitchFamily="18" charset="0"/>
                  <a:cs typeface="Times New Roman" panose="02020603050405020304" pitchFamily="18" charset="0"/>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79418575"/>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2800" b="1" i="0" u="none" strike="noStrike" baseline="0">
                <a:solidFill>
                  <a:srgbClr val="000000"/>
                </a:solidFill>
                <a:latin typeface="Arial"/>
                <a:ea typeface="Arial"/>
                <a:cs typeface="Arial"/>
              </a:defRPr>
            </a:pPr>
            <a:r>
              <a:rPr lang="en-IN" sz="2000" dirty="0">
                <a:latin typeface="Times New Roman" panose="02020603050405020304" pitchFamily="18" charset="0"/>
                <a:cs typeface="Times New Roman" panose="02020603050405020304" pitchFamily="18" charset="0"/>
              </a:rPr>
              <a:t>Zero</a:t>
            </a:r>
            <a:r>
              <a:rPr lang="en-IN" sz="2000" baseline="0" dirty="0">
                <a:latin typeface="Times New Roman" panose="02020603050405020304" pitchFamily="18" charset="0"/>
                <a:cs typeface="Times New Roman" panose="02020603050405020304" pitchFamily="18" charset="0"/>
              </a:rPr>
              <a:t> Order Kinetics</a:t>
            </a:r>
            <a:endParaRPr lang="en-IN" sz="2000" dirty="0">
              <a:latin typeface="Times New Roman" panose="02020603050405020304" pitchFamily="18" charset="0"/>
              <a:cs typeface="Times New Roman" panose="02020603050405020304" pitchFamily="18" charset="0"/>
            </a:endParaRPr>
          </a:p>
        </c:rich>
      </c:tx>
      <c:layout>
        <c:manualLayout>
          <c:xMode val="edge"/>
          <c:yMode val="edge"/>
          <c:x val="0.3671886210831819"/>
          <c:y val="3.9753993988759222E-2"/>
        </c:manualLayout>
      </c:layout>
      <c:overlay val="0"/>
      <c:spPr>
        <a:noFill/>
        <a:ln w="25400">
          <a:noFill/>
        </a:ln>
      </c:spPr>
    </c:title>
    <c:autoTitleDeleted val="0"/>
    <c:plotArea>
      <c:layout>
        <c:manualLayout>
          <c:layoutTarget val="inner"/>
          <c:xMode val="edge"/>
          <c:yMode val="edge"/>
          <c:x val="0.1402267278627041"/>
          <c:y val="0.13254985648287487"/>
          <c:w val="0.76248612652608216"/>
          <c:h val="0.77627118644067794"/>
        </c:manualLayout>
      </c:layout>
      <c:scatterChart>
        <c:scatterStyle val="lineMarker"/>
        <c:varyColors val="0"/>
        <c:ser>
          <c:idx val="0"/>
          <c:order val="0"/>
          <c:spPr>
            <a:ln w="12700">
              <a:solidFill>
                <a:srgbClr val="000080"/>
              </a:solidFill>
              <a:prstDash val="solid"/>
            </a:ln>
          </c:spPr>
          <c:marker>
            <c:symbol val="diamond"/>
            <c:size val="5"/>
            <c:spPr>
              <a:solidFill>
                <a:srgbClr val="000080"/>
              </a:solidFill>
              <a:ln>
                <a:solidFill>
                  <a:srgbClr val="000080"/>
                </a:solidFill>
                <a:prstDash val="solid"/>
              </a:ln>
            </c:spPr>
          </c:marker>
          <c:trendline>
            <c:spPr>
              <a:ln w="25400">
                <a:solidFill>
                  <a:srgbClr val="000000"/>
                </a:solidFill>
                <a:prstDash val="solid"/>
              </a:ln>
            </c:spPr>
            <c:trendlineType val="linear"/>
            <c:dispRSqr val="1"/>
            <c:dispEq val="1"/>
            <c:trendlineLbl>
              <c:numFmt formatCode="General" sourceLinked="0"/>
              <c:spPr>
                <a:noFill/>
                <a:ln w="25400">
                  <a:noFill/>
                </a:ln>
              </c:spPr>
              <c:txPr>
                <a:bodyPr/>
                <a:lstStyle/>
                <a:p>
                  <a:pPr>
                    <a:defRPr sz="1800" b="0" i="0" u="none" strike="noStrike" baseline="0">
                      <a:solidFill>
                        <a:srgbClr val="000000"/>
                      </a:solidFill>
                      <a:latin typeface="Arial"/>
                      <a:ea typeface="Arial"/>
                      <a:cs typeface="Arial"/>
                    </a:defRPr>
                  </a:pPr>
                  <a:endParaRPr lang="en-US"/>
                </a:p>
              </c:txPr>
            </c:trendlineLbl>
          </c:trendline>
          <c:xVal>
            <c:numRef>
              <c:f>Sheet1!$C$2:$C$13</c:f>
              <c:numCache>
                <c:formatCode>General</c:formatCode>
                <c:ptCount val="12"/>
                <c:pt idx="0">
                  <c:v>0</c:v>
                </c:pt>
                <c:pt idx="1">
                  <c:v>1</c:v>
                </c:pt>
                <c:pt idx="2">
                  <c:v>2</c:v>
                </c:pt>
                <c:pt idx="3">
                  <c:v>3</c:v>
                </c:pt>
                <c:pt idx="4">
                  <c:v>4</c:v>
                </c:pt>
                <c:pt idx="5">
                  <c:v>5</c:v>
                </c:pt>
                <c:pt idx="6">
                  <c:v>6</c:v>
                </c:pt>
                <c:pt idx="7">
                  <c:v>7</c:v>
                </c:pt>
                <c:pt idx="8">
                  <c:v>8</c:v>
                </c:pt>
                <c:pt idx="9">
                  <c:v>10</c:v>
                </c:pt>
                <c:pt idx="10">
                  <c:v>12</c:v>
                </c:pt>
              </c:numCache>
            </c:numRef>
          </c:xVal>
          <c:yVal>
            <c:numRef>
              <c:f>Sheet1!$B$2:$B$13</c:f>
              <c:numCache>
                <c:formatCode>General</c:formatCode>
                <c:ptCount val="12"/>
                <c:pt idx="0">
                  <c:v>0</c:v>
                </c:pt>
                <c:pt idx="1">
                  <c:v>16</c:v>
                </c:pt>
                <c:pt idx="2">
                  <c:v>29</c:v>
                </c:pt>
                <c:pt idx="3">
                  <c:v>37</c:v>
                </c:pt>
                <c:pt idx="4">
                  <c:v>52</c:v>
                </c:pt>
                <c:pt idx="5">
                  <c:v>58</c:v>
                </c:pt>
                <c:pt idx="6">
                  <c:v>62</c:v>
                </c:pt>
                <c:pt idx="7">
                  <c:v>79</c:v>
                </c:pt>
                <c:pt idx="8">
                  <c:v>87</c:v>
                </c:pt>
                <c:pt idx="9">
                  <c:v>92</c:v>
                </c:pt>
                <c:pt idx="10">
                  <c:v>98</c:v>
                </c:pt>
              </c:numCache>
            </c:numRef>
          </c:yVal>
          <c:smooth val="1"/>
          <c:extLst>
            <c:ext xmlns:c16="http://schemas.microsoft.com/office/drawing/2014/chart" uri="{C3380CC4-5D6E-409C-BE32-E72D297353CC}">
              <c16:uniqueId val="{00000001-E920-4BC1-885F-F4B1DCE3F915}"/>
            </c:ext>
          </c:extLst>
        </c:ser>
        <c:dLbls>
          <c:showLegendKey val="0"/>
          <c:showVal val="0"/>
          <c:showCatName val="0"/>
          <c:showSerName val="0"/>
          <c:showPercent val="0"/>
          <c:showBubbleSize val="0"/>
        </c:dLbls>
        <c:axId val="905954399"/>
        <c:axId val="1"/>
      </c:scatterChart>
      <c:valAx>
        <c:axId val="905954399"/>
        <c:scaling>
          <c:orientation val="minMax"/>
        </c:scaling>
        <c:delete val="0"/>
        <c:axPos val="b"/>
        <c:title>
          <c:tx>
            <c:rich>
              <a:bodyPr/>
              <a:lstStyle/>
              <a:p>
                <a:pPr>
                  <a:defRPr sz="1400" b="1" i="0" u="none" strike="noStrike" baseline="0">
                    <a:solidFill>
                      <a:srgbClr val="000000"/>
                    </a:solidFill>
                    <a:latin typeface="Arial"/>
                    <a:ea typeface="Arial"/>
                    <a:cs typeface="Arial"/>
                  </a:defRPr>
                </a:pPr>
                <a:r>
                  <a:rPr lang="en-IN" sz="1400" dirty="0"/>
                  <a:t>Time (hrs)</a:t>
                </a:r>
              </a:p>
            </c:rich>
          </c:tx>
          <c:layout>
            <c:manualLayout>
              <c:xMode val="edge"/>
              <c:yMode val="edge"/>
              <c:x val="0.44683356335690666"/>
              <c:y val="0.94494235482481292"/>
            </c:manualLayout>
          </c:layout>
          <c:overlay val="0"/>
          <c:spPr>
            <a:noFill/>
            <a:ln w="25400">
              <a:noFill/>
            </a:ln>
          </c:spPr>
        </c:title>
        <c:numFmt formatCode="General" sourceLinked="1"/>
        <c:majorTickMark val="out"/>
        <c:minorTickMark val="none"/>
        <c:tickLblPos val="nextTo"/>
        <c:spPr>
          <a:ln w="3175">
            <a:solidFill>
              <a:srgbClr val="000000"/>
            </a:solidFill>
            <a:prstDash val="solid"/>
          </a:ln>
        </c:spPr>
        <c:txPr>
          <a:bodyPr rot="0" vert="horz"/>
          <a:lstStyle/>
          <a:p>
            <a:pPr>
              <a:defRPr sz="1000" b="0" i="0" u="none" strike="noStrike" baseline="0">
                <a:solidFill>
                  <a:srgbClr val="000000"/>
                </a:solidFill>
                <a:latin typeface="Arial"/>
                <a:ea typeface="Arial"/>
                <a:cs typeface="Arial"/>
              </a:defRPr>
            </a:pPr>
            <a:endParaRPr lang="en-US"/>
          </a:p>
        </c:txPr>
        <c:crossAx val="1"/>
        <c:crosses val="autoZero"/>
        <c:crossBetween val="midCat"/>
      </c:valAx>
      <c:valAx>
        <c:axId val="1"/>
        <c:scaling>
          <c:orientation val="minMax"/>
        </c:scaling>
        <c:delete val="0"/>
        <c:axPos val="l"/>
        <c:title>
          <c:tx>
            <c:rich>
              <a:bodyPr/>
              <a:lstStyle/>
              <a:p>
                <a:pPr>
                  <a:defRPr sz="1400" b="1" i="0" u="none" strike="noStrike" baseline="0">
                    <a:solidFill>
                      <a:srgbClr val="000000"/>
                    </a:solidFill>
                    <a:latin typeface="Arial"/>
                    <a:ea typeface="Arial"/>
                    <a:cs typeface="Arial"/>
                  </a:defRPr>
                </a:pPr>
                <a:r>
                  <a:rPr lang="en-IN" sz="1800" dirty="0">
                    <a:latin typeface="Times New Roman" panose="02020603050405020304" pitchFamily="18" charset="0"/>
                    <a:cs typeface="Times New Roman" panose="02020603050405020304" pitchFamily="18" charset="0"/>
                  </a:rPr>
                  <a:t>Cumulative % drug release</a:t>
                </a:r>
              </a:p>
            </c:rich>
          </c:tx>
          <c:layout>
            <c:manualLayout>
              <c:xMode val="edge"/>
              <c:yMode val="edge"/>
              <c:x val="2.17501876376291E-2"/>
              <c:y val="0.23276739058493159"/>
            </c:manualLayout>
          </c:layout>
          <c:overlay val="0"/>
          <c:spPr>
            <a:noFill/>
            <a:ln w="25400">
              <a:noFill/>
            </a:ln>
          </c:spPr>
        </c:title>
        <c:numFmt formatCode="General" sourceLinked="1"/>
        <c:majorTickMark val="out"/>
        <c:minorTickMark val="none"/>
        <c:tickLblPos val="nextTo"/>
        <c:spPr>
          <a:ln w="3175">
            <a:solidFill>
              <a:srgbClr val="000000"/>
            </a:solidFill>
            <a:prstDash val="solid"/>
          </a:ln>
        </c:spPr>
        <c:txPr>
          <a:bodyPr rot="0" vert="horz"/>
          <a:lstStyle/>
          <a:p>
            <a:pPr>
              <a:defRPr sz="1000" b="0" i="0" u="none" strike="noStrike" baseline="0">
                <a:solidFill>
                  <a:srgbClr val="000000"/>
                </a:solidFill>
                <a:latin typeface="Arial"/>
                <a:ea typeface="Arial"/>
                <a:cs typeface="Arial"/>
              </a:defRPr>
            </a:pPr>
            <a:endParaRPr lang="en-US"/>
          </a:p>
        </c:txPr>
        <c:crossAx val="905954399"/>
        <c:crosses val="autoZero"/>
        <c:crossBetween val="midCat"/>
      </c:valAx>
      <c:spPr>
        <a:noFill/>
        <a:ln w="25400">
          <a:solidFill>
            <a:schemeClr val="accent3"/>
          </a:solidFill>
        </a:ln>
      </c:spPr>
    </c:plotArea>
    <c:plotVisOnly val="1"/>
    <c:dispBlanksAs val="gap"/>
    <c:showDLblsOverMax val="0"/>
  </c:chart>
  <c:spPr>
    <a:noFill/>
    <a:ln w="9525">
      <a:noFill/>
    </a:ln>
  </c:spPr>
  <c:txPr>
    <a:bodyPr/>
    <a:lstStyle/>
    <a:p>
      <a:pPr>
        <a:defRPr sz="1000" b="0" i="0" u="none" strike="noStrike" baseline="0">
          <a:solidFill>
            <a:srgbClr val="000000"/>
          </a:solidFill>
          <a:latin typeface="Arial"/>
          <a:ea typeface="Arial"/>
          <a:cs typeface="Arial"/>
        </a:defRPr>
      </a:pPr>
      <a:endParaRPr lang="en-US"/>
    </a:p>
  </c:txPr>
  <c:externalData r:id="rId2">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2400" b="1" i="0" u="none" strike="noStrike" baseline="0">
                <a:solidFill>
                  <a:srgbClr val="000000"/>
                </a:solidFill>
                <a:latin typeface="Arial"/>
                <a:ea typeface="Arial"/>
                <a:cs typeface="Arial"/>
              </a:defRPr>
            </a:pPr>
            <a:r>
              <a:rPr lang="en-IN" sz="1800" dirty="0">
                <a:latin typeface="Times New Roman" panose="02020603050405020304" pitchFamily="18" charset="0"/>
                <a:cs typeface="Times New Roman" panose="02020603050405020304" pitchFamily="18" charset="0"/>
              </a:rPr>
              <a:t>Higuchi</a:t>
            </a:r>
          </a:p>
        </c:rich>
      </c:tx>
      <c:layout>
        <c:manualLayout>
          <c:xMode val="edge"/>
          <c:yMode val="edge"/>
          <c:x val="0.35560049312017822"/>
          <c:y val="2.4532618275738887E-3"/>
        </c:manualLayout>
      </c:layout>
      <c:overlay val="0"/>
      <c:spPr>
        <a:noFill/>
        <a:ln w="25400">
          <a:noFill/>
        </a:ln>
      </c:spPr>
    </c:title>
    <c:autoTitleDeleted val="0"/>
    <c:plotArea>
      <c:layout>
        <c:manualLayout>
          <c:layoutTarget val="inner"/>
          <c:xMode val="edge"/>
          <c:yMode val="edge"/>
          <c:x val="0.15855006760518572"/>
          <c:y val="8.9269853795587634E-2"/>
          <c:w val="0.75582685904550495"/>
          <c:h val="0.81016949152542372"/>
        </c:manualLayout>
      </c:layout>
      <c:scatterChart>
        <c:scatterStyle val="lineMarker"/>
        <c:varyColors val="0"/>
        <c:ser>
          <c:idx val="0"/>
          <c:order val="0"/>
          <c:spPr>
            <a:ln w="12700">
              <a:solidFill>
                <a:srgbClr val="000080"/>
              </a:solidFill>
              <a:prstDash val="solid"/>
            </a:ln>
          </c:spPr>
          <c:marker>
            <c:symbol val="diamond"/>
            <c:size val="5"/>
            <c:spPr>
              <a:solidFill>
                <a:srgbClr val="000080"/>
              </a:solidFill>
              <a:ln>
                <a:solidFill>
                  <a:srgbClr val="000080"/>
                </a:solidFill>
                <a:prstDash val="solid"/>
              </a:ln>
            </c:spPr>
          </c:marker>
          <c:trendline>
            <c:spPr>
              <a:ln w="25400">
                <a:solidFill>
                  <a:srgbClr val="000000"/>
                </a:solidFill>
                <a:prstDash val="solid"/>
              </a:ln>
            </c:spPr>
            <c:trendlineType val="linear"/>
            <c:dispRSqr val="1"/>
            <c:dispEq val="1"/>
            <c:trendlineLbl>
              <c:numFmt formatCode="General" sourceLinked="0"/>
              <c:spPr>
                <a:noFill/>
                <a:ln w="25400">
                  <a:noFill/>
                </a:ln>
              </c:spPr>
              <c:txPr>
                <a:bodyPr/>
                <a:lstStyle/>
                <a:p>
                  <a:pPr>
                    <a:defRPr sz="1400" b="0" i="0" u="none" strike="noStrike" baseline="0">
                      <a:solidFill>
                        <a:srgbClr val="000000"/>
                      </a:solidFill>
                      <a:latin typeface="Arial"/>
                      <a:ea typeface="Arial"/>
                      <a:cs typeface="Arial"/>
                    </a:defRPr>
                  </a:pPr>
                  <a:endParaRPr lang="en-US"/>
                </a:p>
              </c:txPr>
            </c:trendlineLbl>
          </c:trendline>
          <c:xVal>
            <c:numRef>
              <c:f>Sheet1!$D$2:$D$13</c:f>
              <c:numCache>
                <c:formatCode>0.000</c:formatCode>
                <c:ptCount val="12"/>
                <c:pt idx="0" formatCode="General">
                  <c:v>0</c:v>
                </c:pt>
                <c:pt idx="1">
                  <c:v>1</c:v>
                </c:pt>
                <c:pt idx="2">
                  <c:v>1.4142135623730951</c:v>
                </c:pt>
                <c:pt idx="3">
                  <c:v>1.7320508075688772</c:v>
                </c:pt>
                <c:pt idx="4">
                  <c:v>2</c:v>
                </c:pt>
                <c:pt idx="5">
                  <c:v>2.2360679774997898</c:v>
                </c:pt>
                <c:pt idx="6">
                  <c:v>2.4494897427831779</c:v>
                </c:pt>
                <c:pt idx="7">
                  <c:v>2.6457513110645907</c:v>
                </c:pt>
                <c:pt idx="8">
                  <c:v>2.8284271247461903</c:v>
                </c:pt>
                <c:pt idx="9">
                  <c:v>3.1622776601683795</c:v>
                </c:pt>
                <c:pt idx="10">
                  <c:v>3.4641016151377544</c:v>
                </c:pt>
              </c:numCache>
            </c:numRef>
          </c:xVal>
          <c:yVal>
            <c:numRef>
              <c:f>Sheet1!$B$2:$B$13</c:f>
              <c:numCache>
                <c:formatCode>General</c:formatCode>
                <c:ptCount val="12"/>
                <c:pt idx="0">
                  <c:v>0</c:v>
                </c:pt>
                <c:pt idx="1">
                  <c:v>16</c:v>
                </c:pt>
                <c:pt idx="2">
                  <c:v>29</c:v>
                </c:pt>
                <c:pt idx="3">
                  <c:v>37</c:v>
                </c:pt>
                <c:pt idx="4">
                  <c:v>52</c:v>
                </c:pt>
                <c:pt idx="5">
                  <c:v>58</c:v>
                </c:pt>
                <c:pt idx="6">
                  <c:v>62</c:v>
                </c:pt>
                <c:pt idx="7">
                  <c:v>79</c:v>
                </c:pt>
                <c:pt idx="8">
                  <c:v>87</c:v>
                </c:pt>
                <c:pt idx="9">
                  <c:v>92</c:v>
                </c:pt>
                <c:pt idx="10">
                  <c:v>98</c:v>
                </c:pt>
              </c:numCache>
            </c:numRef>
          </c:yVal>
          <c:smooth val="1"/>
          <c:extLst>
            <c:ext xmlns:c16="http://schemas.microsoft.com/office/drawing/2014/chart" uri="{C3380CC4-5D6E-409C-BE32-E72D297353CC}">
              <c16:uniqueId val="{00000001-35A0-4E1D-B7FF-7D0585D7F9BB}"/>
            </c:ext>
          </c:extLst>
        </c:ser>
        <c:dLbls>
          <c:showLegendKey val="0"/>
          <c:showVal val="0"/>
          <c:showCatName val="0"/>
          <c:showSerName val="0"/>
          <c:showPercent val="0"/>
          <c:showBubbleSize val="0"/>
        </c:dLbls>
        <c:axId val="905452303"/>
        <c:axId val="1"/>
      </c:scatterChart>
      <c:valAx>
        <c:axId val="905452303"/>
        <c:scaling>
          <c:orientation val="minMax"/>
        </c:scaling>
        <c:delete val="0"/>
        <c:axPos val="b"/>
        <c:title>
          <c:tx>
            <c:rich>
              <a:bodyPr/>
              <a:lstStyle/>
              <a:p>
                <a:pPr>
                  <a:defRPr sz="1400" b="1" i="0" u="none" strike="noStrike" baseline="0">
                    <a:solidFill>
                      <a:srgbClr val="000000"/>
                    </a:solidFill>
                    <a:latin typeface="Arial"/>
                    <a:ea typeface="Arial"/>
                    <a:cs typeface="Arial"/>
                  </a:defRPr>
                </a:pPr>
                <a:r>
                  <a:rPr lang="en-IN" sz="1400"/>
                  <a:t>Root Time</a:t>
                </a:r>
              </a:p>
            </c:rich>
          </c:tx>
          <c:layout>
            <c:manualLayout>
              <c:xMode val="edge"/>
              <c:yMode val="edge"/>
              <c:x val="0.4754553408096715"/>
              <c:y val="0.89749917197460372"/>
            </c:manualLayout>
          </c:layout>
          <c:overlay val="0"/>
          <c:spPr>
            <a:noFill/>
            <a:ln w="25400">
              <a:noFill/>
            </a:ln>
          </c:spPr>
        </c:title>
        <c:numFmt formatCode="General" sourceLinked="1"/>
        <c:majorTickMark val="out"/>
        <c:minorTickMark val="none"/>
        <c:tickLblPos val="nextTo"/>
        <c:spPr>
          <a:ln w="3175">
            <a:solidFill>
              <a:srgbClr val="000000"/>
            </a:solidFill>
            <a:prstDash val="solid"/>
          </a:ln>
        </c:spPr>
        <c:txPr>
          <a:bodyPr rot="0" vert="horz"/>
          <a:lstStyle/>
          <a:p>
            <a:pPr>
              <a:defRPr sz="1000" b="0" i="0" u="none" strike="noStrike" baseline="0">
                <a:solidFill>
                  <a:srgbClr val="000000"/>
                </a:solidFill>
                <a:latin typeface="Arial"/>
                <a:ea typeface="Arial"/>
                <a:cs typeface="Arial"/>
              </a:defRPr>
            </a:pPr>
            <a:endParaRPr lang="en-US"/>
          </a:p>
        </c:txPr>
        <c:crossAx val="1"/>
        <c:crosses val="autoZero"/>
        <c:crossBetween val="midCat"/>
      </c:valAx>
      <c:valAx>
        <c:axId val="1"/>
        <c:scaling>
          <c:orientation val="minMax"/>
        </c:scaling>
        <c:delete val="0"/>
        <c:axPos val="l"/>
        <c:title>
          <c:tx>
            <c:rich>
              <a:bodyPr/>
              <a:lstStyle/>
              <a:p>
                <a:pPr>
                  <a:defRPr sz="1400" b="1" i="0" u="none" strike="noStrike" baseline="0">
                    <a:solidFill>
                      <a:srgbClr val="000000"/>
                    </a:solidFill>
                    <a:latin typeface="Arial"/>
                    <a:ea typeface="Arial"/>
                    <a:cs typeface="Arial"/>
                  </a:defRPr>
                </a:pPr>
                <a:r>
                  <a:rPr lang="en-IN" sz="1400"/>
                  <a:t>Cumulative % drug release</a:t>
                </a:r>
              </a:p>
            </c:rich>
          </c:tx>
          <c:layout>
            <c:manualLayout>
              <c:xMode val="edge"/>
              <c:yMode val="edge"/>
              <c:x val="3.7461226437604384E-2"/>
              <c:y val="0.29488524779749492"/>
            </c:manualLayout>
          </c:layout>
          <c:overlay val="0"/>
          <c:spPr>
            <a:noFill/>
            <a:ln w="25400">
              <a:noFill/>
            </a:ln>
          </c:spPr>
        </c:title>
        <c:numFmt formatCode="General" sourceLinked="1"/>
        <c:majorTickMark val="out"/>
        <c:minorTickMark val="none"/>
        <c:tickLblPos val="nextTo"/>
        <c:spPr>
          <a:ln w="3175">
            <a:solidFill>
              <a:srgbClr val="000000"/>
            </a:solidFill>
            <a:prstDash val="solid"/>
          </a:ln>
        </c:spPr>
        <c:txPr>
          <a:bodyPr rot="0" vert="horz"/>
          <a:lstStyle/>
          <a:p>
            <a:pPr>
              <a:defRPr sz="1000" b="0" i="0" u="none" strike="noStrike" baseline="0">
                <a:solidFill>
                  <a:srgbClr val="000000"/>
                </a:solidFill>
                <a:latin typeface="Arial"/>
                <a:ea typeface="Arial"/>
                <a:cs typeface="Arial"/>
              </a:defRPr>
            </a:pPr>
            <a:endParaRPr lang="en-US"/>
          </a:p>
        </c:txPr>
        <c:crossAx val="905452303"/>
        <c:crosses val="autoZero"/>
        <c:crossBetween val="midCat"/>
      </c:valAx>
      <c:spPr>
        <a:noFill/>
        <a:ln w="25400">
          <a:solidFill>
            <a:schemeClr val="accent3"/>
          </a:solidFill>
        </a:ln>
      </c:spPr>
    </c:plotArea>
    <c:plotVisOnly val="1"/>
    <c:dispBlanksAs val="gap"/>
    <c:showDLblsOverMax val="0"/>
  </c:chart>
  <c:spPr>
    <a:noFill/>
    <a:ln w="9525">
      <a:noFill/>
    </a:ln>
  </c:spPr>
  <c:txPr>
    <a:bodyPr/>
    <a:lstStyle/>
    <a:p>
      <a:pPr>
        <a:defRPr sz="1000" b="0" i="0" u="none" strike="noStrike" baseline="0">
          <a:solidFill>
            <a:srgbClr val="000000"/>
          </a:solidFill>
          <a:latin typeface="Arial"/>
          <a:ea typeface="Arial"/>
          <a:cs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2400" b="1" i="0" u="none" strike="noStrike" baseline="0">
                <a:solidFill>
                  <a:srgbClr val="000000"/>
                </a:solidFill>
                <a:latin typeface="Arial"/>
                <a:ea typeface="Arial"/>
                <a:cs typeface="Arial"/>
              </a:defRPr>
            </a:pPr>
            <a:r>
              <a:rPr lang="en-IN" sz="2000" dirty="0" err="1">
                <a:latin typeface="Times New Roman" panose="02020603050405020304" pitchFamily="18" charset="0"/>
                <a:cs typeface="Times New Roman" panose="02020603050405020304" pitchFamily="18" charset="0"/>
              </a:rPr>
              <a:t>Peppas</a:t>
            </a:r>
            <a:endParaRPr lang="en-IN" sz="2000" dirty="0">
              <a:latin typeface="Times New Roman" panose="02020603050405020304" pitchFamily="18" charset="0"/>
              <a:cs typeface="Times New Roman" panose="02020603050405020304" pitchFamily="18" charset="0"/>
            </a:endParaRPr>
          </a:p>
        </c:rich>
      </c:tx>
      <c:layout>
        <c:manualLayout>
          <c:xMode val="edge"/>
          <c:yMode val="edge"/>
          <c:x val="0.46623371063342572"/>
          <c:y val="2.2317758349108093E-2"/>
        </c:manualLayout>
      </c:layout>
      <c:overlay val="0"/>
      <c:spPr>
        <a:noFill/>
        <a:ln w="25400">
          <a:noFill/>
        </a:ln>
      </c:spPr>
    </c:title>
    <c:autoTitleDeleted val="0"/>
    <c:plotArea>
      <c:layout>
        <c:manualLayout>
          <c:layoutTarget val="inner"/>
          <c:xMode val="edge"/>
          <c:yMode val="edge"/>
          <c:x val="0.18096312960648644"/>
          <c:y val="9.1053897862462527E-2"/>
          <c:w val="0.76026637069922309"/>
          <c:h val="0.77627118644067794"/>
        </c:manualLayout>
      </c:layout>
      <c:scatterChart>
        <c:scatterStyle val="lineMarker"/>
        <c:varyColors val="0"/>
        <c:ser>
          <c:idx val="0"/>
          <c:order val="0"/>
          <c:spPr>
            <a:ln w="12700">
              <a:solidFill>
                <a:srgbClr val="000080"/>
              </a:solidFill>
              <a:prstDash val="solid"/>
            </a:ln>
          </c:spPr>
          <c:marker>
            <c:symbol val="diamond"/>
            <c:size val="5"/>
            <c:spPr>
              <a:solidFill>
                <a:srgbClr val="000080"/>
              </a:solidFill>
              <a:ln>
                <a:solidFill>
                  <a:srgbClr val="000080"/>
                </a:solidFill>
                <a:prstDash val="solid"/>
              </a:ln>
            </c:spPr>
          </c:marker>
          <c:trendline>
            <c:spPr>
              <a:ln w="25400">
                <a:solidFill>
                  <a:srgbClr val="000000"/>
                </a:solidFill>
                <a:prstDash val="solid"/>
              </a:ln>
            </c:spPr>
            <c:trendlineType val="linear"/>
            <c:dispRSqr val="1"/>
            <c:dispEq val="1"/>
            <c:trendlineLbl>
              <c:layout>
                <c:manualLayout>
                  <c:x val="0.12986576294712934"/>
                  <c:y val="-8.168575079158702E-2"/>
                </c:manualLayout>
              </c:layout>
              <c:numFmt formatCode="General" sourceLinked="0"/>
              <c:spPr>
                <a:noFill/>
                <a:ln w="25400">
                  <a:noFill/>
                </a:ln>
              </c:spPr>
              <c:txPr>
                <a:bodyPr/>
                <a:lstStyle/>
                <a:p>
                  <a:pPr>
                    <a:defRPr sz="1400" b="0" i="0" u="none" strike="noStrike" baseline="0">
                      <a:solidFill>
                        <a:srgbClr val="000000"/>
                      </a:solidFill>
                      <a:latin typeface="Arial"/>
                      <a:ea typeface="Arial"/>
                      <a:cs typeface="Arial"/>
                    </a:defRPr>
                  </a:pPr>
                  <a:endParaRPr lang="en-US"/>
                </a:p>
              </c:txPr>
            </c:trendlineLbl>
          </c:trendline>
          <c:xVal>
            <c:numRef>
              <c:f>Sheet1!$F$3:$F$11</c:f>
              <c:numCache>
                <c:formatCode>0.000</c:formatCode>
                <c:ptCount val="9"/>
                <c:pt idx="0">
                  <c:v>0</c:v>
                </c:pt>
                <c:pt idx="1">
                  <c:v>0.3010299956639812</c:v>
                </c:pt>
                <c:pt idx="2">
                  <c:v>0.47712125471966244</c:v>
                </c:pt>
                <c:pt idx="3">
                  <c:v>0.6020599913279624</c:v>
                </c:pt>
                <c:pt idx="4">
                  <c:v>0.69897000433601886</c:v>
                </c:pt>
                <c:pt idx="5">
                  <c:v>0.77815125038364363</c:v>
                </c:pt>
                <c:pt idx="6">
                  <c:v>0.84509804001425681</c:v>
                </c:pt>
                <c:pt idx="7">
                  <c:v>0.90308998699194354</c:v>
                </c:pt>
                <c:pt idx="8">
                  <c:v>1</c:v>
                </c:pt>
              </c:numCache>
            </c:numRef>
          </c:xVal>
          <c:yVal>
            <c:numRef>
              <c:f>Sheet1!$E$3:$E$11</c:f>
              <c:numCache>
                <c:formatCode>0.000</c:formatCode>
                <c:ptCount val="9"/>
                <c:pt idx="0">
                  <c:v>1.2041199826559248</c:v>
                </c:pt>
                <c:pt idx="1">
                  <c:v>1.4623979978989561</c:v>
                </c:pt>
                <c:pt idx="2">
                  <c:v>1.568201724066995</c:v>
                </c:pt>
                <c:pt idx="3">
                  <c:v>1.7160033436347992</c:v>
                </c:pt>
                <c:pt idx="4">
                  <c:v>1.7634279935629373</c:v>
                </c:pt>
                <c:pt idx="5">
                  <c:v>1.7923916894982539</c:v>
                </c:pt>
                <c:pt idx="6">
                  <c:v>1.8976270912904414</c:v>
                </c:pt>
                <c:pt idx="7">
                  <c:v>1.9395192526186185</c:v>
                </c:pt>
                <c:pt idx="8">
                  <c:v>1.9637878273455553</c:v>
                </c:pt>
              </c:numCache>
            </c:numRef>
          </c:yVal>
          <c:smooth val="1"/>
          <c:extLst>
            <c:ext xmlns:c16="http://schemas.microsoft.com/office/drawing/2014/chart" uri="{C3380CC4-5D6E-409C-BE32-E72D297353CC}">
              <c16:uniqueId val="{00000001-CF75-47A3-BC21-A7C808FA76E9}"/>
            </c:ext>
          </c:extLst>
        </c:ser>
        <c:dLbls>
          <c:showLegendKey val="0"/>
          <c:showVal val="0"/>
          <c:showCatName val="0"/>
          <c:showSerName val="0"/>
          <c:showPercent val="0"/>
          <c:showBubbleSize val="0"/>
        </c:dLbls>
        <c:axId val="846036159"/>
        <c:axId val="1"/>
      </c:scatterChart>
      <c:valAx>
        <c:axId val="846036159"/>
        <c:scaling>
          <c:orientation val="minMax"/>
        </c:scaling>
        <c:delete val="0"/>
        <c:axPos val="b"/>
        <c:title>
          <c:tx>
            <c:rich>
              <a:bodyPr/>
              <a:lstStyle/>
              <a:p>
                <a:pPr>
                  <a:defRPr sz="1400" b="1" i="0" u="none" strike="noStrike" baseline="0">
                    <a:solidFill>
                      <a:srgbClr val="000000"/>
                    </a:solidFill>
                    <a:latin typeface="Arial"/>
                    <a:ea typeface="Arial"/>
                    <a:cs typeface="Arial"/>
                  </a:defRPr>
                </a:pPr>
                <a:r>
                  <a:rPr lang="en-IN" sz="1400" b="1" dirty="0">
                    <a:latin typeface="Times New Roman" panose="02020603050405020304" pitchFamily="18" charset="0"/>
                    <a:cs typeface="Times New Roman" panose="02020603050405020304" pitchFamily="18" charset="0"/>
                  </a:rPr>
                  <a:t>Log Time</a:t>
                </a:r>
              </a:p>
            </c:rich>
          </c:tx>
          <c:layout>
            <c:manualLayout>
              <c:xMode val="edge"/>
              <c:yMode val="edge"/>
              <c:x val="0.42260887599309926"/>
              <c:y val="0.94342460240697523"/>
            </c:manualLayout>
          </c:layout>
          <c:overlay val="0"/>
          <c:spPr>
            <a:noFill/>
            <a:ln w="25400">
              <a:noFill/>
            </a:ln>
          </c:spPr>
        </c:title>
        <c:numFmt formatCode="0.000" sourceLinked="1"/>
        <c:majorTickMark val="out"/>
        <c:minorTickMark val="none"/>
        <c:tickLblPos val="nextTo"/>
        <c:spPr>
          <a:ln w="3175">
            <a:solidFill>
              <a:srgbClr val="000000"/>
            </a:solidFill>
            <a:prstDash val="solid"/>
          </a:ln>
        </c:spPr>
        <c:txPr>
          <a:bodyPr rot="0" vert="horz"/>
          <a:lstStyle/>
          <a:p>
            <a:pPr>
              <a:defRPr sz="1000" b="0" i="0" u="none" strike="noStrike" baseline="0">
                <a:solidFill>
                  <a:srgbClr val="000000"/>
                </a:solidFill>
                <a:latin typeface="Arial"/>
                <a:ea typeface="Arial"/>
                <a:cs typeface="Arial"/>
              </a:defRPr>
            </a:pPr>
            <a:endParaRPr lang="en-US"/>
          </a:p>
        </c:txPr>
        <c:crossAx val="1"/>
        <c:crosses val="autoZero"/>
        <c:crossBetween val="midCat"/>
      </c:valAx>
      <c:valAx>
        <c:axId val="1"/>
        <c:scaling>
          <c:orientation val="minMax"/>
        </c:scaling>
        <c:delete val="0"/>
        <c:axPos val="l"/>
        <c:title>
          <c:tx>
            <c:rich>
              <a:bodyPr/>
              <a:lstStyle/>
              <a:p>
                <a:pPr>
                  <a:defRPr sz="1600" b="1" i="0" u="none" strike="noStrike" baseline="0">
                    <a:solidFill>
                      <a:srgbClr val="000000"/>
                    </a:solidFill>
                    <a:latin typeface="Arial"/>
                    <a:ea typeface="Arial"/>
                    <a:cs typeface="Arial"/>
                  </a:defRPr>
                </a:pPr>
                <a:r>
                  <a:rPr lang="en-IN" sz="1600" dirty="0">
                    <a:latin typeface="Times New Roman" panose="02020603050405020304" pitchFamily="18" charset="0"/>
                    <a:cs typeface="Times New Roman" panose="02020603050405020304" pitchFamily="18" charset="0"/>
                  </a:rPr>
                  <a:t>Log Cumulative % drug release</a:t>
                </a:r>
              </a:p>
            </c:rich>
          </c:tx>
          <c:layout>
            <c:manualLayout>
              <c:xMode val="edge"/>
              <c:yMode val="edge"/>
              <c:x val="2.0405528934742709E-2"/>
              <c:y val="0.1943784284194382"/>
            </c:manualLayout>
          </c:layout>
          <c:overlay val="0"/>
          <c:spPr>
            <a:noFill/>
            <a:ln w="25400">
              <a:noFill/>
            </a:ln>
          </c:spPr>
        </c:title>
        <c:numFmt formatCode="0.000" sourceLinked="1"/>
        <c:majorTickMark val="out"/>
        <c:minorTickMark val="none"/>
        <c:tickLblPos val="nextTo"/>
        <c:spPr>
          <a:ln w="3175">
            <a:solidFill>
              <a:srgbClr val="000000"/>
            </a:solidFill>
            <a:prstDash val="solid"/>
          </a:ln>
        </c:spPr>
        <c:txPr>
          <a:bodyPr rot="0" vert="horz"/>
          <a:lstStyle/>
          <a:p>
            <a:pPr>
              <a:defRPr sz="1000" b="0" i="0" u="none" strike="noStrike" baseline="0">
                <a:solidFill>
                  <a:srgbClr val="000000"/>
                </a:solidFill>
                <a:latin typeface="Arial"/>
                <a:ea typeface="Arial"/>
                <a:cs typeface="Arial"/>
              </a:defRPr>
            </a:pPr>
            <a:endParaRPr lang="en-US"/>
          </a:p>
        </c:txPr>
        <c:crossAx val="846036159"/>
        <c:crosses val="autoZero"/>
        <c:crossBetween val="midCat"/>
      </c:valAx>
      <c:spPr>
        <a:noFill/>
        <a:ln w="25400">
          <a:noFill/>
        </a:ln>
      </c:spPr>
    </c:plotArea>
    <c:plotVisOnly val="1"/>
    <c:dispBlanksAs val="gap"/>
    <c:showDLblsOverMax val="0"/>
  </c:chart>
  <c:spPr>
    <a:noFill/>
    <a:ln w="9525">
      <a:solidFill>
        <a:schemeClr val="accent3"/>
      </a:solidFill>
    </a:ln>
  </c:spPr>
  <c:txPr>
    <a:bodyPr/>
    <a:lstStyle/>
    <a:p>
      <a:pPr>
        <a:defRPr sz="1000" b="0" i="0" u="none" strike="noStrike" baseline="0">
          <a:solidFill>
            <a:srgbClr val="000000"/>
          </a:solidFill>
          <a:latin typeface="Arial"/>
          <a:ea typeface="Arial"/>
          <a:cs typeface="Arial"/>
        </a:defRPr>
      </a:pPr>
      <a:endParaRPr lang="en-US"/>
    </a:p>
  </c:txPr>
  <c:externalData r:id="rId2">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DBF1296-6E1F-466B-9110-0E924B32FBEF}" type="datetimeFigureOut">
              <a:rPr lang="en-US" smtClean="0"/>
              <a:pPr/>
              <a:t>8/9/2023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D7FDD86-EAC0-491C-912D-095B855FB85A}" type="slidenum">
              <a:rPr lang="en-US" smtClean="0"/>
              <a:pPr/>
              <a:t>‹#›</a:t>
            </a:fld>
            <a:endParaRPr lang="en-US"/>
          </a:p>
        </p:txBody>
      </p:sp>
    </p:spTree>
    <p:extLst>
      <p:ext uri="{BB962C8B-B14F-4D97-AF65-F5344CB8AC3E}">
        <p14:creationId xmlns:p14="http://schemas.microsoft.com/office/powerpoint/2010/main" val="3976612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D7FDD86-EAC0-491C-912D-095B855FB85A}" type="slidenum">
              <a:rPr lang="en-US" smtClean="0"/>
              <a:pPr/>
              <a:t>1</a:t>
            </a:fld>
            <a:endParaRPr lang="en-US"/>
          </a:p>
        </p:txBody>
      </p:sp>
    </p:spTree>
    <p:extLst>
      <p:ext uri="{BB962C8B-B14F-4D97-AF65-F5344CB8AC3E}">
        <p14:creationId xmlns:p14="http://schemas.microsoft.com/office/powerpoint/2010/main" val="2322843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D7FDD86-EAC0-491C-912D-095B855FB85A}" type="slidenum">
              <a:rPr lang="en-US" smtClean="0"/>
              <a:pPr/>
              <a:t>4</a:t>
            </a:fld>
            <a:endParaRPr lang="en-US"/>
          </a:p>
        </p:txBody>
      </p:sp>
    </p:spTree>
    <p:extLst>
      <p:ext uri="{BB962C8B-B14F-4D97-AF65-F5344CB8AC3E}">
        <p14:creationId xmlns:p14="http://schemas.microsoft.com/office/powerpoint/2010/main" val="34932200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D7FDD86-EAC0-491C-912D-095B855FB85A}" type="slidenum">
              <a:rPr lang="en-US" smtClean="0"/>
              <a:pPr/>
              <a:t>16</a:t>
            </a:fld>
            <a:endParaRPr lang="en-US"/>
          </a:p>
        </p:txBody>
      </p:sp>
    </p:spTree>
    <p:extLst>
      <p:ext uri="{BB962C8B-B14F-4D97-AF65-F5344CB8AC3E}">
        <p14:creationId xmlns:p14="http://schemas.microsoft.com/office/powerpoint/2010/main" val="32437293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D7FDD86-EAC0-491C-912D-095B855FB85A}" type="slidenum">
              <a:rPr lang="en-US" smtClean="0"/>
              <a:pPr/>
              <a:t>24</a:t>
            </a:fld>
            <a:endParaRPr lang="en-US"/>
          </a:p>
        </p:txBody>
      </p:sp>
    </p:spTree>
    <p:extLst>
      <p:ext uri="{BB962C8B-B14F-4D97-AF65-F5344CB8AC3E}">
        <p14:creationId xmlns:p14="http://schemas.microsoft.com/office/powerpoint/2010/main" val="226735487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9B01AF6-A637-400E-8F44-C1806EA19A59}" type="datetime1">
              <a:rPr lang="en-US" smtClean="0"/>
              <a:t>8/9/2023</a:t>
            </a:fld>
            <a:endParaRPr lang="en-US"/>
          </a:p>
        </p:txBody>
      </p:sp>
      <p:sp>
        <p:nvSpPr>
          <p:cNvPr id="5" name="Footer Placeholder 4"/>
          <p:cNvSpPr>
            <a:spLocks noGrp="1"/>
          </p:cNvSpPr>
          <p:nvPr>
            <p:ph type="ftr" sz="quarter" idx="11"/>
          </p:nvPr>
        </p:nvSpPr>
        <p:spPr>
          <a:xfrm>
            <a:off x="812805" y="6272785"/>
            <a:ext cx="4745736" cy="365125"/>
          </a:xfrm>
        </p:spPr>
        <p:txBody>
          <a:bodyPr/>
          <a:lstStyle/>
          <a:p>
            <a:endParaRPr lang="en-US"/>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6C412A46-B304-460B-BA6E-26B326EC1AA6}" type="slidenum">
              <a:rPr lang="en-US" smtClean="0"/>
              <a:pPr/>
              <a:t>‹#›</a:t>
            </a:fld>
            <a:endParaRPr lang="en-US"/>
          </a:p>
        </p:txBody>
      </p:sp>
    </p:spTree>
    <p:extLst>
      <p:ext uri="{BB962C8B-B14F-4D97-AF65-F5344CB8AC3E}">
        <p14:creationId xmlns:p14="http://schemas.microsoft.com/office/powerpoint/2010/main" val="29917992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339847-5F4B-48A5-A55D-548915EE561E}" type="datetime1">
              <a:rPr lang="en-US" smtClean="0"/>
              <a:t>8/9/2023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C412A46-B304-460B-BA6E-26B326EC1AA6}" type="slidenum">
              <a:rPr lang="en-US" smtClean="0"/>
              <a:pPr/>
              <a:t>‹#›</a:t>
            </a:fld>
            <a:endParaRPr lang="en-US"/>
          </a:p>
        </p:txBody>
      </p:sp>
    </p:spTree>
    <p:extLst>
      <p:ext uri="{BB962C8B-B14F-4D97-AF65-F5344CB8AC3E}">
        <p14:creationId xmlns:p14="http://schemas.microsoft.com/office/powerpoint/2010/main" val="724188058"/>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en-US"/>
              <a:t>Click to edit Master title style</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42DAB8BE-85AC-49EE-9868-94C8CD72E83D}" type="datetime1">
              <a:rPr lang="en-US" smtClean="0"/>
              <a:t>8/9/2023</a:t>
            </a:fld>
            <a:endParaRPr lang="en-US"/>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lang="en-US"/>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6C412A46-B304-460B-BA6E-26B326EC1AA6}" type="slidenum">
              <a:rPr lang="en-US" smtClean="0"/>
              <a:pPr/>
              <a:t>‹#›</a:t>
            </a:fld>
            <a:endParaRPr lang="en-US"/>
          </a:p>
        </p:txBody>
      </p:sp>
    </p:spTree>
    <p:extLst>
      <p:ext uri="{BB962C8B-B14F-4D97-AF65-F5344CB8AC3E}">
        <p14:creationId xmlns:p14="http://schemas.microsoft.com/office/powerpoint/2010/main" val="2357855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9339847-5F4B-48A5-A55D-548915EE561E}" type="datetime1">
              <a:rPr lang="en-US" smtClean="0"/>
              <a:t>8/9/2023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412A46-B304-460B-BA6E-26B326EC1AA6}" type="slidenum">
              <a:rPr lang="en-US" smtClean="0"/>
              <a:pPr/>
              <a:t>‹#›</a:t>
            </a:fld>
            <a:endParaRPr lang="en-US"/>
          </a:p>
        </p:txBody>
      </p:sp>
    </p:spTree>
    <p:extLst>
      <p:ext uri="{BB962C8B-B14F-4D97-AF65-F5344CB8AC3E}">
        <p14:creationId xmlns:p14="http://schemas.microsoft.com/office/powerpoint/2010/main" val="2871606729"/>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339847-5F4B-48A5-A55D-548915EE561E}" type="datetime1">
              <a:rPr lang="en-US" smtClean="0"/>
              <a:t>8/9/2023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C412A46-B304-460B-BA6E-26B326EC1AA6}" type="slidenum">
              <a:rPr lang="en-US" smtClean="0"/>
              <a:pPr/>
              <a:t>‹#›</a:t>
            </a:fld>
            <a:endParaRPr lang="en-US"/>
          </a:p>
        </p:txBody>
      </p:sp>
    </p:spTree>
    <p:extLst>
      <p:ext uri="{BB962C8B-B14F-4D97-AF65-F5344CB8AC3E}">
        <p14:creationId xmlns:p14="http://schemas.microsoft.com/office/powerpoint/2010/main" val="263696478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CD47C490-CEF9-4AC1-BEB2-50082B6A05A3}" type="datetime1">
              <a:rPr lang="en-US" smtClean="0"/>
              <a:t>8/9/2023</a:t>
            </a:fld>
            <a:endParaRPr lang="en-US"/>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lang="en-US"/>
          </a:p>
        </p:txBody>
      </p:sp>
      <p:sp>
        <p:nvSpPr>
          <p:cNvPr id="5" name="Slide Number Placeholder 4"/>
          <p:cNvSpPr>
            <a:spLocks noGrp="1"/>
          </p:cNvSpPr>
          <p:nvPr>
            <p:ph type="sldNum" sz="quarter" idx="12"/>
          </p:nvPr>
        </p:nvSpPr>
        <p:spPr/>
        <p:txBody>
          <a:bodyPr/>
          <a:lstStyle/>
          <a:p>
            <a:fld id="{6C412A46-B304-460B-BA6E-26B326EC1AA6}" type="slidenum">
              <a:rPr lang="en-US" smtClean="0"/>
              <a:pPr/>
              <a:t>‹#›</a:t>
            </a:fld>
            <a:endParaRPr lang="en-US"/>
          </a:p>
        </p:txBody>
      </p:sp>
    </p:spTree>
    <p:extLst>
      <p:ext uri="{BB962C8B-B14F-4D97-AF65-F5344CB8AC3E}">
        <p14:creationId xmlns:p14="http://schemas.microsoft.com/office/powerpoint/2010/main" val="500703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19AC99-D046-4AB4-89D6-878591450E1F}" type="datetime1">
              <a:rPr lang="en-US" smtClean="0"/>
              <a:t>8/9/2023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C412A46-B304-460B-BA6E-26B326EC1AA6}" type="slidenum">
              <a:rPr lang="en-US" smtClean="0"/>
              <a:pPr/>
              <a:t>‹#›</a:t>
            </a:fld>
            <a:endParaRPr lang="en-US"/>
          </a:p>
        </p:txBody>
      </p:sp>
    </p:spTree>
    <p:extLst>
      <p:ext uri="{BB962C8B-B14F-4D97-AF65-F5344CB8AC3E}">
        <p14:creationId xmlns:p14="http://schemas.microsoft.com/office/powerpoint/2010/main" val="32227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9" name="Date Placeholder 8"/>
          <p:cNvSpPr>
            <a:spLocks noGrp="1"/>
          </p:cNvSpPr>
          <p:nvPr>
            <p:ph type="dt" sz="half" idx="10"/>
          </p:nvPr>
        </p:nvSpPr>
        <p:spPr/>
        <p:txBody>
          <a:bodyPr/>
          <a:lstStyle/>
          <a:p>
            <a:fld id="{99339847-5F4B-48A5-A55D-548915EE561E}" type="datetime1">
              <a:rPr lang="en-US" smtClean="0"/>
              <a:t>8/9/2023</a:t>
            </a:fld>
            <a:endParaRPr lang="en-US"/>
          </a:p>
        </p:txBody>
      </p:sp>
      <p:sp>
        <p:nvSpPr>
          <p:cNvPr id="10" name="Footer Placeholder 9"/>
          <p:cNvSpPr>
            <a:spLocks noGrp="1"/>
          </p:cNvSpPr>
          <p:nvPr>
            <p:ph type="ftr" sz="quarter" idx="11"/>
          </p:nvPr>
        </p:nvSpPr>
        <p:spPr/>
        <p:txBody>
          <a:bodyPr/>
          <a:lstStyle/>
          <a:p>
            <a:endParaRPr lang="en-US"/>
          </a:p>
        </p:txBody>
      </p:sp>
      <p:sp>
        <p:nvSpPr>
          <p:cNvPr id="11" name="Slide Number Placeholder 10"/>
          <p:cNvSpPr>
            <a:spLocks noGrp="1"/>
          </p:cNvSpPr>
          <p:nvPr>
            <p:ph type="sldNum" sz="quarter" idx="12"/>
          </p:nvPr>
        </p:nvSpPr>
        <p:spPr/>
        <p:txBody>
          <a:bodyPr/>
          <a:lstStyle/>
          <a:p>
            <a:fld id="{6C412A46-B304-460B-BA6E-26B326EC1AA6}" type="slidenum">
              <a:rPr lang="en-US" smtClean="0"/>
              <a:pPr/>
              <a:t>‹#›</a:t>
            </a:fld>
            <a:endParaRPr lang="en-US"/>
          </a:p>
        </p:txBody>
      </p:sp>
    </p:spTree>
    <p:extLst>
      <p:ext uri="{BB962C8B-B14F-4D97-AF65-F5344CB8AC3E}">
        <p14:creationId xmlns:p14="http://schemas.microsoft.com/office/powerpoint/2010/main" val="55312224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6227805"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8" name="Date Placeholder 7"/>
          <p:cNvSpPr>
            <a:spLocks noGrp="1"/>
          </p:cNvSpPr>
          <p:nvPr>
            <p:ph type="dt" sz="half" idx="10"/>
          </p:nvPr>
        </p:nvSpPr>
        <p:spPr/>
        <p:txBody>
          <a:bodyPr/>
          <a:lstStyle/>
          <a:p>
            <a:fld id="{99339847-5F4B-48A5-A55D-548915EE561E}" type="datetime1">
              <a:rPr lang="en-US" smtClean="0"/>
              <a:t>8/9/2023</a:t>
            </a:fld>
            <a:endParaRPr lang="en-US"/>
          </a:p>
        </p:txBody>
      </p:sp>
      <p:sp>
        <p:nvSpPr>
          <p:cNvPr id="10" name="Slide Number Placeholder 9"/>
          <p:cNvSpPr>
            <a:spLocks noGrp="1"/>
          </p:cNvSpPr>
          <p:nvPr>
            <p:ph type="sldNum" sz="quarter" idx="12"/>
          </p:nvPr>
        </p:nvSpPr>
        <p:spPr/>
        <p:txBody>
          <a:bodyPr/>
          <a:lstStyle/>
          <a:p>
            <a:fld id="{6C412A46-B304-460B-BA6E-26B326EC1AA6}" type="slidenum">
              <a:rPr lang="en-US" smtClean="0"/>
              <a:pPr/>
              <a:t>‹#›</a:t>
            </a:fld>
            <a:endParaRPr lang="en-US"/>
          </a:p>
        </p:txBody>
      </p:sp>
    </p:spTree>
    <p:extLst>
      <p:ext uri="{BB962C8B-B14F-4D97-AF65-F5344CB8AC3E}">
        <p14:creationId xmlns:p14="http://schemas.microsoft.com/office/powerpoint/2010/main" val="729961778"/>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339847-5F4B-48A5-A55D-548915EE561E}" type="datetime1">
              <a:rPr lang="en-US" smtClean="0"/>
              <a:t>8/9/2023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C412A46-B304-460B-BA6E-26B326EC1AA6}" type="slidenum">
              <a:rPr lang="en-US" smtClean="0"/>
              <a:pPr/>
              <a:t>‹#›</a:t>
            </a:fld>
            <a:endParaRPr lang="en-US"/>
          </a:p>
        </p:txBody>
      </p:sp>
    </p:spTree>
    <p:extLst>
      <p:ext uri="{BB962C8B-B14F-4D97-AF65-F5344CB8AC3E}">
        <p14:creationId xmlns:p14="http://schemas.microsoft.com/office/powerpoint/2010/main" val="151850548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339847-5F4B-48A5-A55D-548915EE561E}" type="datetime1">
              <a:rPr lang="en-US" smtClean="0"/>
              <a:t>8/9/2023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C412A46-B304-460B-BA6E-26B326EC1AA6}" type="slidenum">
              <a:rPr lang="en-US" smtClean="0"/>
              <a:pPr/>
              <a:t>‹#›</a:t>
            </a:fld>
            <a:endParaRPr lang="en-US"/>
          </a:p>
        </p:txBody>
      </p:sp>
    </p:spTree>
    <p:extLst>
      <p:ext uri="{BB962C8B-B14F-4D97-AF65-F5344CB8AC3E}">
        <p14:creationId xmlns:p14="http://schemas.microsoft.com/office/powerpoint/2010/main" val="1863399"/>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99339847-5F4B-48A5-A55D-548915EE561E}" type="datetime1">
              <a:rPr lang="en-US" smtClean="0"/>
              <a:t>8/9/2023</a:t>
            </a:fld>
            <a:endParaRPr lang="en-US"/>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en-US"/>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6C412A46-B304-460B-BA6E-26B326EC1AA6}" type="slidenum">
              <a:rPr lang="en-US" smtClean="0"/>
              <a:pPr/>
              <a:t>‹#›</a:t>
            </a:fld>
            <a:endParaRPr lang="en-US"/>
          </a:p>
        </p:txBody>
      </p:sp>
    </p:spTree>
    <p:extLst>
      <p:ext uri="{BB962C8B-B14F-4D97-AF65-F5344CB8AC3E}">
        <p14:creationId xmlns:p14="http://schemas.microsoft.com/office/powerpoint/2010/main" val="2153348975"/>
      </p:ext>
    </p:extLst>
  </p:cSld>
  <p:clrMap bg1="lt1" tx1="dk1" bg2="lt2" tx2="dk2" accent1="accent1" accent2="accent2" accent3="accent3" accent4="accent4" accent5="accent5" accent6="accent6" hlink="hlink" folHlink="folHlink"/>
  <p:sldLayoutIdLst>
    <p:sldLayoutId id="2147483978" r:id="rId1"/>
    <p:sldLayoutId id="2147483979" r:id="rId2"/>
    <p:sldLayoutId id="2147483980" r:id="rId3"/>
    <p:sldLayoutId id="2147483981" r:id="rId4"/>
    <p:sldLayoutId id="2147483982" r:id="rId5"/>
    <p:sldLayoutId id="2147483983" r:id="rId6"/>
    <p:sldLayoutId id="2147483984" r:id="rId7"/>
    <p:sldLayoutId id="2147483985" r:id="rId8"/>
    <p:sldLayoutId id="2147483986" r:id="rId9"/>
    <p:sldLayoutId id="2147483987" r:id="rId10"/>
    <p:sldLayoutId id="2147483988" r:id="rId11"/>
  </p:sldLayoutIdLst>
  <p:hf hdr="0" ftr="0" dt="0"/>
  <p:txStyles>
    <p:titleStyle>
      <a:lvl1pPr algn="l" defTabSz="914400" rtl="0" eaLnBrk="1" latinLnBrk="0" hangingPunct="1">
        <a:lnSpc>
          <a:spcPct val="90000"/>
        </a:lnSpc>
        <a:spcBef>
          <a:spcPct val="0"/>
        </a:spcBef>
        <a:buNone/>
        <a:defRPr sz="4200" b="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Box 2"/>
          <p:cNvSpPr txBox="1">
            <a:spLocks noChangeArrowheads="1"/>
          </p:cNvSpPr>
          <p:nvPr/>
        </p:nvSpPr>
        <p:spPr bwMode="auto">
          <a:xfrm>
            <a:off x="280987" y="152400"/>
            <a:ext cx="7567613" cy="1292662"/>
          </a:xfrm>
          <a:prstGeom prst="rect">
            <a:avLst/>
          </a:prstGeom>
          <a:noFill/>
          <a:ln w="9525">
            <a:noFill/>
            <a:miter lim="800000"/>
            <a:headEnd/>
            <a:tailEnd/>
          </a:ln>
        </p:spPr>
        <p:txBody>
          <a:bodyPr>
            <a:spAutoFit/>
          </a:bodyPr>
          <a:lstStyle/>
          <a:p>
            <a:pPr algn="ctr"/>
            <a:r>
              <a:rPr lang="en-US" sz="2000" b="1" kern="0" dirty="0">
                <a:effectLst/>
                <a:latin typeface="Times New Roman" panose="02020603050405020304" pitchFamily="18" charset="0"/>
                <a:ea typeface="Times New Roman" panose="02020603050405020304" pitchFamily="18" charset="0"/>
              </a:rPr>
              <a:t>Formulation And </a:t>
            </a:r>
            <a:r>
              <a:rPr lang="en-US" sz="2000" b="1" i="1" kern="0" dirty="0">
                <a:effectLst/>
                <a:latin typeface="Times New Roman" panose="02020603050405020304" pitchFamily="18" charset="0"/>
                <a:ea typeface="Times New Roman" panose="02020603050405020304" pitchFamily="18" charset="0"/>
              </a:rPr>
              <a:t>In-Vitro</a:t>
            </a:r>
            <a:r>
              <a:rPr lang="en-US" sz="2000" b="1" kern="0" dirty="0">
                <a:effectLst/>
                <a:latin typeface="Times New Roman" panose="02020603050405020304" pitchFamily="18" charset="0"/>
                <a:ea typeface="Times New Roman" panose="02020603050405020304" pitchFamily="18" charset="0"/>
              </a:rPr>
              <a:t> Evaluation Of Fesoterodine Fumarate Loaded Microbeads By Ion Gelation Method</a:t>
            </a:r>
          </a:p>
          <a:p>
            <a:pPr algn="ctr"/>
            <a:endParaRPr lang="en-US" sz="2000" b="1" kern="0" dirty="0">
              <a:effectLst/>
              <a:latin typeface="Times New Roman" panose="02020603050405020304" pitchFamily="18" charset="0"/>
              <a:ea typeface="Times New Roman" panose="02020603050405020304" pitchFamily="18" charset="0"/>
            </a:endParaRPr>
          </a:p>
          <a:p>
            <a:pPr algn="ctr"/>
            <a:endParaRPr lang="en-IN" dirty="0">
              <a:latin typeface="Calibri" pitchFamily="34" charset="0"/>
            </a:endParaRPr>
          </a:p>
        </p:txBody>
      </p:sp>
      <p:sp>
        <p:nvSpPr>
          <p:cNvPr id="2051" name="TextBox 4"/>
          <p:cNvSpPr txBox="1">
            <a:spLocks noChangeArrowheads="1"/>
          </p:cNvSpPr>
          <p:nvPr/>
        </p:nvSpPr>
        <p:spPr bwMode="auto">
          <a:xfrm>
            <a:off x="1295400" y="798731"/>
            <a:ext cx="6553200" cy="5847755"/>
          </a:xfrm>
          <a:prstGeom prst="rect">
            <a:avLst/>
          </a:prstGeom>
          <a:noFill/>
          <a:ln w="9525">
            <a:noFill/>
            <a:miter lim="800000"/>
            <a:headEnd/>
            <a:tailEnd/>
          </a:ln>
        </p:spPr>
        <p:txBody>
          <a:bodyPr wrap="square">
            <a:spAutoFit/>
          </a:bodyPr>
          <a:lstStyle/>
          <a:p>
            <a:pPr algn="ctr"/>
            <a:endParaRPr lang="en-IN" sz="1600" dirty="0">
              <a:latin typeface="Times New Roman" pitchFamily="18" charset="0"/>
              <a:cs typeface="Times New Roman" pitchFamily="18" charset="0"/>
            </a:endParaRPr>
          </a:p>
          <a:p>
            <a:pPr algn="ctr"/>
            <a:r>
              <a:rPr lang="en-IN" sz="1600" dirty="0">
                <a:latin typeface="Times New Roman" pitchFamily="18" charset="0"/>
                <a:cs typeface="Times New Roman" pitchFamily="18" charset="0"/>
              </a:rPr>
              <a:t>Submitted to</a:t>
            </a:r>
            <a:r>
              <a:rPr lang="en-IN" sz="1600" b="1" dirty="0">
                <a:latin typeface="Times New Roman" pitchFamily="18" charset="0"/>
                <a:cs typeface="Times New Roman" pitchFamily="18" charset="0"/>
              </a:rPr>
              <a:t> </a:t>
            </a:r>
          </a:p>
          <a:p>
            <a:pPr algn="ctr"/>
            <a:r>
              <a:rPr lang="en-IN" b="1" dirty="0">
                <a:latin typeface="Times New Roman" pitchFamily="18" charset="0"/>
                <a:cs typeface="Times New Roman" pitchFamily="18" charset="0"/>
              </a:rPr>
              <a:t>Faculty of Pharmacy </a:t>
            </a:r>
          </a:p>
          <a:p>
            <a:pPr algn="ctr"/>
            <a:r>
              <a:rPr lang="en-IN" b="1" dirty="0">
                <a:latin typeface="Times New Roman" pitchFamily="18" charset="0"/>
                <a:cs typeface="Times New Roman" pitchFamily="18" charset="0"/>
              </a:rPr>
              <a:t>Osmania University</a:t>
            </a:r>
          </a:p>
          <a:p>
            <a:pPr algn="ctr"/>
            <a:r>
              <a:rPr lang="en-IN" b="1" dirty="0">
                <a:latin typeface="Times New Roman" pitchFamily="18" charset="0"/>
                <a:cs typeface="Times New Roman" pitchFamily="18" charset="0"/>
              </a:rPr>
              <a:t> Hyderabad.</a:t>
            </a:r>
          </a:p>
          <a:p>
            <a:pPr algn="ctr"/>
            <a:endParaRPr lang="en-IN" dirty="0">
              <a:latin typeface="Times New Roman" pitchFamily="18" charset="0"/>
              <a:cs typeface="Times New Roman" pitchFamily="18" charset="0"/>
            </a:endParaRPr>
          </a:p>
          <a:p>
            <a:pPr algn="ctr"/>
            <a:r>
              <a:rPr lang="en-IN" dirty="0">
                <a:latin typeface="Times New Roman" pitchFamily="18" charset="0"/>
                <a:cs typeface="Times New Roman" pitchFamily="18" charset="0"/>
              </a:rPr>
              <a:t>Presented by</a:t>
            </a:r>
          </a:p>
          <a:p>
            <a:pPr algn="ctr"/>
            <a:r>
              <a:rPr lang="en-IN" b="1" dirty="0">
                <a:latin typeface="Times New Roman" pitchFamily="18" charset="0"/>
                <a:cs typeface="Times New Roman" pitchFamily="18" charset="0"/>
              </a:rPr>
              <a:t>G. Sathvika        (1704-19-881-021)</a:t>
            </a:r>
          </a:p>
          <a:p>
            <a:pPr algn="ctr"/>
            <a:r>
              <a:rPr lang="en-IN" b="1" dirty="0">
                <a:latin typeface="Times New Roman" pitchFamily="18" charset="0"/>
                <a:cs typeface="Times New Roman" pitchFamily="18" charset="0"/>
              </a:rPr>
              <a:t>P. Divya Jyothi   (1704-19-881-059)</a:t>
            </a:r>
          </a:p>
          <a:p>
            <a:pPr algn="ctr"/>
            <a:r>
              <a:rPr lang="en-IN" b="1" dirty="0">
                <a:latin typeface="Times New Roman" pitchFamily="18" charset="0"/>
                <a:cs typeface="Times New Roman" pitchFamily="18" charset="0"/>
              </a:rPr>
              <a:t>S. Cherishma      (1704-19-881-066)</a:t>
            </a:r>
          </a:p>
          <a:p>
            <a:pPr algn="ctr"/>
            <a:r>
              <a:rPr lang="en-IN" b="1" dirty="0">
                <a:latin typeface="Times New Roman" pitchFamily="18" charset="0"/>
                <a:cs typeface="Times New Roman" pitchFamily="18" charset="0"/>
              </a:rPr>
              <a:t>S. Saisnehanjali   (1704-19-881-067)</a:t>
            </a:r>
            <a:br>
              <a:rPr lang="en-IN" b="1" dirty="0">
                <a:latin typeface="Times New Roman" pitchFamily="18" charset="0"/>
                <a:cs typeface="Times New Roman" pitchFamily="18" charset="0"/>
              </a:rPr>
            </a:br>
            <a:endParaRPr lang="en-IN" b="1" dirty="0">
              <a:latin typeface="Times New Roman" pitchFamily="18" charset="0"/>
              <a:cs typeface="Times New Roman" pitchFamily="18" charset="0"/>
            </a:endParaRPr>
          </a:p>
          <a:p>
            <a:pPr algn="ctr"/>
            <a:r>
              <a:rPr lang="en-IN" dirty="0">
                <a:latin typeface="Times New Roman" pitchFamily="18" charset="0"/>
                <a:cs typeface="Times New Roman" pitchFamily="18" charset="0"/>
              </a:rPr>
              <a:t>under the guidance of </a:t>
            </a:r>
          </a:p>
          <a:p>
            <a:pPr algn="ctr"/>
            <a:r>
              <a:rPr lang="en-IN" dirty="0">
                <a:latin typeface="Times New Roman" pitchFamily="18" charset="0"/>
                <a:cs typeface="Times New Roman" pitchFamily="18" charset="0"/>
              </a:rPr>
              <a:t> </a:t>
            </a:r>
            <a:r>
              <a:rPr lang="en-IN" b="1" dirty="0">
                <a:latin typeface="Times New Roman" pitchFamily="18" charset="0"/>
                <a:cs typeface="Times New Roman" pitchFamily="18" charset="0"/>
              </a:rPr>
              <a:t>Smt. G. Sri Lalitha,</a:t>
            </a:r>
            <a:r>
              <a:rPr lang="en-US" sz="1800" b="1" dirty="0">
                <a:effectLst/>
                <a:latin typeface="Times New Roman" panose="02020603050405020304" pitchFamily="18" charset="0"/>
                <a:ea typeface="Times New Roman" panose="02020603050405020304" pitchFamily="18" charset="0"/>
              </a:rPr>
              <a:t>M. Pharm, (Ph.D)</a:t>
            </a:r>
            <a:endParaRPr lang="en-IN" sz="1800" dirty="0">
              <a:effectLst/>
              <a:latin typeface="Times New Roman" panose="02020603050405020304" pitchFamily="18" charset="0"/>
              <a:ea typeface="Times New Roman" panose="02020603050405020304" pitchFamily="18" charset="0"/>
            </a:endParaRPr>
          </a:p>
          <a:p>
            <a:r>
              <a:rPr lang="en-US" sz="1800" b="1" kern="0" dirty="0">
                <a:effectLst/>
                <a:latin typeface="Times New Roman" panose="02020603050405020304" pitchFamily="18" charset="0"/>
                <a:ea typeface="Times New Roman" panose="02020603050405020304" pitchFamily="18" charset="0"/>
              </a:rPr>
              <a:t>                                       Assistant</a:t>
            </a:r>
            <a:r>
              <a:rPr lang="en-US" sz="1800" b="1" kern="0" spc="-75" dirty="0">
                <a:effectLst/>
                <a:latin typeface="Times New Roman" panose="02020603050405020304" pitchFamily="18" charset="0"/>
                <a:ea typeface="Times New Roman" panose="02020603050405020304" pitchFamily="18" charset="0"/>
              </a:rPr>
              <a:t> </a:t>
            </a:r>
            <a:r>
              <a:rPr lang="en-US" sz="1800" b="1" kern="0" dirty="0">
                <a:effectLst/>
                <a:latin typeface="Times New Roman" panose="02020603050405020304" pitchFamily="18" charset="0"/>
                <a:ea typeface="Times New Roman" panose="02020603050405020304" pitchFamily="18" charset="0"/>
              </a:rPr>
              <a:t>Professor,</a:t>
            </a:r>
            <a:endParaRPr lang="en-US" b="1" dirty="0">
              <a:latin typeface="Times New Roman" pitchFamily="18" charset="0"/>
              <a:cs typeface="Times New Roman" pitchFamily="18" charset="0"/>
            </a:endParaRPr>
          </a:p>
          <a:p>
            <a:pPr algn="ctr"/>
            <a:r>
              <a:rPr lang="en-IN" b="1" dirty="0">
                <a:latin typeface="Times New Roman" pitchFamily="18" charset="0"/>
                <a:cs typeface="Times New Roman" pitchFamily="18" charset="0"/>
              </a:rPr>
              <a:t>Department of Pharmaceutics</a:t>
            </a:r>
          </a:p>
          <a:p>
            <a:pPr algn="ctr"/>
            <a:endParaRPr lang="en-IN" dirty="0">
              <a:latin typeface="Times New Roman" pitchFamily="18" charset="0"/>
              <a:cs typeface="Times New Roman" pitchFamily="18" charset="0"/>
            </a:endParaRPr>
          </a:p>
          <a:p>
            <a:pPr algn="ctr"/>
            <a:r>
              <a:rPr lang="en-IN" b="1" dirty="0">
                <a:latin typeface="Times New Roman" pitchFamily="18" charset="0"/>
                <a:cs typeface="Times New Roman" pitchFamily="18" charset="0"/>
              </a:rPr>
              <a:t>SAROJINI NAIDU VANITA PHARMACY </a:t>
            </a:r>
          </a:p>
          <a:p>
            <a:pPr algn="ctr"/>
            <a:r>
              <a:rPr lang="en-IN" b="1" dirty="0">
                <a:latin typeface="Times New Roman" pitchFamily="18" charset="0"/>
                <a:cs typeface="Times New Roman" pitchFamily="18" charset="0"/>
              </a:rPr>
              <a:t>MAHA VIDYALAYA </a:t>
            </a:r>
          </a:p>
          <a:p>
            <a:pPr algn="ctr"/>
            <a:r>
              <a:rPr lang="en-IN" b="1" dirty="0">
                <a:latin typeface="Times New Roman" pitchFamily="18" charset="0"/>
                <a:cs typeface="Times New Roman" pitchFamily="18" charset="0"/>
              </a:rPr>
              <a:t>Tarnaka , Secunderabad -2023</a:t>
            </a:r>
            <a:br>
              <a:rPr lang="en-IN" b="1" dirty="0">
                <a:latin typeface="Times New Roman" pitchFamily="18" charset="0"/>
                <a:cs typeface="Times New Roman" pitchFamily="18" charset="0"/>
              </a:rPr>
            </a:br>
            <a:endParaRPr lang="en-IN" b="1" dirty="0">
              <a:latin typeface="Calibri" pitchFamily="34" charset="0"/>
            </a:endParaRPr>
          </a:p>
        </p:txBody>
      </p:sp>
      <p:pic>
        <p:nvPicPr>
          <p:cNvPr id="2053" name="Picture 8"/>
          <p:cNvPicPr>
            <a:picLocks noChangeAspect="1"/>
          </p:cNvPicPr>
          <p:nvPr/>
        </p:nvPicPr>
        <p:blipFill>
          <a:blip r:embed="rId3"/>
          <a:srcRect/>
          <a:stretch>
            <a:fillRect/>
          </a:stretch>
        </p:blipFill>
        <p:spPr bwMode="auto">
          <a:xfrm>
            <a:off x="6826415" y="1472791"/>
            <a:ext cx="1542896" cy="1830595"/>
          </a:xfrm>
          <a:prstGeom prst="rect">
            <a:avLst/>
          </a:prstGeom>
          <a:noFill/>
          <a:ln w="9525">
            <a:noFill/>
            <a:miter lim="800000"/>
            <a:headEnd/>
            <a:tailEnd/>
          </a:ln>
        </p:spPr>
      </p:pic>
      <p:sp>
        <p:nvSpPr>
          <p:cNvPr id="4" name="Slide Number Placeholder 3">
            <a:extLst>
              <a:ext uri="{FF2B5EF4-FFF2-40B4-BE49-F238E27FC236}">
                <a16:creationId xmlns:a16="http://schemas.microsoft.com/office/drawing/2014/main" id="{E29E39F7-B7EE-1B0F-D556-BD162C7D69B2}"/>
              </a:ext>
            </a:extLst>
          </p:cNvPr>
          <p:cNvSpPr>
            <a:spLocks noGrp="1"/>
          </p:cNvSpPr>
          <p:nvPr>
            <p:ph type="sldNum" sz="quarter" idx="12"/>
          </p:nvPr>
        </p:nvSpPr>
        <p:spPr/>
        <p:txBody>
          <a:bodyPr/>
          <a:lstStyle/>
          <a:p>
            <a:fld id="{6C412A46-B304-460B-BA6E-26B326EC1AA6}" type="slidenum">
              <a:rPr lang="en-US" smtClean="0"/>
              <a:pPr/>
              <a:t>1</a:t>
            </a:fld>
            <a:endParaRPr lang="en-US"/>
          </a:p>
        </p:txBody>
      </p:sp>
      <p:pic>
        <p:nvPicPr>
          <p:cNvPr id="2" name="Picture 2">
            <a:extLst>
              <a:ext uri="{FF2B5EF4-FFF2-40B4-BE49-F238E27FC236}">
                <a16:creationId xmlns:a16="http://schemas.microsoft.com/office/drawing/2014/main" id="{9321EC95-FF3E-067E-17C6-1814AD1322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951" y="1642111"/>
            <a:ext cx="1820770" cy="1491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CONTENTS</a:t>
            </a:r>
            <a:br>
              <a:rPr lang="en-US" sz="4000" b="1" dirty="0">
                <a:latin typeface="Times New Roman" panose="02020603050405020304" pitchFamily="18" charset="0"/>
                <a:cs typeface="Times New Roman" panose="02020603050405020304" pitchFamily="18" charset="0"/>
              </a:rPr>
            </a:b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56573" y="1447800"/>
            <a:ext cx="6711654" cy="4195481"/>
          </a:xfrm>
        </p:spPr>
        <p:txBody>
          <a:bodyPr>
            <a:normAutofit fontScale="70000" lnSpcReduction="20000"/>
          </a:bodyPr>
          <a:lstStyle/>
          <a:p>
            <a:r>
              <a:rPr lang="en-US" sz="3000" b="1" dirty="0">
                <a:latin typeface="Times New Roman" panose="02020603050405020304" pitchFamily="18" charset="0"/>
                <a:cs typeface="Times New Roman" panose="02020603050405020304" pitchFamily="18" charset="0"/>
              </a:rPr>
              <a:t>Abstract</a:t>
            </a:r>
          </a:p>
          <a:p>
            <a:r>
              <a:rPr lang="en-US" sz="3000" b="1" dirty="0">
                <a:latin typeface="Times New Roman" panose="02020603050405020304" pitchFamily="18" charset="0"/>
                <a:cs typeface="Times New Roman" panose="02020603050405020304" pitchFamily="18" charset="0"/>
              </a:rPr>
              <a:t>Aim &amp; Objectives</a:t>
            </a:r>
          </a:p>
          <a:p>
            <a:r>
              <a:rPr lang="en-US" sz="3000" b="1" dirty="0">
                <a:latin typeface="Times New Roman" panose="02020603050405020304" pitchFamily="18" charset="0"/>
                <a:cs typeface="Times New Roman" panose="02020603050405020304" pitchFamily="18" charset="0"/>
              </a:rPr>
              <a:t>Introduction</a:t>
            </a:r>
          </a:p>
          <a:p>
            <a:r>
              <a:rPr lang="en-US" sz="3000" b="1" dirty="0">
                <a:latin typeface="Times New Roman" panose="02020603050405020304" pitchFamily="18" charset="0"/>
                <a:cs typeface="Times New Roman" panose="02020603050405020304" pitchFamily="18" charset="0"/>
              </a:rPr>
              <a:t>Literature review</a:t>
            </a:r>
          </a:p>
          <a:p>
            <a:r>
              <a:rPr lang="en-US" sz="3000" b="1" dirty="0">
                <a:latin typeface="Times New Roman" panose="02020603050405020304" pitchFamily="18" charset="0"/>
                <a:cs typeface="Times New Roman" panose="02020603050405020304" pitchFamily="18" charset="0"/>
              </a:rPr>
              <a:t>Plan of work</a:t>
            </a:r>
          </a:p>
          <a:p>
            <a:r>
              <a:rPr lang="en-US" sz="3000" b="1" dirty="0">
                <a:latin typeface="Times New Roman" panose="02020603050405020304" pitchFamily="18" charset="0"/>
                <a:cs typeface="Times New Roman" panose="02020603050405020304" pitchFamily="18" charset="0"/>
              </a:rPr>
              <a:t>Need of work</a:t>
            </a:r>
          </a:p>
          <a:p>
            <a:r>
              <a:rPr lang="en-US" sz="3000" b="1" dirty="0">
                <a:latin typeface="Times New Roman" panose="02020603050405020304" pitchFamily="18" charset="0"/>
                <a:cs typeface="Times New Roman" panose="02020603050405020304" pitchFamily="18" charset="0"/>
              </a:rPr>
              <a:t>Materials &amp; Methods</a:t>
            </a:r>
          </a:p>
          <a:p>
            <a:r>
              <a:rPr lang="en-US" sz="3000" b="1" dirty="0">
                <a:latin typeface="Times New Roman" panose="02020603050405020304" pitchFamily="18" charset="0"/>
                <a:cs typeface="Times New Roman" panose="02020603050405020304" pitchFamily="18" charset="0"/>
              </a:rPr>
              <a:t>Evaluation tests</a:t>
            </a:r>
          </a:p>
          <a:p>
            <a:r>
              <a:rPr lang="en-US" sz="3000" b="1" dirty="0">
                <a:latin typeface="Times New Roman" panose="02020603050405020304" pitchFamily="18" charset="0"/>
                <a:cs typeface="Times New Roman" panose="02020603050405020304" pitchFamily="18" charset="0"/>
              </a:rPr>
              <a:t>Results and Discussion</a:t>
            </a:r>
          </a:p>
          <a:p>
            <a:r>
              <a:rPr lang="en-US" sz="3000" b="1" dirty="0">
                <a:latin typeface="Times New Roman" panose="02020603050405020304" pitchFamily="18" charset="0"/>
                <a:cs typeface="Times New Roman" panose="02020603050405020304" pitchFamily="18" charset="0"/>
              </a:rPr>
              <a:t>Conclusion</a:t>
            </a:r>
          </a:p>
          <a:p>
            <a:r>
              <a:rPr lang="en-US" sz="3000" b="1" dirty="0">
                <a:latin typeface="Times New Roman" panose="02020603050405020304" pitchFamily="18" charset="0"/>
                <a:cs typeface="Times New Roman" panose="02020603050405020304" pitchFamily="18" charset="0"/>
              </a:rPr>
              <a:t>References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A42DB799-386A-B1A1-B3FB-E617AA6BC43A}"/>
              </a:ext>
            </a:extLst>
          </p:cNvPr>
          <p:cNvSpPr>
            <a:spLocks noGrp="1"/>
          </p:cNvSpPr>
          <p:nvPr>
            <p:ph type="sldNum" sz="quarter" idx="12"/>
          </p:nvPr>
        </p:nvSpPr>
        <p:spPr/>
        <p:txBody>
          <a:bodyPr/>
          <a:lstStyle/>
          <a:p>
            <a:fld id="{6C412A46-B304-460B-BA6E-26B326EC1AA6}"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9E737-5CBD-6106-3F88-265EDED5DB0A}"/>
              </a:ext>
            </a:extLst>
          </p:cNvPr>
          <p:cNvSpPr>
            <a:spLocks noGrp="1"/>
          </p:cNvSpPr>
          <p:nvPr>
            <p:ph type="title"/>
          </p:nvPr>
        </p:nvSpPr>
        <p:spPr>
          <a:xfrm>
            <a:off x="729248" y="295736"/>
            <a:ext cx="7055380" cy="1400530"/>
          </a:xfrm>
        </p:spPr>
        <p:txBody>
          <a:bodyPr>
            <a:normAutofit/>
          </a:bodyPr>
          <a:lstStyle/>
          <a:p>
            <a:pPr algn="ctr"/>
            <a:r>
              <a:rPr lang="en-IN" sz="4000" b="1" dirty="0">
                <a:latin typeface="Times New Roman" panose="02020603050405020304" pitchFamily="18" charset="0"/>
                <a:cs typeface="Times New Roman" panose="02020603050405020304" pitchFamily="18" charset="0"/>
              </a:rPr>
              <a:t>ABSTRACT</a:t>
            </a:r>
            <a:br>
              <a:rPr lang="en-IN" sz="4000" b="1" dirty="0">
                <a:latin typeface="Times New Roman" panose="02020603050405020304" pitchFamily="18" charset="0"/>
                <a:cs typeface="Times New Roman" panose="02020603050405020304" pitchFamily="18" charset="0"/>
              </a:rPr>
            </a:b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F8FAED5-D6ED-F39F-EF34-9AD8BED910CC}"/>
              </a:ext>
            </a:extLst>
          </p:cNvPr>
          <p:cNvSpPr>
            <a:spLocks noGrp="1"/>
          </p:cNvSpPr>
          <p:nvPr>
            <p:ph idx="1"/>
          </p:nvPr>
        </p:nvSpPr>
        <p:spPr>
          <a:xfrm>
            <a:off x="304800" y="1449483"/>
            <a:ext cx="8305800" cy="4873752"/>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The aim of the project is to  Formulation and </a:t>
            </a:r>
            <a:r>
              <a:rPr lang="en-US" i="1" dirty="0">
                <a:latin typeface="Times New Roman" panose="02020603050405020304" pitchFamily="18" charset="0"/>
                <a:cs typeface="Times New Roman" panose="02020603050405020304" pitchFamily="18" charset="0"/>
              </a:rPr>
              <a:t>In-Vitro</a:t>
            </a:r>
            <a:r>
              <a:rPr lang="en-US" dirty="0">
                <a:latin typeface="Times New Roman" panose="02020603050405020304" pitchFamily="18" charset="0"/>
                <a:cs typeface="Times New Roman" panose="02020603050405020304" pitchFamily="18" charset="0"/>
              </a:rPr>
              <a:t> Evaluation Of Fesoterodine Fumarate Loaded Microbeads by Ion Gelation Method to facilitate sustained release action to treat Overactive Bladder Disease </a:t>
            </a:r>
            <a:r>
              <a:rPr lang="en-US" b="1" dirty="0">
                <a:latin typeface="Times New Roman" panose="02020603050405020304" pitchFamily="18" charset="0"/>
                <a:cs typeface="Times New Roman" panose="02020603050405020304" pitchFamily="18" charset="0"/>
              </a:rPr>
              <a:t>(OBD)</a:t>
            </a:r>
            <a:r>
              <a:rPr lang="en-US" dirty="0">
                <a:latin typeface="Times New Roman" panose="02020603050405020304" pitchFamily="18" charset="0"/>
                <a:cs typeface="Times New Roman" panose="02020603050405020304" pitchFamily="18" charset="0"/>
              </a:rPr>
              <a:t>. The gel beads were made by gently combining or homogenizing an oil and water phase containing sodium alginate, which was then extruded into a calcium chloride solution to create gel beads. The gel beads contained various amounts of egg albumin, HPMC, and tween-80. The effects of types of egg albumin, HPMC, and their proportions, on the morphology and release characteristics, were optimized. At different proportions of polymers were used to study the effect on the sustaining property of the formed beads. The drug-entrapped sodium alginate gel beads showed sustained release. Among different formulations, the combination of HPMC, egg albumin, and sodium alginate with different concentrations of and have 98% of drug release and F4 considered as optimized formulation.</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Key Words: Fesoterodine Fumarate, Ion Gelation Method, OBD,HPMC</a:t>
            </a:r>
          </a:p>
          <a:p>
            <a:pPr marL="0" indent="0">
              <a:buNone/>
            </a:pPr>
            <a:endParaRPr lang="en-IN" dirty="0"/>
          </a:p>
        </p:txBody>
      </p:sp>
      <p:sp>
        <p:nvSpPr>
          <p:cNvPr id="4" name="Slide Number Placeholder 3">
            <a:extLst>
              <a:ext uri="{FF2B5EF4-FFF2-40B4-BE49-F238E27FC236}">
                <a16:creationId xmlns:a16="http://schemas.microsoft.com/office/drawing/2014/main" id="{D515349A-88CF-51C2-158B-7C8343AF3BDD}"/>
              </a:ext>
            </a:extLst>
          </p:cNvPr>
          <p:cNvSpPr>
            <a:spLocks noGrp="1"/>
          </p:cNvSpPr>
          <p:nvPr>
            <p:ph type="sldNum" sz="quarter" idx="12"/>
          </p:nvPr>
        </p:nvSpPr>
        <p:spPr/>
        <p:txBody>
          <a:bodyPr/>
          <a:lstStyle/>
          <a:p>
            <a:fld id="{6C412A46-B304-460B-BA6E-26B326EC1AA6}" type="slidenum">
              <a:rPr lang="en-US" smtClean="0"/>
              <a:pPr/>
              <a:t>3</a:t>
            </a:fld>
            <a:endParaRPr lang="en-US"/>
          </a:p>
        </p:txBody>
      </p:sp>
    </p:spTree>
    <p:extLst>
      <p:ext uri="{BB962C8B-B14F-4D97-AF65-F5344CB8AC3E}">
        <p14:creationId xmlns:p14="http://schemas.microsoft.com/office/powerpoint/2010/main" val="209117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52588"/>
            <a:ext cx="8229600" cy="715962"/>
          </a:xfrm>
        </p:spPr>
        <p:txBody>
          <a:bodyPr>
            <a:normAutofit/>
          </a:bodyPr>
          <a:lstStyle/>
          <a:p>
            <a:pPr algn="ctr"/>
            <a:r>
              <a:rPr lang="en-US" sz="4000" b="1" dirty="0">
                <a:latin typeface="Times New Roman" pitchFamily="18" charset="0"/>
                <a:cs typeface="Times New Roman" pitchFamily="18" charset="0"/>
              </a:rPr>
              <a:t>AIM</a:t>
            </a:r>
          </a:p>
        </p:txBody>
      </p:sp>
      <p:sp>
        <p:nvSpPr>
          <p:cNvPr id="3" name="Content Placeholder 2"/>
          <p:cNvSpPr>
            <a:spLocks noGrp="1"/>
          </p:cNvSpPr>
          <p:nvPr>
            <p:ph idx="1"/>
          </p:nvPr>
        </p:nvSpPr>
        <p:spPr>
          <a:xfrm>
            <a:off x="304800" y="1219200"/>
            <a:ext cx="8305800" cy="5135563"/>
          </a:xfrm>
        </p:spPr>
        <p:txBody>
          <a:bodyPr>
            <a:normAutofit fontScale="92500" lnSpcReduction="10000"/>
          </a:bodyPr>
          <a:lstStyle/>
          <a:p>
            <a:pPr algn="just"/>
            <a:r>
              <a:rPr lang="en-US" sz="2200" dirty="0">
                <a:latin typeface="Times New Roman" panose="02020603050405020304" pitchFamily="18" charset="0"/>
                <a:cs typeface="Times New Roman" panose="02020603050405020304" pitchFamily="18" charset="0"/>
              </a:rPr>
              <a:t>The aim of the project is </a:t>
            </a:r>
            <a:r>
              <a:rPr lang="en-US" sz="2200" kern="0" dirty="0">
                <a:effectLst/>
                <a:latin typeface="Times New Roman" panose="02020603050405020304" pitchFamily="18" charset="0"/>
                <a:ea typeface="Times New Roman" panose="02020603050405020304" pitchFamily="18" charset="0"/>
                <a:cs typeface="Times New Roman" panose="02020603050405020304" pitchFamily="18" charset="0"/>
              </a:rPr>
              <a:t>Formulation and </a:t>
            </a:r>
            <a:r>
              <a:rPr lang="en-US" sz="2200" i="1" kern="0" dirty="0">
                <a:effectLst/>
                <a:latin typeface="Times New Roman" panose="02020603050405020304" pitchFamily="18" charset="0"/>
                <a:ea typeface="Times New Roman" panose="02020603050405020304" pitchFamily="18" charset="0"/>
                <a:cs typeface="Times New Roman" panose="02020603050405020304" pitchFamily="18" charset="0"/>
              </a:rPr>
              <a:t>In-Vitro</a:t>
            </a:r>
            <a:r>
              <a:rPr lang="en-US" sz="2200" kern="0" dirty="0">
                <a:effectLst/>
                <a:latin typeface="Times New Roman" panose="02020603050405020304" pitchFamily="18" charset="0"/>
                <a:ea typeface="Times New Roman" panose="02020603050405020304" pitchFamily="18" charset="0"/>
                <a:cs typeface="Times New Roman" panose="02020603050405020304" pitchFamily="18" charset="0"/>
              </a:rPr>
              <a:t> Evaluation Of Fesoterodine Fumarate Loaded Microbeads by Ion Gelation Method </a:t>
            </a: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to facilitate sustained release action to treat Overactive Bladder Disease (OBD).</a:t>
            </a:r>
          </a:p>
          <a:p>
            <a:pPr marL="0" indent="0" algn="just">
              <a:buNone/>
            </a:pPr>
            <a:endParaRPr lang="en-IN" sz="2200" dirty="0">
              <a:latin typeface="Times New Roman" panose="02020603050405020304" pitchFamily="18" charset="0"/>
              <a:cs typeface="Times New Roman" panose="02020603050405020304" pitchFamily="18" charset="0"/>
            </a:endParaRPr>
          </a:p>
          <a:p>
            <a:pPr marL="0" lvl="0" indent="0" algn="just">
              <a:buNone/>
            </a:pPr>
            <a:r>
              <a:rPr lang="en-US" sz="2600" b="1" dirty="0">
                <a:latin typeface="Times New Roman" panose="02020603050405020304" pitchFamily="18" charset="0"/>
                <a:cs typeface="Times New Roman" pitchFamily="18" charset="0"/>
              </a:rPr>
              <a:t>OBJECTIVES:</a:t>
            </a:r>
            <a:endParaRPr lang="en-US" sz="2600" dirty="0">
              <a:latin typeface="Times New Roman" panose="02020603050405020304" pitchFamily="18" charset="0"/>
              <a:cs typeface="Times New Roman" pitchFamily="18" charset="0"/>
            </a:endParaRPr>
          </a:p>
          <a:p>
            <a:pPr algn="just">
              <a:buNone/>
            </a:pPr>
            <a:r>
              <a:rPr lang="en-US" sz="2600" dirty="0">
                <a:latin typeface="Times New Roman" panose="02020603050405020304" pitchFamily="18" charset="0"/>
                <a:cs typeface="Times New Roman" pitchFamily="18" charset="0"/>
              </a:rPr>
              <a:t>•	To prepare m</a:t>
            </a:r>
            <a:r>
              <a:rPr lang="en-US" sz="2200" dirty="0">
                <a:latin typeface="Times New Roman" panose="02020603050405020304" pitchFamily="18" charset="0"/>
                <a:cs typeface="Times New Roman" pitchFamily="18" charset="0"/>
              </a:rPr>
              <a:t>icrobeads with good absorptive properties.</a:t>
            </a:r>
          </a:p>
          <a:p>
            <a:pPr algn="just">
              <a:buNone/>
            </a:pPr>
            <a:r>
              <a:rPr lang="en-US" sz="2200" dirty="0">
                <a:latin typeface="Times New Roman" panose="02020603050405020304" pitchFamily="18" charset="0"/>
                <a:cs typeface="Times New Roman" pitchFamily="18" charset="0"/>
              </a:rPr>
              <a:t>•	 To conduct in-vitro studies by using the Type-I Dissolution apparatus.(Basket type)</a:t>
            </a:r>
          </a:p>
          <a:p>
            <a:pPr algn="just">
              <a:buNone/>
            </a:pPr>
            <a:r>
              <a:rPr lang="en-US" sz="2200" dirty="0">
                <a:latin typeface="Times New Roman" panose="02020603050405020304" pitchFamily="18" charset="0"/>
                <a:cs typeface="Times New Roman" pitchFamily="18" charset="0"/>
              </a:rPr>
              <a:t>•	Choosing and optimizing the production process.</a:t>
            </a:r>
          </a:p>
          <a:p>
            <a:pPr algn="just">
              <a:buNone/>
            </a:pPr>
            <a:r>
              <a:rPr lang="en-US" sz="2200" dirty="0">
                <a:latin typeface="Times New Roman" panose="02020603050405020304" pitchFamily="18" charset="0"/>
                <a:cs typeface="Times New Roman" pitchFamily="18" charset="0"/>
              </a:rPr>
              <a:t>•	To investigate the impact of polymer concentration on Fesoterodine </a:t>
            </a:r>
            <a:r>
              <a:rPr lang="en-US" sz="2200" kern="0" dirty="0">
                <a:effectLst/>
                <a:latin typeface="Times New Roman" panose="02020603050405020304" pitchFamily="18" charset="0"/>
                <a:ea typeface="Times New Roman" panose="02020603050405020304" pitchFamily="18" charset="0"/>
                <a:cs typeface="Times New Roman" panose="02020603050405020304" pitchFamily="18" charset="0"/>
              </a:rPr>
              <a:t>Fumarate </a:t>
            </a:r>
            <a:r>
              <a:rPr lang="en-US" sz="2200" dirty="0">
                <a:latin typeface="Times New Roman" panose="02020603050405020304" pitchFamily="18" charset="0"/>
                <a:cs typeface="Times New Roman" panose="02020603050405020304" pitchFamily="18" charset="0"/>
              </a:rPr>
              <a:t>and to find the optimal polymer.</a:t>
            </a:r>
          </a:p>
          <a:p>
            <a:pPr algn="just">
              <a:buNone/>
            </a:pPr>
            <a:r>
              <a:rPr lang="en-US" sz="2200" dirty="0">
                <a:latin typeface="Times New Roman" panose="02020603050405020304" pitchFamily="18" charset="0"/>
                <a:cs typeface="Times New Roman" panose="02020603050405020304" pitchFamily="18" charset="0"/>
              </a:rPr>
              <a:t>•	To evaluate the prepared microbeads as per pharmacopeial standards.</a:t>
            </a:r>
          </a:p>
          <a:p>
            <a:pPr algn="just">
              <a:buNone/>
            </a:pPr>
            <a:r>
              <a:rPr lang="en-US" sz="2200" dirty="0">
                <a:latin typeface="Times New Roman" panose="02020603050405020304" pitchFamily="18" charset="0"/>
                <a:cs typeface="Times New Roman" panose="02020603050405020304" pitchFamily="18" charset="0"/>
              </a:rPr>
              <a:t>•	To Develop analytical methods and conduct drug-polymer interaction investigations by FT-IR Spectral studies.</a:t>
            </a:r>
          </a:p>
          <a:p>
            <a:pPr>
              <a:buNone/>
            </a:pPr>
            <a:endParaRPr lang="en-US" sz="2200" dirty="0">
              <a:latin typeface="Times New Roman" panose="02020603050405020304" pitchFamily="18" charset="0"/>
              <a:cs typeface="Times New Roman" panose="02020603050405020304" pitchFamily="18" charset="0"/>
            </a:endParaRPr>
          </a:p>
          <a:p>
            <a:pPr>
              <a:buNone/>
            </a:pPr>
            <a:endParaRPr lang="en-US" sz="2800" dirty="0"/>
          </a:p>
        </p:txBody>
      </p:sp>
      <p:sp>
        <p:nvSpPr>
          <p:cNvPr id="4" name="Slide Number Placeholder 3">
            <a:extLst>
              <a:ext uri="{FF2B5EF4-FFF2-40B4-BE49-F238E27FC236}">
                <a16:creationId xmlns:a16="http://schemas.microsoft.com/office/drawing/2014/main" id="{7BECD088-B909-0CF6-0A57-DFAA330239EA}"/>
              </a:ext>
            </a:extLst>
          </p:cNvPr>
          <p:cNvSpPr>
            <a:spLocks noGrp="1"/>
          </p:cNvSpPr>
          <p:nvPr>
            <p:ph type="sldNum" sz="quarter" idx="12"/>
          </p:nvPr>
        </p:nvSpPr>
        <p:spPr/>
        <p:txBody>
          <a:bodyPr/>
          <a:lstStyle/>
          <a:p>
            <a:fld id="{6C412A46-B304-460B-BA6E-26B326EC1AA6}"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9375" y="295736"/>
            <a:ext cx="8001000" cy="1143000"/>
          </a:xfrm>
        </p:spPr>
        <p:txBody>
          <a:bodyPr>
            <a:normAutofit/>
          </a:bodyPr>
          <a:lstStyle/>
          <a:p>
            <a:pPr algn="ctr"/>
            <a:r>
              <a:rPr lang="en-US" sz="4000" b="1" dirty="0">
                <a:latin typeface="Times New Roman" panose="02020603050405020304" pitchFamily="18" charset="0"/>
                <a:cs typeface="Times New Roman" panose="02020603050405020304" pitchFamily="18" charset="0"/>
              </a:rPr>
              <a:t>INTRODUCTION</a:t>
            </a:r>
            <a:endParaRPr lang="en-US" sz="4000" b="1" dirty="0"/>
          </a:p>
        </p:txBody>
      </p:sp>
      <p:sp>
        <p:nvSpPr>
          <p:cNvPr id="3" name="Content Placeholder 2"/>
          <p:cNvSpPr>
            <a:spLocks noGrp="1"/>
          </p:cNvSpPr>
          <p:nvPr>
            <p:ph idx="1"/>
          </p:nvPr>
        </p:nvSpPr>
        <p:spPr>
          <a:xfrm>
            <a:off x="476865" y="1371600"/>
            <a:ext cx="8001000" cy="4754563"/>
          </a:xfrm>
        </p:spPr>
        <p:txBody>
          <a:bodyPr>
            <a:normAutofit/>
          </a:bodyPr>
          <a:lstStyle/>
          <a:p>
            <a:pPr algn="just"/>
            <a:r>
              <a:rPr lang="en-US" sz="2000" kern="0" dirty="0">
                <a:effectLst/>
                <a:latin typeface="Times New Roman" panose="02020603050405020304" pitchFamily="18" charset="0"/>
                <a:ea typeface="Times New Roman" panose="02020603050405020304" pitchFamily="18" charset="0"/>
              </a:rPr>
              <a:t>Beads are one of the most commonly used techniques in a sustained-release dosage form.</a:t>
            </a:r>
          </a:p>
          <a:p>
            <a:pPr algn="just"/>
            <a:r>
              <a:rPr lang="en-US" sz="2000" kern="0" dirty="0">
                <a:effectLst/>
                <a:latin typeface="Times New Roman" panose="02020603050405020304" pitchFamily="18" charset="0"/>
                <a:ea typeface="Times New Roman" panose="02020603050405020304" pitchFamily="18" charset="0"/>
              </a:rPr>
              <a:t>These are spherical particles with a size ranging from 50 nm to 200 mm, which contain core substances.</a:t>
            </a:r>
            <a:endParaRPr lang="en-US" sz="2000" kern="0" dirty="0">
              <a:latin typeface="Times New Roman" panose="02020603050405020304" pitchFamily="18" charset="0"/>
              <a:ea typeface="Times New Roman" panose="02020603050405020304" pitchFamily="18" charset="0"/>
            </a:endParaRPr>
          </a:p>
          <a:p>
            <a:pPr algn="just"/>
            <a:r>
              <a:rPr lang="en-US" sz="2000" kern="0" dirty="0">
                <a:effectLst/>
                <a:latin typeface="Times New Roman" panose="02020603050405020304" pitchFamily="18" charset="0"/>
                <a:ea typeface="Times New Roman" panose="02020603050405020304" pitchFamily="18" charset="0"/>
              </a:rPr>
              <a:t> The sustained-release beads are the spherical substances that contain the active pharmaceutical ingredient and are designed to release the drug at a predetermined rate at a constant concentration in the body.</a:t>
            </a:r>
          </a:p>
          <a:p>
            <a:pPr algn="just"/>
            <a:r>
              <a:rPr lang="en-US" sz="2000" b="1" kern="0" dirty="0">
                <a:effectLst/>
                <a:latin typeface="Times New Roman" panose="02020603050405020304" pitchFamily="18" charset="0"/>
                <a:ea typeface="Times New Roman" panose="02020603050405020304" pitchFamily="18" charset="0"/>
              </a:rPr>
              <a:t>Overactive Bladder Disease</a:t>
            </a:r>
            <a:r>
              <a:rPr lang="en-US" sz="2000" kern="0" dirty="0">
                <a:effectLst/>
                <a:latin typeface="Times New Roman" panose="02020603050405020304" pitchFamily="18" charset="0"/>
                <a:ea typeface="Times New Roman" panose="02020603050405020304" pitchFamily="18" charset="0"/>
              </a:rPr>
              <a:t> (</a:t>
            </a:r>
            <a:r>
              <a:rPr lang="en-US" sz="2000" b="1" kern="0" dirty="0">
                <a:effectLst/>
                <a:latin typeface="Times New Roman" panose="02020603050405020304" pitchFamily="18" charset="0"/>
                <a:ea typeface="Times New Roman" panose="02020603050405020304" pitchFamily="18" charset="0"/>
              </a:rPr>
              <a:t>OBD</a:t>
            </a:r>
            <a:r>
              <a:rPr lang="en-US" sz="2000" kern="0" dirty="0">
                <a:effectLst/>
                <a:latin typeface="Times New Roman" panose="02020603050405020304" pitchFamily="18" charset="0"/>
                <a:ea typeface="Times New Roman" panose="02020603050405020304" pitchFamily="18" charset="0"/>
              </a:rPr>
              <a:t>) is a common condition where there is a frequent urge to urinate. If there is a </a:t>
            </a:r>
            <a:r>
              <a:rPr lang="en-US" sz="2000" kern="0" dirty="0">
                <a:latin typeface="Times New Roman" panose="02020603050405020304" pitchFamily="18" charset="0"/>
                <a:ea typeface="Times New Roman" panose="02020603050405020304" pitchFamily="18" charset="0"/>
              </a:rPr>
              <a:t>loss of bladder count</a:t>
            </a:r>
            <a:r>
              <a:rPr lang="en-US" sz="2000" u="sng" kern="0" dirty="0">
                <a:effectLst/>
                <a:latin typeface="Times New Roman" panose="02020603050405020304" pitchFamily="18" charset="0"/>
                <a:ea typeface="Times New Roman" panose="02020603050405020304" pitchFamily="18" charset="0"/>
              </a:rPr>
              <a:t> </a:t>
            </a:r>
            <a:r>
              <a:rPr lang="en-US" sz="2000" kern="0" dirty="0">
                <a:effectLst/>
                <a:latin typeface="Times New Roman" panose="02020603050405020304" pitchFamily="18" charset="0"/>
                <a:ea typeface="Times New Roman" panose="02020603050405020304" pitchFamily="18" charset="0"/>
              </a:rPr>
              <a:t>then it is known as urge incontinence. </a:t>
            </a:r>
          </a:p>
          <a:p>
            <a:pPr algn="just"/>
            <a:r>
              <a:rPr lang="en-US" sz="2000" kern="0" dirty="0">
                <a:effectLst/>
                <a:latin typeface="Times New Roman" panose="02020603050405020304" pitchFamily="18" charset="0"/>
                <a:ea typeface="Times New Roman" panose="02020603050405020304" pitchFamily="18" charset="0"/>
              </a:rPr>
              <a:t>Muscarinic receptors have long been the target receptors for the treatment of patients with overactive bladder (OBD).</a:t>
            </a:r>
            <a:endParaRPr lang="en-US" sz="2000" kern="0" dirty="0">
              <a:latin typeface="Times New Roman" panose="02020603050405020304" pitchFamily="18" charset="0"/>
              <a:ea typeface="Times New Roman" panose="02020603050405020304" pitchFamily="18" charset="0"/>
            </a:endParaRPr>
          </a:p>
          <a:p>
            <a:pPr algn="just"/>
            <a:r>
              <a:rPr lang="en-US" sz="2000" kern="0" dirty="0">
                <a:effectLst/>
                <a:latin typeface="Times New Roman" panose="02020603050405020304" pitchFamily="18" charset="0"/>
                <a:ea typeface="Times New Roman" panose="02020603050405020304" pitchFamily="18" charset="0"/>
              </a:rPr>
              <a:t>Fesoterodine, a pro-drug, structurally and functionally related to tolterodine, is the newest agent developed for the treatment of OBD.</a:t>
            </a:r>
          </a:p>
          <a:p>
            <a:pPr algn="just"/>
            <a:endParaRPr lang="en-US" sz="1800" kern="0" dirty="0">
              <a:effectLst/>
              <a:latin typeface="Times New Roman" panose="02020603050405020304" pitchFamily="18" charset="0"/>
              <a:ea typeface="Times New Roman" panose="02020603050405020304" pitchFamily="18" charset="0"/>
            </a:endParaRPr>
          </a:p>
        </p:txBody>
      </p:sp>
      <p:sp>
        <p:nvSpPr>
          <p:cNvPr id="4" name="Slide Number Placeholder 3">
            <a:extLst>
              <a:ext uri="{FF2B5EF4-FFF2-40B4-BE49-F238E27FC236}">
                <a16:creationId xmlns:a16="http://schemas.microsoft.com/office/drawing/2014/main" id="{7E658710-5276-54DE-89D9-6229A331254D}"/>
              </a:ext>
            </a:extLst>
          </p:cNvPr>
          <p:cNvSpPr>
            <a:spLocks noGrp="1"/>
          </p:cNvSpPr>
          <p:nvPr>
            <p:ph type="sldNum" sz="quarter" idx="12"/>
          </p:nvPr>
        </p:nvSpPr>
        <p:spPr/>
        <p:txBody>
          <a:bodyPr/>
          <a:lstStyle/>
          <a:p>
            <a:fld id="{6C412A46-B304-460B-BA6E-26B326EC1AA6}"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A0026-B062-32A8-D47D-A536317B8B39}"/>
              </a:ext>
            </a:extLst>
          </p:cNvPr>
          <p:cNvSpPr>
            <a:spLocks noGrp="1"/>
          </p:cNvSpPr>
          <p:nvPr>
            <p:ph type="title"/>
          </p:nvPr>
        </p:nvSpPr>
        <p:spPr>
          <a:xfrm>
            <a:off x="-381000" y="140110"/>
            <a:ext cx="4648200" cy="1143000"/>
          </a:xfrm>
        </p:spPr>
        <p:txBody>
          <a:bodyPr>
            <a:normAutofit/>
          </a:bodyPr>
          <a:lstStyle/>
          <a:p>
            <a:pPr algn="ctr"/>
            <a:r>
              <a:rPr lang="en-IN" sz="4000" b="1" dirty="0">
                <a:latin typeface="Times New Roman" panose="02020603050405020304" pitchFamily="18" charset="0"/>
                <a:cs typeface="Times New Roman" panose="02020603050405020304" pitchFamily="18" charset="0"/>
              </a:rPr>
              <a:t>ADVANTAGES</a:t>
            </a:r>
          </a:p>
        </p:txBody>
      </p:sp>
      <p:sp>
        <p:nvSpPr>
          <p:cNvPr id="3" name="Content Placeholder 2">
            <a:extLst>
              <a:ext uri="{FF2B5EF4-FFF2-40B4-BE49-F238E27FC236}">
                <a16:creationId xmlns:a16="http://schemas.microsoft.com/office/drawing/2014/main" id="{27C3EC16-98A6-8259-7C41-BB4CE374DBEF}"/>
              </a:ext>
            </a:extLst>
          </p:cNvPr>
          <p:cNvSpPr>
            <a:spLocks noGrp="1"/>
          </p:cNvSpPr>
          <p:nvPr>
            <p:ph idx="1"/>
          </p:nvPr>
        </p:nvSpPr>
        <p:spPr>
          <a:xfrm>
            <a:off x="100781" y="1283110"/>
            <a:ext cx="4468761" cy="4873752"/>
          </a:xfrm>
        </p:spPr>
        <p:txBody>
          <a:bodyPr>
            <a:normAutofit fontScale="92500" lnSpcReduction="20000"/>
          </a:bodyPr>
          <a:lstStyle/>
          <a:p>
            <a:pPr lvl="0" algn="just">
              <a:lnSpc>
                <a:spcPct val="107000"/>
              </a:lnSpc>
              <a:spcAft>
                <a:spcPts val="800"/>
              </a:spcAft>
              <a:buFont typeface="Wingdings" panose="05000000000000000000" pitchFamily="2" charset="2"/>
              <a:buChar char="Ø"/>
            </a:pPr>
            <a:r>
              <a:rPr lang="en-US" sz="2000" dirty="0">
                <a:effectLst/>
                <a:latin typeface="Times New Roman" panose="02020603050405020304" pitchFamily="18" charset="0"/>
                <a:ea typeface="Times New Roman" panose="02020603050405020304" pitchFamily="18" charset="0"/>
              </a:rPr>
              <a:t>Ideal pharmacokinetic properties.</a:t>
            </a:r>
            <a:endParaRPr lang="en-IN" sz="2000" dirty="0">
              <a:effectLst/>
              <a:latin typeface="Times New Roman" panose="02020603050405020304" pitchFamily="18" charset="0"/>
              <a:ea typeface="Times New Roman" panose="02020603050405020304" pitchFamily="18" charset="0"/>
            </a:endParaRPr>
          </a:p>
          <a:p>
            <a:pPr lvl="0" algn="just">
              <a:lnSpc>
                <a:spcPct val="107000"/>
              </a:lnSpc>
              <a:spcAft>
                <a:spcPts val="800"/>
              </a:spcAft>
              <a:buFont typeface="Wingdings" panose="05000000000000000000" pitchFamily="2" charset="2"/>
              <a:buChar char="Ø"/>
            </a:pPr>
            <a:r>
              <a:rPr lang="en-US" sz="2000" dirty="0">
                <a:effectLst/>
                <a:latin typeface="Times New Roman" panose="02020603050405020304" pitchFamily="18" charset="0"/>
                <a:ea typeface="Times New Roman" panose="02020603050405020304" pitchFamily="18" charset="0"/>
              </a:rPr>
              <a:t>Enhance homogenous deviation in the body.</a:t>
            </a:r>
            <a:endParaRPr lang="en-IN" sz="2000" dirty="0">
              <a:effectLst/>
              <a:latin typeface="Times New Roman" panose="02020603050405020304" pitchFamily="18" charset="0"/>
              <a:ea typeface="Times New Roman" panose="02020603050405020304" pitchFamily="18" charset="0"/>
            </a:endParaRPr>
          </a:p>
          <a:p>
            <a:pPr lvl="0" algn="just">
              <a:lnSpc>
                <a:spcPct val="107000"/>
              </a:lnSpc>
              <a:spcAft>
                <a:spcPts val="800"/>
              </a:spcAft>
              <a:buFont typeface="Wingdings" panose="05000000000000000000" pitchFamily="2" charset="2"/>
              <a:buChar char="Ø"/>
            </a:pPr>
            <a:r>
              <a:rPr lang="en-US" sz="2000" dirty="0">
                <a:effectLst/>
                <a:latin typeface="Times New Roman" panose="02020603050405020304" pitchFamily="18" charset="0"/>
                <a:ea typeface="Times New Roman" panose="02020603050405020304" pitchFamily="18" charset="0"/>
              </a:rPr>
              <a:t>Minimum dose variation in the combinations of API &amp; less dose-dumping; separate the protect the active ingredients to give better compatibility.</a:t>
            </a:r>
            <a:endParaRPr lang="en-IN" sz="2000" dirty="0">
              <a:effectLst/>
              <a:latin typeface="Times New Roman" panose="02020603050405020304" pitchFamily="18" charset="0"/>
              <a:ea typeface="Times New Roman" panose="02020603050405020304" pitchFamily="18" charset="0"/>
            </a:endParaRPr>
          </a:p>
          <a:p>
            <a:pPr lvl="0" algn="just">
              <a:lnSpc>
                <a:spcPct val="107000"/>
              </a:lnSpc>
              <a:spcAft>
                <a:spcPts val="800"/>
              </a:spcAft>
              <a:buFont typeface="Wingdings" panose="05000000000000000000" pitchFamily="2" charset="2"/>
              <a:buChar char="Ø"/>
            </a:pPr>
            <a:r>
              <a:rPr lang="en-US" sz="2000" dirty="0">
                <a:effectLst/>
                <a:latin typeface="Times New Roman" panose="02020603050405020304" pitchFamily="18" charset="0"/>
                <a:ea typeface="Times New Roman" panose="02020603050405020304" pitchFamily="18" charset="0"/>
              </a:rPr>
              <a:t>The new system with an increased duration of action.</a:t>
            </a:r>
            <a:endParaRPr lang="en-IN" sz="2000" dirty="0">
              <a:effectLst/>
              <a:latin typeface="Times New Roman" panose="02020603050405020304" pitchFamily="18" charset="0"/>
              <a:ea typeface="Times New Roman" panose="02020603050405020304" pitchFamily="18" charset="0"/>
            </a:endParaRPr>
          </a:p>
          <a:p>
            <a:pPr lvl="0" algn="just">
              <a:lnSpc>
                <a:spcPct val="107000"/>
              </a:lnSpc>
              <a:spcAft>
                <a:spcPts val="800"/>
              </a:spcAft>
              <a:buFont typeface="Wingdings" panose="05000000000000000000" pitchFamily="2" charset="2"/>
              <a:buChar char="Ø"/>
            </a:pPr>
            <a:r>
              <a:rPr lang="en-US" sz="2000" dirty="0">
                <a:effectLst/>
                <a:latin typeface="Times New Roman" panose="02020603050405020304" pitchFamily="18" charset="0"/>
                <a:ea typeface="Times New Roman" panose="02020603050405020304" pitchFamily="18" charset="0"/>
              </a:rPr>
              <a:t>Decrease dosing frequency </a:t>
            </a:r>
            <a:endParaRPr lang="en-IN" sz="2000" dirty="0">
              <a:effectLst/>
              <a:latin typeface="Times New Roman" panose="02020603050405020304" pitchFamily="18" charset="0"/>
              <a:ea typeface="Times New Roman" panose="02020603050405020304" pitchFamily="18" charset="0"/>
            </a:endParaRPr>
          </a:p>
          <a:p>
            <a:pPr lvl="0" algn="just">
              <a:lnSpc>
                <a:spcPct val="107000"/>
              </a:lnSpc>
              <a:spcAft>
                <a:spcPts val="800"/>
              </a:spcAft>
              <a:buFont typeface="Wingdings" panose="05000000000000000000" pitchFamily="2" charset="2"/>
              <a:buChar char="Ø"/>
            </a:pPr>
            <a:r>
              <a:rPr lang="en-US" sz="2000" dirty="0">
                <a:effectLst/>
                <a:latin typeface="Times New Roman" panose="02020603050405020304" pitchFamily="18" charset="0"/>
                <a:ea typeface="Times New Roman" panose="02020603050405020304" pitchFamily="18" charset="0"/>
              </a:rPr>
              <a:t>Improve patient compliance</a:t>
            </a:r>
            <a:endParaRPr lang="en-IN" sz="2000" dirty="0">
              <a:effectLst/>
              <a:latin typeface="Times New Roman" panose="02020603050405020304" pitchFamily="18" charset="0"/>
              <a:ea typeface="Times New Roman" panose="02020603050405020304" pitchFamily="18" charset="0"/>
            </a:endParaRPr>
          </a:p>
          <a:p>
            <a:pPr lvl="0" algn="just">
              <a:lnSpc>
                <a:spcPct val="107000"/>
              </a:lnSpc>
              <a:spcAft>
                <a:spcPts val="800"/>
              </a:spcAft>
              <a:buFont typeface="Wingdings" panose="05000000000000000000" pitchFamily="2" charset="2"/>
              <a:buChar char="Ø"/>
            </a:pPr>
            <a:r>
              <a:rPr lang="en-US" sz="2000" dirty="0">
                <a:effectLst/>
                <a:latin typeface="Times New Roman" panose="02020603050405020304" pitchFamily="18" charset="0"/>
                <a:ea typeface="Times New Roman" panose="02020603050405020304" pitchFamily="18" charset="0"/>
              </a:rPr>
              <a:t>Reducing side effects</a:t>
            </a:r>
            <a:endParaRPr lang="en-IN" sz="2000" dirty="0">
              <a:effectLst/>
              <a:latin typeface="Times New Roman" panose="02020603050405020304" pitchFamily="18" charset="0"/>
              <a:ea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235330D9-DFAD-E752-B6FD-703B97E2C514}"/>
              </a:ext>
            </a:extLst>
          </p:cNvPr>
          <p:cNvSpPr>
            <a:spLocks noGrp="1"/>
          </p:cNvSpPr>
          <p:nvPr>
            <p:ph type="sldNum" sz="quarter" idx="12"/>
          </p:nvPr>
        </p:nvSpPr>
        <p:spPr/>
        <p:txBody>
          <a:bodyPr/>
          <a:lstStyle/>
          <a:p>
            <a:fld id="{6C412A46-B304-460B-BA6E-26B326EC1AA6}" type="slidenum">
              <a:rPr lang="en-US" smtClean="0"/>
              <a:pPr/>
              <a:t>6</a:t>
            </a:fld>
            <a:endParaRPr lang="en-US"/>
          </a:p>
        </p:txBody>
      </p:sp>
      <p:sp>
        <p:nvSpPr>
          <p:cNvPr id="5" name="TextBox 4">
            <a:extLst>
              <a:ext uri="{FF2B5EF4-FFF2-40B4-BE49-F238E27FC236}">
                <a16:creationId xmlns:a16="http://schemas.microsoft.com/office/drawing/2014/main" id="{CD48972B-A252-0F7F-EF72-1FD23D42DCE0}"/>
              </a:ext>
            </a:extLst>
          </p:cNvPr>
          <p:cNvSpPr txBox="1"/>
          <p:nvPr/>
        </p:nvSpPr>
        <p:spPr>
          <a:xfrm>
            <a:off x="4658032" y="357667"/>
            <a:ext cx="4525598" cy="707886"/>
          </a:xfrm>
          <a:prstGeom prst="rect">
            <a:avLst/>
          </a:prstGeom>
          <a:noFill/>
        </p:spPr>
        <p:txBody>
          <a:bodyPr wrap="none" rtlCol="0">
            <a:spAutoFit/>
          </a:bodyPr>
          <a:lstStyle/>
          <a:p>
            <a:r>
              <a:rPr lang="en-IN" sz="4000" b="1" dirty="0">
                <a:latin typeface="Times New Roman" panose="02020603050405020304" pitchFamily="18" charset="0"/>
                <a:cs typeface="Times New Roman" panose="02020603050405020304" pitchFamily="18" charset="0"/>
              </a:rPr>
              <a:t>DISADVANTAGES</a:t>
            </a:r>
            <a:endParaRPr lang="en-IN" sz="4000" dirty="0"/>
          </a:p>
        </p:txBody>
      </p:sp>
      <p:sp>
        <p:nvSpPr>
          <p:cNvPr id="7" name="TextBox 6">
            <a:extLst>
              <a:ext uri="{FF2B5EF4-FFF2-40B4-BE49-F238E27FC236}">
                <a16:creationId xmlns:a16="http://schemas.microsoft.com/office/drawing/2014/main" id="{EDF4FB0A-5364-5546-9C7E-2EE46A27E834}"/>
              </a:ext>
            </a:extLst>
          </p:cNvPr>
          <p:cNvSpPr txBox="1"/>
          <p:nvPr/>
        </p:nvSpPr>
        <p:spPr>
          <a:xfrm>
            <a:off x="4718255" y="1283110"/>
            <a:ext cx="4135767" cy="3742691"/>
          </a:xfrm>
          <a:prstGeom prst="rect">
            <a:avLst/>
          </a:prstGeom>
          <a:noFill/>
        </p:spPr>
        <p:txBody>
          <a:bodyPr wrap="square">
            <a:spAutoFit/>
          </a:bodyPr>
          <a:lstStyle/>
          <a:p>
            <a:pPr lvl="0" algn="just">
              <a:lnSpc>
                <a:spcPct val="107000"/>
              </a:lnSpc>
              <a:spcAft>
                <a:spcPts val="800"/>
              </a:spcAft>
              <a:buFont typeface="Wingdings" panose="05000000000000000000" pitchFamily="2" charset="2"/>
              <a:buChar char="Ø"/>
            </a:pPr>
            <a:r>
              <a:rPr lang="en-US" sz="1800" dirty="0">
                <a:effectLst/>
                <a:latin typeface="Times New Roman" panose="02020603050405020304" pitchFamily="18" charset="0"/>
                <a:ea typeface="Times New Roman" panose="02020603050405020304" pitchFamily="18" charset="0"/>
              </a:rPr>
              <a:t>Compared to another formulation cost of this system is much higher.</a:t>
            </a:r>
            <a:endParaRPr lang="en-IN" sz="1800" dirty="0">
              <a:effectLst/>
              <a:latin typeface="Times New Roman" panose="02020603050405020304" pitchFamily="18" charset="0"/>
              <a:ea typeface="Times New Roman" panose="02020603050405020304" pitchFamily="18" charset="0"/>
            </a:endParaRPr>
          </a:p>
          <a:p>
            <a:pPr lvl="0" algn="just">
              <a:lnSpc>
                <a:spcPct val="107000"/>
              </a:lnSpc>
              <a:spcAft>
                <a:spcPts val="800"/>
              </a:spcAft>
              <a:buFont typeface="Wingdings" panose="05000000000000000000" pitchFamily="2" charset="2"/>
              <a:buChar char="Ø"/>
            </a:pPr>
            <a:r>
              <a:rPr lang="en-US" sz="1800" dirty="0">
                <a:effectLst/>
                <a:latin typeface="Times New Roman" panose="02020603050405020304" pitchFamily="18" charset="0"/>
                <a:ea typeface="Times New Roman" panose="02020603050405020304" pitchFamily="18" charset="0"/>
              </a:rPr>
              <a:t>The use of synthetic polymer gives it an impact on the environment. </a:t>
            </a:r>
            <a:endParaRPr lang="en-IN" sz="1800" dirty="0">
              <a:effectLst/>
              <a:latin typeface="Times New Roman" panose="02020603050405020304" pitchFamily="18" charset="0"/>
              <a:ea typeface="Times New Roman" panose="02020603050405020304" pitchFamily="18" charset="0"/>
            </a:endParaRPr>
          </a:p>
          <a:p>
            <a:pPr lvl="0" algn="just">
              <a:lnSpc>
                <a:spcPct val="107000"/>
              </a:lnSpc>
              <a:spcAft>
                <a:spcPts val="800"/>
              </a:spcAft>
              <a:buFont typeface="Wingdings" panose="05000000000000000000" pitchFamily="2" charset="2"/>
              <a:buChar char="Ø"/>
            </a:pPr>
            <a:r>
              <a:rPr lang="en-US" sz="1800" dirty="0">
                <a:effectLst/>
                <a:latin typeface="Times New Roman" panose="02020603050405020304" pitchFamily="18" charset="0"/>
                <a:ea typeface="Times New Roman" panose="02020603050405020304" pitchFamily="18" charset="0"/>
              </a:rPr>
              <a:t>The other component of the system plays a hazardous role in certain areas of human life.</a:t>
            </a:r>
            <a:endParaRPr lang="en-IN" sz="1800" dirty="0">
              <a:effectLst/>
              <a:latin typeface="Times New Roman" panose="02020603050405020304" pitchFamily="18" charset="0"/>
              <a:ea typeface="Times New Roman" panose="02020603050405020304" pitchFamily="18" charset="0"/>
            </a:endParaRPr>
          </a:p>
          <a:p>
            <a:pPr lvl="0" algn="just">
              <a:lnSpc>
                <a:spcPct val="107000"/>
              </a:lnSpc>
              <a:spcAft>
                <a:spcPts val="800"/>
              </a:spcAft>
              <a:buFont typeface="Wingdings" panose="05000000000000000000" pitchFamily="2" charset="2"/>
              <a:buChar char="Ø"/>
            </a:pPr>
            <a:r>
              <a:rPr lang="en-US" sz="1800" dirty="0">
                <a:effectLst/>
                <a:latin typeface="Times New Roman" panose="02020603050405020304" pitchFamily="18" charset="0"/>
                <a:ea typeface="Times New Roman" panose="02020603050405020304" pitchFamily="18" charset="0"/>
              </a:rPr>
              <a:t> Reproducibility of preparation is minimal. </a:t>
            </a:r>
            <a:endParaRPr lang="en-IN" sz="1800" dirty="0">
              <a:latin typeface="Times New Roman" panose="02020603050405020304" pitchFamily="18" charset="0"/>
              <a:ea typeface="Times New Roman" panose="02020603050405020304" pitchFamily="18" charset="0"/>
            </a:endParaRPr>
          </a:p>
          <a:p>
            <a:pPr lvl="0" algn="just">
              <a:lnSpc>
                <a:spcPct val="107000"/>
              </a:lnSpc>
              <a:spcAft>
                <a:spcPts val="800"/>
              </a:spcAft>
              <a:buFont typeface="Wingdings" panose="05000000000000000000" pitchFamily="2" charset="2"/>
              <a:buChar char="Ø"/>
            </a:pPr>
            <a:r>
              <a:rPr lang="en-US" sz="1800" kern="0" dirty="0">
                <a:effectLst/>
                <a:latin typeface="Times New Roman" panose="02020603050405020304" pitchFamily="18" charset="0"/>
                <a:ea typeface="Times New Roman" panose="02020603050405020304" pitchFamily="18" charset="0"/>
              </a:rPr>
              <a:t>The degradation substance of the repeating unit is produced</a:t>
            </a:r>
            <a:endParaRPr lang="en-IN" sz="1800" dirty="0"/>
          </a:p>
        </p:txBody>
      </p:sp>
      <p:cxnSp>
        <p:nvCxnSpPr>
          <p:cNvPr id="9" name="Straight Connector 8">
            <a:extLst>
              <a:ext uri="{FF2B5EF4-FFF2-40B4-BE49-F238E27FC236}">
                <a16:creationId xmlns:a16="http://schemas.microsoft.com/office/drawing/2014/main" id="{850B00C6-0B95-E304-F1F9-A5D5FA35C614}"/>
              </a:ext>
            </a:extLst>
          </p:cNvPr>
          <p:cNvCxnSpPr/>
          <p:nvPr/>
        </p:nvCxnSpPr>
        <p:spPr>
          <a:xfrm>
            <a:off x="4658032" y="0"/>
            <a:ext cx="0" cy="685800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B1C1F45-D65F-88CB-5348-82F74EAE7DAD}"/>
              </a:ext>
            </a:extLst>
          </p:cNvPr>
          <p:cNvCxnSpPr/>
          <p:nvPr/>
        </p:nvCxnSpPr>
        <p:spPr>
          <a:xfrm>
            <a:off x="100781" y="1065553"/>
            <a:ext cx="9195619"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97362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859FD-919E-0BB2-95D3-78E3DDB04140}"/>
              </a:ext>
            </a:extLst>
          </p:cNvPr>
          <p:cNvSpPr>
            <a:spLocks noGrp="1"/>
          </p:cNvSpPr>
          <p:nvPr>
            <p:ph type="title"/>
          </p:nvPr>
        </p:nvSpPr>
        <p:spPr>
          <a:xfrm>
            <a:off x="389389" y="32982"/>
            <a:ext cx="7467600" cy="949452"/>
          </a:xfrm>
        </p:spPr>
        <p:txBody>
          <a:bodyPr/>
          <a:lstStyle/>
          <a:p>
            <a:pPr algn="ctr"/>
            <a:r>
              <a:rPr lang="en-IN" b="1" dirty="0"/>
              <a:t>   </a:t>
            </a:r>
            <a:r>
              <a:rPr lang="en-IN" sz="4000" b="1" dirty="0">
                <a:latin typeface="Times New Roman" panose="02020603050405020304" pitchFamily="18" charset="0"/>
                <a:cs typeface="Times New Roman" panose="02020603050405020304" pitchFamily="18" charset="0"/>
              </a:rPr>
              <a:t>API PROFILE</a:t>
            </a:r>
          </a:p>
        </p:txBody>
      </p:sp>
      <p:sp>
        <p:nvSpPr>
          <p:cNvPr id="3" name="Content Placeholder 2">
            <a:extLst>
              <a:ext uri="{FF2B5EF4-FFF2-40B4-BE49-F238E27FC236}">
                <a16:creationId xmlns:a16="http://schemas.microsoft.com/office/drawing/2014/main" id="{32B776A8-E3EB-43E4-788D-78803C8CB1DD}"/>
              </a:ext>
            </a:extLst>
          </p:cNvPr>
          <p:cNvSpPr>
            <a:spLocks noGrp="1"/>
          </p:cNvSpPr>
          <p:nvPr>
            <p:ph idx="1"/>
          </p:nvPr>
        </p:nvSpPr>
        <p:spPr>
          <a:xfrm>
            <a:off x="457200" y="914400"/>
            <a:ext cx="7467600" cy="5254752"/>
          </a:xfrm>
        </p:spPr>
        <p:txBody>
          <a:bodyPr>
            <a:normAutofit fontScale="25000" lnSpcReduction="20000"/>
          </a:bodyPr>
          <a:lstStyle/>
          <a:p>
            <a:pPr>
              <a:lnSpc>
                <a:spcPct val="107000"/>
              </a:lnSpc>
              <a:spcAft>
                <a:spcPts val="800"/>
              </a:spcAft>
            </a:pPr>
            <a:r>
              <a:rPr lang="en-US" sz="8000" b="1" dirty="0">
                <a:effectLst/>
                <a:latin typeface="Times New Roman" panose="02020603050405020304" pitchFamily="18" charset="0"/>
                <a:ea typeface="Times New Roman" panose="02020603050405020304" pitchFamily="18" charset="0"/>
              </a:rPr>
              <a:t>Molecular formula: </a:t>
            </a:r>
            <a:r>
              <a:rPr lang="en-US" sz="8000" dirty="0">
                <a:effectLst/>
                <a:latin typeface="Times New Roman" panose="02020603050405020304" pitchFamily="18" charset="0"/>
                <a:ea typeface="Times New Roman" panose="02020603050405020304" pitchFamily="18" charset="0"/>
              </a:rPr>
              <a:t>C</a:t>
            </a:r>
            <a:r>
              <a:rPr lang="en-US" sz="8000" baseline="-25000" dirty="0">
                <a:effectLst/>
                <a:latin typeface="Times New Roman" panose="02020603050405020304" pitchFamily="18" charset="0"/>
                <a:ea typeface="Times New Roman" panose="02020603050405020304" pitchFamily="18" charset="0"/>
              </a:rPr>
              <a:t>26</a:t>
            </a:r>
            <a:r>
              <a:rPr lang="en-US" sz="8000" dirty="0">
                <a:effectLst/>
                <a:latin typeface="Times New Roman" panose="02020603050405020304" pitchFamily="18" charset="0"/>
                <a:ea typeface="Times New Roman" panose="02020603050405020304" pitchFamily="18" charset="0"/>
              </a:rPr>
              <a:t>H</a:t>
            </a:r>
            <a:r>
              <a:rPr lang="en-US" sz="8000" baseline="-25000" dirty="0">
                <a:effectLst/>
                <a:latin typeface="Times New Roman" panose="02020603050405020304" pitchFamily="18" charset="0"/>
                <a:ea typeface="Times New Roman" panose="02020603050405020304" pitchFamily="18" charset="0"/>
              </a:rPr>
              <a:t>37</a:t>
            </a:r>
            <a:r>
              <a:rPr lang="en-US" sz="8000" dirty="0">
                <a:effectLst/>
                <a:latin typeface="Times New Roman" panose="02020603050405020304" pitchFamily="18" charset="0"/>
                <a:ea typeface="Times New Roman" panose="02020603050405020304" pitchFamily="18" charset="0"/>
              </a:rPr>
              <a:t>NO</a:t>
            </a:r>
            <a:r>
              <a:rPr lang="en-US" sz="8000" baseline="-25000" dirty="0">
                <a:effectLst/>
                <a:latin typeface="Times New Roman" panose="02020603050405020304" pitchFamily="18" charset="0"/>
                <a:ea typeface="Times New Roman" panose="02020603050405020304" pitchFamily="18" charset="0"/>
              </a:rPr>
              <a:t>3</a:t>
            </a:r>
            <a:endParaRPr lang="en-IN" sz="8000" dirty="0">
              <a:effectLst/>
              <a:latin typeface="Times New Roman" panose="02020603050405020304" pitchFamily="18" charset="0"/>
              <a:ea typeface="Times New Roman" panose="02020603050405020304" pitchFamily="18" charset="0"/>
            </a:endParaRPr>
          </a:p>
          <a:p>
            <a:pPr>
              <a:lnSpc>
                <a:spcPct val="107000"/>
              </a:lnSpc>
              <a:spcAft>
                <a:spcPts val="800"/>
              </a:spcAft>
            </a:pPr>
            <a:r>
              <a:rPr lang="en-US" sz="8000" b="1" dirty="0">
                <a:effectLst/>
                <a:latin typeface="Times New Roman" panose="02020603050405020304" pitchFamily="18" charset="0"/>
                <a:ea typeface="Times New Roman" panose="02020603050405020304" pitchFamily="18" charset="0"/>
              </a:rPr>
              <a:t>Molecular weight</a:t>
            </a:r>
            <a:r>
              <a:rPr lang="en-US" sz="8000" dirty="0">
                <a:effectLst/>
                <a:latin typeface="Times New Roman" panose="02020603050405020304" pitchFamily="18" charset="0"/>
                <a:ea typeface="Times New Roman" panose="02020603050405020304" pitchFamily="18" charset="0"/>
              </a:rPr>
              <a:t>: Average: 411.5769, </a:t>
            </a:r>
          </a:p>
          <a:p>
            <a:pPr>
              <a:lnSpc>
                <a:spcPct val="107000"/>
              </a:lnSpc>
              <a:spcAft>
                <a:spcPts val="800"/>
              </a:spcAft>
            </a:pPr>
            <a:r>
              <a:rPr lang="en-US" sz="8000" b="1" dirty="0">
                <a:effectLst/>
                <a:latin typeface="Times New Roman" panose="02020603050405020304" pitchFamily="18" charset="0"/>
                <a:ea typeface="Times New Roman" panose="02020603050405020304" pitchFamily="18" charset="0"/>
              </a:rPr>
              <a:t>Brand name</a:t>
            </a:r>
            <a:r>
              <a:rPr lang="en-US" sz="8000" dirty="0">
                <a:effectLst/>
                <a:latin typeface="Times New Roman" panose="02020603050405020304" pitchFamily="18" charset="0"/>
                <a:ea typeface="Times New Roman" panose="02020603050405020304" pitchFamily="18" charset="0"/>
              </a:rPr>
              <a:t>: Toviaz tablets</a:t>
            </a:r>
            <a:endParaRPr lang="en-IN" sz="8000" dirty="0">
              <a:effectLst/>
              <a:latin typeface="Times New Roman" panose="02020603050405020304" pitchFamily="18" charset="0"/>
              <a:ea typeface="Times New Roman" panose="02020603050405020304" pitchFamily="18" charset="0"/>
            </a:endParaRPr>
          </a:p>
          <a:p>
            <a:pPr>
              <a:lnSpc>
                <a:spcPct val="107000"/>
              </a:lnSpc>
              <a:spcAft>
                <a:spcPts val="800"/>
              </a:spcAft>
            </a:pPr>
            <a:r>
              <a:rPr lang="en-US" sz="8000" b="1" dirty="0">
                <a:effectLst/>
                <a:latin typeface="Times New Roman" panose="02020603050405020304" pitchFamily="18" charset="0"/>
                <a:ea typeface="Times New Roman" panose="02020603050405020304" pitchFamily="18" charset="0"/>
              </a:rPr>
              <a:t>Category:</a:t>
            </a:r>
            <a:r>
              <a:rPr lang="en-US" sz="8000" dirty="0">
                <a:effectLst/>
                <a:latin typeface="Times New Roman" panose="02020603050405020304" pitchFamily="18" charset="0"/>
                <a:ea typeface="Times New Roman" panose="02020603050405020304" pitchFamily="18" charset="0"/>
              </a:rPr>
              <a:t> Antimuscarinic</a:t>
            </a:r>
            <a:endParaRPr lang="en-IN" sz="8000" dirty="0">
              <a:effectLst/>
              <a:latin typeface="Times New Roman" panose="02020603050405020304" pitchFamily="18" charset="0"/>
              <a:ea typeface="Times New Roman" panose="02020603050405020304" pitchFamily="18" charset="0"/>
            </a:endParaRPr>
          </a:p>
          <a:p>
            <a:pPr>
              <a:lnSpc>
                <a:spcPct val="107000"/>
              </a:lnSpc>
              <a:spcAft>
                <a:spcPts val="800"/>
              </a:spcAft>
            </a:pPr>
            <a:r>
              <a:rPr lang="en-US" sz="8000" b="1" dirty="0">
                <a:effectLst/>
                <a:latin typeface="Times New Roman" panose="02020603050405020304" pitchFamily="18" charset="0"/>
                <a:ea typeface="Times New Roman" panose="02020603050405020304" pitchFamily="18" charset="0"/>
              </a:rPr>
              <a:t>IUPAC Name:</a:t>
            </a:r>
            <a:r>
              <a:rPr lang="en-US" sz="8000" dirty="0">
                <a:effectLst/>
                <a:latin typeface="Times New Roman" panose="02020603050405020304" pitchFamily="18" charset="0"/>
                <a:ea typeface="Times New Roman" panose="02020603050405020304" pitchFamily="18" charset="0"/>
              </a:rPr>
              <a:t>  2- [ (1R)-3- [bis (propan-2-yl) amino]-1-phenylpropyl]-4- (hydroxymethyl)phenyl 2-methyl propanoate</a:t>
            </a:r>
          </a:p>
          <a:p>
            <a:pPr>
              <a:lnSpc>
                <a:spcPct val="107000"/>
              </a:lnSpc>
              <a:spcAft>
                <a:spcPts val="800"/>
              </a:spcAft>
            </a:pPr>
            <a:r>
              <a:rPr lang="en-IN" sz="8000" b="1" dirty="0">
                <a:effectLst/>
                <a:latin typeface="Times New Roman" panose="02020603050405020304" pitchFamily="18" charset="0"/>
                <a:ea typeface="Times New Roman" panose="02020603050405020304" pitchFamily="18" charset="0"/>
              </a:rPr>
              <a:t>Bioavailability: </a:t>
            </a:r>
            <a:r>
              <a:rPr lang="en-IN" sz="8000" dirty="0">
                <a:effectLst/>
                <a:latin typeface="Times New Roman" panose="02020603050405020304" pitchFamily="18" charset="0"/>
                <a:ea typeface="Times New Roman" panose="02020603050405020304" pitchFamily="18" charset="0"/>
              </a:rPr>
              <a:t>5-HMT = 28%</a:t>
            </a:r>
          </a:p>
          <a:p>
            <a:pPr>
              <a:lnSpc>
                <a:spcPct val="107000"/>
              </a:lnSpc>
              <a:spcAft>
                <a:spcPts val="800"/>
              </a:spcAft>
            </a:pPr>
            <a:r>
              <a:rPr lang="en-IN" sz="8000" b="1" dirty="0">
                <a:latin typeface="Times New Roman" pitchFamily="18" charset="0"/>
                <a:cs typeface="Times New Roman" pitchFamily="18" charset="0"/>
              </a:rPr>
              <a:t>Metabolism:</a:t>
            </a:r>
            <a:r>
              <a:rPr lang="en-IN" sz="8000" dirty="0">
                <a:latin typeface="Times New Roman" pitchFamily="18" charset="0"/>
                <a:cs typeface="Times New Roman" pitchFamily="18" charset="0"/>
              </a:rPr>
              <a:t> Liver</a:t>
            </a:r>
          </a:p>
          <a:p>
            <a:pPr>
              <a:lnSpc>
                <a:spcPct val="107000"/>
              </a:lnSpc>
              <a:spcAft>
                <a:spcPts val="800"/>
              </a:spcAft>
            </a:pPr>
            <a:r>
              <a:rPr lang="en-US" sz="8000" b="1" kern="0" dirty="0">
                <a:effectLst/>
                <a:latin typeface="Times New Roman" panose="02020603050405020304" pitchFamily="18" charset="0"/>
                <a:ea typeface="Times New Roman" panose="02020603050405020304" pitchFamily="18" charset="0"/>
              </a:rPr>
              <a:t>Half-life: </a:t>
            </a:r>
            <a:r>
              <a:rPr lang="en-US" sz="8000" kern="0" dirty="0">
                <a:effectLst/>
                <a:latin typeface="Times New Roman" panose="02020603050405020304" pitchFamily="18" charset="0"/>
                <a:ea typeface="Times New Roman" panose="02020603050405020304" pitchFamily="18" charset="0"/>
              </a:rPr>
              <a:t>7-8 hours </a:t>
            </a:r>
            <a:endParaRPr lang="en-US" sz="8000" kern="0" dirty="0">
              <a:latin typeface="Times New Roman" panose="02020603050405020304" pitchFamily="18" charset="0"/>
              <a:ea typeface="Times New Roman" panose="02020603050405020304" pitchFamily="18" charset="0"/>
            </a:endParaRPr>
          </a:p>
          <a:p>
            <a:pPr>
              <a:lnSpc>
                <a:spcPct val="107000"/>
              </a:lnSpc>
              <a:spcAft>
                <a:spcPts val="800"/>
              </a:spcAft>
            </a:pPr>
            <a:r>
              <a:rPr lang="en-US" sz="8000" b="1" dirty="0">
                <a:effectLst/>
                <a:latin typeface="Times New Roman" panose="02020603050405020304" pitchFamily="18" charset="0"/>
                <a:ea typeface="Times New Roman" panose="02020603050405020304" pitchFamily="18" charset="0"/>
              </a:rPr>
              <a:t>Mechanism of action:</a:t>
            </a:r>
            <a:r>
              <a:rPr lang="en-US" sz="8000" dirty="0">
                <a:effectLst/>
                <a:latin typeface="Times New Roman" panose="02020603050405020304" pitchFamily="18" charset="0"/>
                <a:ea typeface="Times New Roman" panose="02020603050405020304" pitchFamily="18" charset="0"/>
              </a:rPr>
              <a:t> Fesoterodine, once converted to its active metabolite, 5-hydroxymethyl tolterodine, acts as a competitive antagonist at muscarinic receptors. This results in the inhibition of bladder contraction, a decrease in detrusor pressure, and incomplete emptying of the bladder.</a:t>
            </a:r>
            <a:endParaRPr lang="en-IN" sz="8000" dirty="0">
              <a:effectLst/>
              <a:latin typeface="Times New Roman" panose="02020603050405020304" pitchFamily="18" charset="0"/>
              <a:ea typeface="Times New Roman" panose="02020603050405020304" pitchFamily="18" charset="0"/>
            </a:endParaRPr>
          </a:p>
          <a:p>
            <a:pPr>
              <a:lnSpc>
                <a:spcPct val="107000"/>
              </a:lnSpc>
              <a:spcAft>
                <a:spcPts val="800"/>
              </a:spcAft>
            </a:pPr>
            <a:endParaRPr lang="en-IN" sz="8000" dirty="0">
              <a:effectLst/>
              <a:latin typeface="Times New Roman" panose="02020603050405020304" pitchFamily="18" charset="0"/>
              <a:ea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5687B48E-9947-181D-2674-B4A0A2CD498C}"/>
              </a:ext>
            </a:extLst>
          </p:cNvPr>
          <p:cNvSpPr>
            <a:spLocks noGrp="1"/>
          </p:cNvSpPr>
          <p:nvPr>
            <p:ph type="sldNum" sz="quarter" idx="12"/>
          </p:nvPr>
        </p:nvSpPr>
        <p:spPr/>
        <p:txBody>
          <a:bodyPr/>
          <a:lstStyle/>
          <a:p>
            <a:fld id="{6C412A46-B304-460B-BA6E-26B326EC1AA6}" type="slidenum">
              <a:rPr lang="en-US" smtClean="0"/>
              <a:pPr/>
              <a:t>7</a:t>
            </a:fld>
            <a:endParaRPr lang="en-US"/>
          </a:p>
        </p:txBody>
      </p:sp>
    </p:spTree>
    <p:extLst>
      <p:ext uri="{BB962C8B-B14F-4D97-AF65-F5344CB8AC3E}">
        <p14:creationId xmlns:p14="http://schemas.microsoft.com/office/powerpoint/2010/main" val="1971270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8C648-F19C-86F7-4AD8-5E89C3F59E7C}"/>
              </a:ext>
            </a:extLst>
          </p:cNvPr>
          <p:cNvSpPr>
            <a:spLocks noGrp="1"/>
          </p:cNvSpPr>
          <p:nvPr>
            <p:ph type="title"/>
          </p:nvPr>
        </p:nvSpPr>
        <p:spPr>
          <a:xfrm>
            <a:off x="457200" y="274638"/>
            <a:ext cx="7848600" cy="715962"/>
          </a:xfrm>
        </p:spPr>
        <p:txBody>
          <a:bodyPr>
            <a:normAutofit/>
          </a:bodyPr>
          <a:lstStyle/>
          <a:p>
            <a:pPr algn="ctr"/>
            <a:r>
              <a:rPr lang="en-IN" sz="4000" b="1" dirty="0">
                <a:latin typeface="Times New Roman" panose="02020603050405020304" pitchFamily="18" charset="0"/>
                <a:cs typeface="Times New Roman" panose="02020603050405020304" pitchFamily="18" charset="0"/>
              </a:rPr>
              <a:t>   LITERATURE REVIEW</a:t>
            </a:r>
          </a:p>
        </p:txBody>
      </p:sp>
      <p:sp>
        <p:nvSpPr>
          <p:cNvPr id="3" name="Content Placeholder 2">
            <a:extLst>
              <a:ext uri="{FF2B5EF4-FFF2-40B4-BE49-F238E27FC236}">
                <a16:creationId xmlns:a16="http://schemas.microsoft.com/office/drawing/2014/main" id="{A142BFD3-CFEA-D7A3-EADE-E7B00F9BC12B}"/>
              </a:ext>
            </a:extLst>
          </p:cNvPr>
          <p:cNvSpPr>
            <a:spLocks noGrp="1"/>
          </p:cNvSpPr>
          <p:nvPr>
            <p:ph idx="1"/>
          </p:nvPr>
        </p:nvSpPr>
        <p:spPr>
          <a:xfrm>
            <a:off x="228600" y="1219200"/>
            <a:ext cx="8763000" cy="3962400"/>
          </a:xfrm>
        </p:spPr>
        <p:txBody>
          <a:bodyPr>
            <a:noAutofit/>
          </a:bodyPr>
          <a:lstStyle/>
          <a:p>
            <a:r>
              <a:rPr lang="en-US" sz="1800" b="1" kern="0" dirty="0">
                <a:effectLst/>
                <a:latin typeface="Times New Roman" panose="02020603050405020304" pitchFamily="18" charset="0"/>
                <a:ea typeface="Times New Roman" panose="02020603050405020304" pitchFamily="18" charset="0"/>
              </a:rPr>
              <a:t>Kanchan Gupta et al., (2010) </a:t>
            </a:r>
            <a:r>
              <a:rPr lang="en-US" sz="1800" kern="0" dirty="0">
                <a:effectLst/>
                <a:latin typeface="Times New Roman" panose="02020603050405020304" pitchFamily="18" charset="0"/>
                <a:ea typeface="Times New Roman" panose="02020603050405020304" pitchFamily="18" charset="0"/>
              </a:rPr>
              <a:t>This review suggested providing an overview of the mechanism of action of and clinical trial data for Fesoterodine Fumarate, and discuss the present status of Fesoterodine in the management of OAB.</a:t>
            </a:r>
          </a:p>
          <a:p>
            <a:r>
              <a:rPr lang="en-US" sz="1800" b="1" kern="0" dirty="0">
                <a:effectLst/>
                <a:latin typeface="Times New Roman" panose="02020603050405020304" pitchFamily="18" charset="0"/>
                <a:ea typeface="Times New Roman" panose="02020603050405020304" pitchFamily="18" charset="0"/>
              </a:rPr>
              <a:t>Bilal Chughtai et al., (2015)</a:t>
            </a:r>
            <a:r>
              <a:rPr lang="en-US" sz="1800" kern="0" dirty="0">
                <a:effectLst/>
                <a:latin typeface="Times New Roman" panose="02020603050405020304" pitchFamily="18" charset="0"/>
                <a:ea typeface="Times New Roman" panose="02020603050405020304" pitchFamily="18" charset="0"/>
              </a:rPr>
              <a:t> This article discusses the efficacy of long-acting fesoterodine on persistent lower urinary tract symptoms in men who have had previous surgical treatment for Bladder Outlet </a:t>
            </a:r>
            <a:r>
              <a:rPr lang="en-US" sz="1800" kern="0" dirty="0">
                <a:latin typeface="Times New Roman" panose="02020603050405020304" pitchFamily="18" charset="0"/>
                <a:ea typeface="Times New Roman" panose="02020603050405020304" pitchFamily="18" charset="0"/>
              </a:rPr>
              <a:t>O</a:t>
            </a:r>
            <a:r>
              <a:rPr lang="en-US" sz="1800" kern="0" dirty="0">
                <a:effectLst/>
                <a:latin typeface="Times New Roman" panose="02020603050405020304" pitchFamily="18" charset="0"/>
                <a:ea typeface="Times New Roman" panose="02020603050405020304" pitchFamily="18" charset="0"/>
              </a:rPr>
              <a:t>bstruction (BOO).</a:t>
            </a:r>
          </a:p>
          <a:p>
            <a:r>
              <a:rPr lang="en-US" sz="1800" b="1" kern="0" dirty="0" err="1">
                <a:effectLst/>
                <a:latin typeface="Times New Roman" panose="02020603050405020304" pitchFamily="18" charset="0"/>
                <a:ea typeface="Times New Roman" panose="02020603050405020304" pitchFamily="18" charset="0"/>
              </a:rPr>
              <a:t>Shizuo</a:t>
            </a:r>
            <a:r>
              <a:rPr lang="en-US" sz="1800" b="1" kern="0" dirty="0">
                <a:effectLst/>
                <a:latin typeface="Times New Roman" panose="02020603050405020304" pitchFamily="18" charset="0"/>
                <a:ea typeface="Times New Roman" panose="02020603050405020304" pitchFamily="18" charset="0"/>
              </a:rPr>
              <a:t> Yamada et al., (2019) </a:t>
            </a:r>
            <a:r>
              <a:rPr lang="en-US" sz="1800" kern="0" dirty="0">
                <a:effectLst/>
                <a:latin typeface="Times New Roman" panose="02020603050405020304" pitchFamily="18" charset="0"/>
                <a:ea typeface="Times New Roman" panose="02020603050405020304" pitchFamily="18" charset="0"/>
              </a:rPr>
              <a:t>The present study aimed to characterize the muscarinic receptor binding of fesoterodine, 5-hydroxymethyl tolterodine (5-HMT), and tolterodine in the bladder and other tissues of rats after their oral, intravenous, or intravesical administration. </a:t>
            </a:r>
            <a:endParaRPr lang="en-US" sz="1800" kern="0" dirty="0">
              <a:latin typeface="Times New Roman" panose="02020603050405020304" pitchFamily="18" charset="0"/>
              <a:ea typeface="Times New Roman" panose="02020603050405020304" pitchFamily="18" charset="0"/>
            </a:endParaRPr>
          </a:p>
          <a:p>
            <a:r>
              <a:rPr lang="en-US" sz="1800" b="1" kern="0" dirty="0">
                <a:effectLst/>
                <a:latin typeface="Times New Roman" panose="02020603050405020304" pitchFamily="18" charset="0"/>
                <a:ea typeface="Times New Roman" panose="02020603050405020304" pitchFamily="18" charset="0"/>
              </a:rPr>
              <a:t>Maria Tzefos et al., (2009) </a:t>
            </a:r>
            <a:r>
              <a:rPr lang="en-US" sz="1800" kern="0" dirty="0">
                <a:effectLst/>
                <a:latin typeface="Times New Roman" panose="02020603050405020304" pitchFamily="18" charset="0"/>
                <a:ea typeface="Times New Roman" panose="02020603050405020304" pitchFamily="18" charset="0"/>
              </a:rPr>
              <a:t>This article suggests</a:t>
            </a:r>
            <a:r>
              <a:rPr lang="en-US" sz="1800" b="1" kern="0" dirty="0">
                <a:effectLst/>
                <a:latin typeface="Times New Roman" panose="02020603050405020304" pitchFamily="18" charset="0"/>
                <a:ea typeface="Times New Roman" panose="02020603050405020304" pitchFamily="18" charset="0"/>
              </a:rPr>
              <a:t> </a:t>
            </a:r>
            <a:r>
              <a:rPr lang="en-US" sz="1800" kern="0" dirty="0">
                <a:effectLst/>
                <a:latin typeface="Times New Roman" panose="02020603050405020304" pitchFamily="18" charset="0"/>
                <a:ea typeface="Times New Roman" panose="02020603050405020304" pitchFamily="18" charset="0"/>
              </a:rPr>
              <a:t>pharmacologic, pharmacokinetic, efficacy, and safety data for fesoterodine and determines its role in the treatment of overactive bladder. Fesoterodine appears to be effective and generally safe for the treatment of overactive bladder. </a:t>
            </a:r>
          </a:p>
          <a:p>
            <a:r>
              <a:rPr lang="en-US" sz="1800" b="1" kern="0" dirty="0">
                <a:effectLst/>
                <a:latin typeface="Times New Roman" panose="02020603050405020304" pitchFamily="18" charset="0"/>
                <a:ea typeface="Times New Roman" panose="02020603050405020304" pitchFamily="18" charset="0"/>
              </a:rPr>
              <a:t>Kylie J Mansfield et al., (2009) </a:t>
            </a:r>
            <a:r>
              <a:rPr lang="en-US" sz="1800" kern="0" dirty="0">
                <a:effectLst/>
                <a:latin typeface="Times New Roman" panose="02020603050405020304" pitchFamily="18" charset="0"/>
                <a:ea typeface="Times New Roman" panose="02020603050405020304" pitchFamily="18" charset="0"/>
              </a:rPr>
              <a:t>This review article identifies that Muscarinic receptors have long been the target receptors for the treatment of patients with overactive bladder (OAB).</a:t>
            </a:r>
          </a:p>
          <a:p>
            <a:endParaRPr lang="en-IN" sz="1800" dirty="0"/>
          </a:p>
        </p:txBody>
      </p:sp>
      <p:sp>
        <p:nvSpPr>
          <p:cNvPr id="4" name="Slide Number Placeholder 3">
            <a:extLst>
              <a:ext uri="{FF2B5EF4-FFF2-40B4-BE49-F238E27FC236}">
                <a16:creationId xmlns:a16="http://schemas.microsoft.com/office/drawing/2014/main" id="{C17DA24B-FC08-5AE9-B32A-1FCF75A6ECB6}"/>
              </a:ext>
            </a:extLst>
          </p:cNvPr>
          <p:cNvSpPr>
            <a:spLocks noGrp="1"/>
          </p:cNvSpPr>
          <p:nvPr>
            <p:ph type="sldNum" sz="quarter" idx="12"/>
          </p:nvPr>
        </p:nvSpPr>
        <p:spPr/>
        <p:txBody>
          <a:bodyPr/>
          <a:lstStyle/>
          <a:p>
            <a:fld id="{6C412A46-B304-460B-BA6E-26B326EC1AA6}" type="slidenum">
              <a:rPr lang="en-US" smtClean="0"/>
              <a:pPr/>
              <a:t>8</a:t>
            </a:fld>
            <a:endParaRPr lang="en-US"/>
          </a:p>
        </p:txBody>
      </p:sp>
    </p:spTree>
    <p:extLst>
      <p:ext uri="{BB962C8B-B14F-4D97-AF65-F5344CB8AC3E}">
        <p14:creationId xmlns:p14="http://schemas.microsoft.com/office/powerpoint/2010/main" val="159331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547" y="358857"/>
            <a:ext cx="7467600" cy="609600"/>
          </a:xfrm>
        </p:spPr>
        <p:txBody>
          <a:bodyPr>
            <a:normAutofit fontScale="90000"/>
          </a:bodyPr>
          <a:lstStyle/>
          <a:p>
            <a:pPr lvl="0" algn="ctr"/>
            <a:r>
              <a:rPr lang="en-US" sz="4400" b="1" dirty="0">
                <a:latin typeface="Times New Roman" panose="02020603050405020304" pitchFamily="18" charset="0"/>
                <a:cs typeface="Times New Roman" panose="02020603050405020304" pitchFamily="18" charset="0"/>
              </a:rPr>
              <a:t>PLAN OF WORK</a:t>
            </a:r>
            <a:br>
              <a:rPr lang="en-US" b="1" dirty="0">
                <a:latin typeface="Times New Roman" pitchFamily="18" charset="0"/>
                <a:cs typeface="Times New Roman" pitchFamily="18" charset="0"/>
              </a:rPr>
            </a:br>
            <a:endParaRPr lang="en-US" dirty="0"/>
          </a:p>
        </p:txBody>
      </p:sp>
      <p:sp>
        <p:nvSpPr>
          <p:cNvPr id="3" name="Content Placeholder 2"/>
          <p:cNvSpPr>
            <a:spLocks noGrp="1"/>
          </p:cNvSpPr>
          <p:nvPr>
            <p:ph idx="1"/>
          </p:nvPr>
        </p:nvSpPr>
        <p:spPr>
          <a:xfrm>
            <a:off x="223647" y="663657"/>
            <a:ext cx="8153400" cy="5638800"/>
          </a:xfrm>
        </p:spPr>
        <p:txBody>
          <a:bodyPr>
            <a:normAutofit/>
          </a:bodyPr>
          <a:lstStyle/>
          <a:p>
            <a:pPr marL="365760" lvl="1" indent="0">
              <a:lnSpc>
                <a:spcPct val="150000"/>
              </a:lnSpc>
              <a:buNone/>
            </a:pPr>
            <a:endParaRPr lang="en-IN" sz="2000" dirty="0">
              <a:latin typeface="Times New Roman" pitchFamily="18" charset="0"/>
              <a:cs typeface="Times New Roman" pitchFamily="18" charset="0"/>
            </a:endParaRPr>
          </a:p>
          <a:p>
            <a:pPr marL="365760" lvl="1" indent="0">
              <a:lnSpc>
                <a:spcPct val="150000"/>
              </a:lnSpc>
              <a:buNone/>
            </a:pPr>
            <a:r>
              <a:rPr lang="en-IN" sz="2000" dirty="0">
                <a:latin typeface="Times New Roman" pitchFamily="18" charset="0"/>
                <a:cs typeface="Times New Roman" pitchFamily="18" charset="0"/>
              </a:rPr>
              <a:t>1. Selection of drug- depends on dosage, solubility, lipophilicity</a:t>
            </a:r>
          </a:p>
          <a:p>
            <a:pPr marL="365760" lvl="1" indent="0">
              <a:lnSpc>
                <a:spcPct val="150000"/>
              </a:lnSpc>
              <a:buNone/>
            </a:pPr>
            <a:r>
              <a:rPr lang="en-IN" sz="2000" dirty="0">
                <a:latin typeface="Times New Roman" pitchFamily="18" charset="0"/>
                <a:cs typeface="Times New Roman" pitchFamily="18" charset="0"/>
              </a:rPr>
              <a:t>2. Polymer selection- depends on drug-excipient compatibility, solubility</a:t>
            </a:r>
          </a:p>
          <a:p>
            <a:pPr marL="365760" lvl="1" indent="0">
              <a:lnSpc>
                <a:spcPct val="150000"/>
              </a:lnSpc>
              <a:buNone/>
            </a:pPr>
            <a:r>
              <a:rPr lang="en-IN" sz="2000" dirty="0">
                <a:latin typeface="Times New Roman" pitchFamily="18" charset="0"/>
                <a:cs typeface="Times New Roman" pitchFamily="18" charset="0"/>
              </a:rPr>
              <a:t>3. Preparation of microbeads for Fesoterodine Fumarate with polymers</a:t>
            </a:r>
          </a:p>
          <a:p>
            <a:pPr marL="365760" lvl="1" indent="0">
              <a:lnSpc>
                <a:spcPct val="150000"/>
              </a:lnSpc>
              <a:buNone/>
            </a:pPr>
            <a:r>
              <a:rPr lang="en-IN" sz="2000" dirty="0">
                <a:latin typeface="Times New Roman" pitchFamily="18" charset="0"/>
                <a:cs typeface="Times New Roman" pitchFamily="18" charset="0"/>
              </a:rPr>
              <a:t>4. Evaluation of sustained release microbeads</a:t>
            </a:r>
          </a:p>
          <a:p>
            <a:pPr marL="365760" lvl="1" indent="0">
              <a:lnSpc>
                <a:spcPct val="150000"/>
              </a:lnSpc>
              <a:buNone/>
            </a:pPr>
            <a:r>
              <a:rPr lang="en-IN" sz="2000" dirty="0">
                <a:latin typeface="Times New Roman" pitchFamily="18" charset="0"/>
                <a:cs typeface="Times New Roman" pitchFamily="18" charset="0"/>
              </a:rPr>
              <a:t>•	Bead size measurement </a:t>
            </a:r>
          </a:p>
          <a:p>
            <a:pPr marL="365760" lvl="1" indent="0">
              <a:lnSpc>
                <a:spcPct val="150000"/>
              </a:lnSpc>
              <a:buNone/>
            </a:pPr>
            <a:r>
              <a:rPr lang="en-IN" sz="2000" dirty="0">
                <a:latin typeface="Times New Roman" pitchFamily="18" charset="0"/>
                <a:cs typeface="Times New Roman" pitchFamily="18" charset="0"/>
              </a:rPr>
              <a:t>•	Swelling Index</a:t>
            </a:r>
          </a:p>
          <a:p>
            <a:pPr marL="365760" lvl="1" indent="0">
              <a:lnSpc>
                <a:spcPct val="150000"/>
              </a:lnSpc>
              <a:buNone/>
            </a:pPr>
            <a:r>
              <a:rPr lang="en-IN" sz="2000" dirty="0">
                <a:latin typeface="Times New Roman" pitchFamily="18" charset="0"/>
                <a:cs typeface="Times New Roman" pitchFamily="18" charset="0"/>
              </a:rPr>
              <a:t>•	In-vitro dissolution studies</a:t>
            </a:r>
          </a:p>
          <a:p>
            <a:pPr marL="365760" lvl="1" indent="0">
              <a:lnSpc>
                <a:spcPct val="150000"/>
              </a:lnSpc>
              <a:buNone/>
            </a:pPr>
            <a:r>
              <a:rPr lang="en-IN" sz="2000" dirty="0">
                <a:latin typeface="Times New Roman" pitchFamily="18" charset="0"/>
                <a:cs typeface="Times New Roman" pitchFamily="18" charset="0"/>
              </a:rPr>
              <a:t>•	Fourier Transform Infra-Red Spectroscopy</a:t>
            </a:r>
          </a:p>
          <a:p>
            <a:pPr marL="365760" lvl="1" indent="0">
              <a:lnSpc>
                <a:spcPct val="150000"/>
              </a:lnSpc>
              <a:buNone/>
            </a:pPr>
            <a:r>
              <a:rPr lang="en-IN" sz="2000" dirty="0">
                <a:latin typeface="Times New Roman" pitchFamily="18" charset="0"/>
                <a:cs typeface="Times New Roman" pitchFamily="18" charset="0"/>
              </a:rPr>
              <a:t>•	Drug Content of the beads</a:t>
            </a:r>
          </a:p>
          <a:p>
            <a:pPr lvl="1">
              <a:lnSpc>
                <a:spcPct val="150000"/>
              </a:lnSpc>
              <a:buFont typeface="Arial" pitchFamily="34" charset="0"/>
              <a:buChar char="•"/>
            </a:pPr>
            <a:endParaRPr lang="en-IN" sz="1400"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68A8AC53-D531-3E8A-CA58-2351C1CE0244}"/>
              </a:ext>
            </a:extLst>
          </p:cNvPr>
          <p:cNvSpPr>
            <a:spLocks noGrp="1"/>
          </p:cNvSpPr>
          <p:nvPr>
            <p:ph type="sldNum" sz="quarter" idx="12"/>
          </p:nvPr>
        </p:nvSpPr>
        <p:spPr/>
        <p:txBody>
          <a:bodyPr/>
          <a:lstStyle/>
          <a:p>
            <a:fld id="{6C412A46-B304-460B-BA6E-26B326EC1AA6}"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697" y="143569"/>
            <a:ext cx="7467600" cy="639762"/>
          </a:xfrm>
        </p:spPr>
        <p:txBody>
          <a:bodyPr>
            <a:noAutofit/>
          </a:bodyPr>
          <a:lstStyle/>
          <a:p>
            <a:pPr algn="ctr"/>
            <a:r>
              <a:rPr lang="en-US" sz="4000" b="1" dirty="0">
                <a:latin typeface="Times New Roman" panose="02020603050405020304" pitchFamily="18" charset="0"/>
                <a:cs typeface="Times New Roman" panose="02020603050405020304" pitchFamily="18" charset="0"/>
              </a:rPr>
              <a:t>NEED OF WORK</a:t>
            </a:r>
          </a:p>
        </p:txBody>
      </p:sp>
      <p:sp>
        <p:nvSpPr>
          <p:cNvPr id="3" name="Content Placeholder 2"/>
          <p:cNvSpPr>
            <a:spLocks noGrp="1"/>
          </p:cNvSpPr>
          <p:nvPr>
            <p:ph idx="1"/>
          </p:nvPr>
        </p:nvSpPr>
        <p:spPr>
          <a:xfrm>
            <a:off x="486696" y="1063423"/>
            <a:ext cx="8200103" cy="4873752"/>
          </a:xfrm>
        </p:spPr>
        <p:txBody>
          <a:bodyPr>
            <a:noAutofit/>
          </a:bodyPr>
          <a:lstStyle/>
          <a:p>
            <a:r>
              <a:rPr lang="en-US" sz="2000" dirty="0">
                <a:latin typeface="Times New Roman" pitchFamily="18" charset="0"/>
                <a:cs typeface="Times New Roman" pitchFamily="18" charset="0"/>
              </a:rPr>
              <a:t>A number of conventional pharmaceutical dosage forms are available, but their bioavailability is not up to the mark.</a:t>
            </a:r>
          </a:p>
          <a:p>
            <a:r>
              <a:rPr lang="en-US" sz="2000" dirty="0">
                <a:latin typeface="Times New Roman" pitchFamily="18" charset="0"/>
                <a:cs typeface="Times New Roman" pitchFamily="18" charset="0"/>
              </a:rPr>
              <a:t>In order to increase bioavailability  and to improve other pharmacokinetic parameters,</a:t>
            </a:r>
            <a:r>
              <a:rPr lang="en-US" sz="2000" kern="0" dirty="0">
                <a:effectLst/>
                <a:latin typeface="Times New Roman" panose="02020603050405020304" pitchFamily="18" charset="0"/>
                <a:ea typeface="Times New Roman" panose="02020603050405020304" pitchFamily="18" charset="0"/>
              </a:rPr>
              <a:t> Formulation and </a:t>
            </a:r>
            <a:r>
              <a:rPr lang="en-US" sz="2000" i="1" kern="0" dirty="0">
                <a:effectLst/>
                <a:latin typeface="Times New Roman" panose="02020603050405020304" pitchFamily="18" charset="0"/>
                <a:ea typeface="Times New Roman" panose="02020603050405020304" pitchFamily="18" charset="0"/>
              </a:rPr>
              <a:t>In-Vitro</a:t>
            </a:r>
            <a:r>
              <a:rPr lang="en-US" sz="2000" kern="0" dirty="0">
                <a:effectLst/>
                <a:latin typeface="Times New Roman" panose="02020603050405020304" pitchFamily="18" charset="0"/>
                <a:ea typeface="Times New Roman" panose="02020603050405020304" pitchFamily="18" charset="0"/>
              </a:rPr>
              <a:t> Evaluation of Fesoterodine Fumarate Loaded Microbeads By Ion Gelation Method </a:t>
            </a:r>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Issues like dissolution rate are improved when the drug is incorporated into Microbeads.</a:t>
            </a:r>
          </a:p>
          <a:p>
            <a:r>
              <a:rPr lang="en-US" sz="2000" dirty="0">
                <a:latin typeface="Times New Roman" pitchFamily="18" charset="0"/>
                <a:cs typeface="Times New Roman" pitchFamily="18" charset="0"/>
              </a:rPr>
              <a:t>Stability, the therapeutic efficacy of the drug will be increased in the form of Microbeads.</a:t>
            </a:r>
          </a:p>
          <a:p>
            <a:r>
              <a:rPr lang="en-US" sz="2000" dirty="0">
                <a:latin typeface="Times New Roman" pitchFamily="18" charset="0"/>
                <a:cs typeface="Times New Roman" pitchFamily="18" charset="0"/>
              </a:rPr>
              <a:t>Recent trends in pharmaceutical technology indicate that alginate beads as drug delivery systems are especially suitable for achieving delivery of drugs at a predetermined rate locally or systemically for a prolonged period</a:t>
            </a:r>
          </a:p>
          <a:p>
            <a:r>
              <a:rPr lang="en-US" sz="2000" dirty="0">
                <a:latin typeface="Times New Roman" pitchFamily="18" charset="0"/>
                <a:cs typeface="Times New Roman" pitchFamily="18" charset="0"/>
              </a:rPr>
              <a:t>The sustained release system has more therapeutic activity of a drug when compared to immediate release.</a:t>
            </a:r>
          </a:p>
        </p:txBody>
      </p:sp>
      <p:sp>
        <p:nvSpPr>
          <p:cNvPr id="4" name="Slide Number Placeholder 3">
            <a:extLst>
              <a:ext uri="{FF2B5EF4-FFF2-40B4-BE49-F238E27FC236}">
                <a16:creationId xmlns:a16="http://schemas.microsoft.com/office/drawing/2014/main" id="{21CF0340-98F6-3AE0-4B94-BAC5D9A9B793}"/>
              </a:ext>
            </a:extLst>
          </p:cNvPr>
          <p:cNvSpPr>
            <a:spLocks noGrp="1"/>
          </p:cNvSpPr>
          <p:nvPr>
            <p:ph type="sldNum" sz="quarter" idx="12"/>
          </p:nvPr>
        </p:nvSpPr>
        <p:spPr/>
        <p:txBody>
          <a:bodyPr/>
          <a:lstStyle/>
          <a:p>
            <a:fld id="{6C412A46-B304-460B-BA6E-26B326EC1AA6}"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FA01F-D761-F6E2-5911-5DFB7188F4A6}"/>
              </a:ext>
            </a:extLst>
          </p:cNvPr>
          <p:cNvSpPr>
            <a:spLocks noGrp="1"/>
          </p:cNvSpPr>
          <p:nvPr>
            <p:ph type="title"/>
          </p:nvPr>
        </p:nvSpPr>
        <p:spPr>
          <a:xfrm>
            <a:off x="485206" y="685800"/>
            <a:ext cx="7467600" cy="487362"/>
          </a:xfrm>
        </p:spPr>
        <p:txBody>
          <a:bodyPr>
            <a:noAutofit/>
          </a:bodyPr>
          <a:lstStyle/>
          <a:p>
            <a:pPr algn="ctr"/>
            <a:r>
              <a:rPr lang="en-IN" sz="4000" b="1" dirty="0">
                <a:latin typeface="Times New Roman" panose="02020603050405020304" pitchFamily="18" charset="0"/>
                <a:cs typeface="Times New Roman" panose="02020603050405020304" pitchFamily="18" charset="0"/>
              </a:rPr>
              <a:t>METHOD OF PREPARATION OF MICROBEADS </a:t>
            </a:r>
            <a:br>
              <a:rPr lang="en-IN" sz="3200" b="1" dirty="0">
                <a:latin typeface="Times New Roman" panose="02020603050405020304" pitchFamily="18" charset="0"/>
                <a:cs typeface="Times New Roman" panose="02020603050405020304" pitchFamily="18" charset="0"/>
              </a:rPr>
            </a:b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D52E86F-EA7A-89C5-ACE6-317453A64716}"/>
              </a:ext>
            </a:extLst>
          </p:cNvPr>
          <p:cNvSpPr>
            <a:spLocks noGrp="1"/>
          </p:cNvSpPr>
          <p:nvPr>
            <p:ph idx="1"/>
          </p:nvPr>
        </p:nvSpPr>
        <p:spPr>
          <a:xfrm>
            <a:off x="470458" y="1524000"/>
            <a:ext cx="8216342" cy="5483352"/>
          </a:xfrm>
        </p:spPr>
        <p:txBody>
          <a:bodyPr>
            <a:normAutofit fontScale="92500" lnSpcReduction="20000"/>
          </a:bodyPr>
          <a:lstStyle/>
          <a:p>
            <a:pPr marL="0" indent="0">
              <a:buNone/>
            </a:pPr>
            <a:r>
              <a:rPr lang="en-US" sz="2800" b="1" dirty="0">
                <a:latin typeface="Times New Roman" panose="02020603050405020304" pitchFamily="18" charset="0"/>
                <a:cs typeface="Times New Roman" panose="02020603050405020304" pitchFamily="18" charset="0"/>
              </a:rPr>
              <a:t>ION GELATION METHOD</a:t>
            </a:r>
            <a:r>
              <a:rPr lang="en-US" sz="2100" dirty="0"/>
              <a:t>:</a:t>
            </a:r>
          </a:p>
          <a:p>
            <a:pPr algn="just"/>
            <a:r>
              <a:rPr lang="en-US" sz="2400" dirty="0">
                <a:latin typeface="Times New Roman" panose="02020603050405020304" pitchFamily="18" charset="0"/>
                <a:cs typeface="Times New Roman" panose="02020603050405020304" pitchFamily="18" charset="0"/>
              </a:rPr>
              <a:t>Accurately weigh about 9% sodium alginate and egg albumin 10% of egg albumin and kept aside, then it was dispersed in 100ml of distilled water by using a magnetic stirrer at 40ºc. </a:t>
            </a:r>
          </a:p>
          <a:p>
            <a:pPr algn="just"/>
            <a:r>
              <a:rPr lang="en-US" sz="2400" dirty="0">
                <a:latin typeface="Times New Roman" panose="02020603050405020304" pitchFamily="18" charset="0"/>
                <a:cs typeface="Times New Roman" panose="02020603050405020304" pitchFamily="18" charset="0"/>
              </a:rPr>
              <a:t>Then after complete dispersion added and accurately 8mg of Fesoterodine Fumarate then the stirring was continued until a complete and uniform dispersion was obtained.</a:t>
            </a:r>
          </a:p>
          <a:p>
            <a:pPr algn="just"/>
            <a:r>
              <a:rPr lang="en-US" sz="2400" dirty="0">
                <a:latin typeface="Times New Roman" panose="02020603050405020304" pitchFamily="18" charset="0"/>
                <a:cs typeface="Times New Roman" panose="02020603050405020304" pitchFamily="18" charset="0"/>
              </a:rPr>
              <a:t> Then the calcium chloride solution was prepared by dispersing the 10gm of calcium chloride powder in 100ml of distilled water.</a:t>
            </a:r>
          </a:p>
          <a:p>
            <a:pPr algn="just"/>
            <a:r>
              <a:rPr lang="en-US" sz="2400" dirty="0">
                <a:latin typeface="Times New Roman" panose="02020603050405020304" pitchFamily="18" charset="0"/>
                <a:cs typeface="Times New Roman" panose="02020603050405020304" pitchFamily="18" charset="0"/>
              </a:rPr>
              <a:t> The resulting bubble-free dispersion was added manually dropwise with a 5ml syringe (22 gauze needle) into 100ml of(10%w/v) calcium chloride solution (CaCl2) and stirred in a 250ml beaker.</a:t>
            </a:r>
          </a:p>
          <a:p>
            <a:pPr algn="just"/>
            <a:r>
              <a:rPr lang="en-US" sz="2400" dirty="0">
                <a:latin typeface="Times New Roman" panose="02020603050405020304" pitchFamily="18" charset="0"/>
                <a:cs typeface="Times New Roman" panose="02020603050405020304" pitchFamily="18" charset="0"/>
              </a:rPr>
              <a:t> The gelation time of 15min was allowed to complete the curing reaction and produces spherical and rigid microbeads. The beads so prepared were collected by decantation and washed with water and dried in a hot air oven at 60 ºc for 2 hours.</a:t>
            </a:r>
          </a:p>
          <a:p>
            <a:pPr algn="just"/>
            <a:r>
              <a:rPr lang="en-US" sz="2400" dirty="0">
                <a:latin typeface="Times New Roman" panose="02020603050405020304" pitchFamily="18" charset="0"/>
                <a:cs typeface="Times New Roman" panose="02020603050405020304" pitchFamily="18" charset="0"/>
              </a:rPr>
              <a:t> The process was applied to 7 different formulations by using varying proportions of egg albumin and sodium alginate (i.e., F2-F8)</a:t>
            </a:r>
          </a:p>
          <a:p>
            <a:endParaRPr lang="en-IN" dirty="0"/>
          </a:p>
        </p:txBody>
      </p:sp>
      <p:sp>
        <p:nvSpPr>
          <p:cNvPr id="4" name="Slide Number Placeholder 3">
            <a:extLst>
              <a:ext uri="{FF2B5EF4-FFF2-40B4-BE49-F238E27FC236}">
                <a16:creationId xmlns:a16="http://schemas.microsoft.com/office/drawing/2014/main" id="{D8979A69-8A84-C6B0-0D81-F7B5F99EA598}"/>
              </a:ext>
            </a:extLst>
          </p:cNvPr>
          <p:cNvSpPr>
            <a:spLocks noGrp="1"/>
          </p:cNvSpPr>
          <p:nvPr>
            <p:ph type="sldNum" sz="quarter" idx="12"/>
          </p:nvPr>
        </p:nvSpPr>
        <p:spPr/>
        <p:txBody>
          <a:bodyPr/>
          <a:lstStyle/>
          <a:p>
            <a:fld id="{6C412A46-B304-460B-BA6E-26B326EC1AA6}" type="slidenum">
              <a:rPr lang="en-US" smtClean="0"/>
              <a:pPr/>
              <a:t>11</a:t>
            </a:fld>
            <a:endParaRPr lang="en-US"/>
          </a:p>
        </p:txBody>
      </p:sp>
    </p:spTree>
    <p:extLst>
      <p:ext uri="{BB962C8B-B14F-4D97-AF65-F5344CB8AC3E}">
        <p14:creationId xmlns:p14="http://schemas.microsoft.com/office/powerpoint/2010/main" val="1267008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B07CAE-24A0-3B1D-DFD9-1389C1D8EEEF}"/>
              </a:ext>
            </a:extLst>
          </p:cNvPr>
          <p:cNvSpPr>
            <a:spLocks noGrp="1"/>
          </p:cNvSpPr>
          <p:nvPr>
            <p:ph type="sldNum" sz="quarter" idx="12"/>
          </p:nvPr>
        </p:nvSpPr>
        <p:spPr/>
        <p:txBody>
          <a:bodyPr/>
          <a:lstStyle/>
          <a:p>
            <a:fld id="{6C412A46-B304-460B-BA6E-26B326EC1AA6}" type="slidenum">
              <a:rPr lang="en-US" smtClean="0"/>
              <a:pPr/>
              <a:t>12</a:t>
            </a:fld>
            <a:endParaRPr lang="en-US"/>
          </a:p>
        </p:txBody>
      </p:sp>
      <p:sp>
        <p:nvSpPr>
          <p:cNvPr id="12" name="Content Placeholder 11">
            <a:extLst>
              <a:ext uri="{FF2B5EF4-FFF2-40B4-BE49-F238E27FC236}">
                <a16:creationId xmlns:a16="http://schemas.microsoft.com/office/drawing/2014/main" id="{861E7CB8-B41C-6AE4-8B07-17F73CAB3C16}"/>
              </a:ext>
            </a:extLst>
          </p:cNvPr>
          <p:cNvSpPr>
            <a:spLocks noGrp="1"/>
          </p:cNvSpPr>
          <p:nvPr>
            <p:ph sz="quarter" idx="4294967295"/>
          </p:nvPr>
        </p:nvSpPr>
        <p:spPr>
          <a:xfrm>
            <a:off x="1308100" y="5686172"/>
            <a:ext cx="6527800" cy="711200"/>
          </a:xfrm>
        </p:spPr>
        <p:txBody>
          <a:bodyPr>
            <a:normAutofit/>
          </a:bodyPr>
          <a:lstStyle/>
          <a:p>
            <a:pPr marL="0" indent="0" algn="ctr">
              <a:buNone/>
            </a:pPr>
            <a:r>
              <a:rPr lang="en-IN" dirty="0">
                <a:latin typeface="Times New Roman" panose="02020603050405020304" pitchFamily="18" charset="0"/>
                <a:cs typeface="Times New Roman" panose="02020603050405020304" pitchFamily="18" charset="0"/>
              </a:rPr>
              <a:t>Preparation of Microbeads by using a syringe needle and recovery of microbeads after decantation.</a:t>
            </a:r>
          </a:p>
          <a:p>
            <a:pPr marL="0" indent="0">
              <a:buNone/>
            </a:pPr>
            <a:endParaRPr lang="en-IN" dirty="0"/>
          </a:p>
        </p:txBody>
      </p:sp>
      <p:pic>
        <p:nvPicPr>
          <p:cNvPr id="6" name="Picture 5">
            <a:extLst>
              <a:ext uri="{FF2B5EF4-FFF2-40B4-BE49-F238E27FC236}">
                <a16:creationId xmlns:a16="http://schemas.microsoft.com/office/drawing/2014/main" id="{CE4050F0-A002-A9AB-60C2-63C5B924E3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00600" y="1171828"/>
            <a:ext cx="3954479" cy="4276472"/>
          </a:xfrm>
          <a:prstGeom prst="rect">
            <a:avLst/>
          </a:prstGeom>
        </p:spPr>
      </p:pic>
      <p:pic>
        <p:nvPicPr>
          <p:cNvPr id="10" name="Picture 9">
            <a:extLst>
              <a:ext uri="{FF2B5EF4-FFF2-40B4-BE49-F238E27FC236}">
                <a16:creationId xmlns:a16="http://schemas.microsoft.com/office/drawing/2014/main" id="{1E72B08D-C463-3825-BBD0-B164FFC643B8}"/>
              </a:ext>
            </a:extLst>
          </p:cNvPr>
          <p:cNvPicPr>
            <a:picLocks noChangeAspect="1"/>
          </p:cNvPicPr>
          <p:nvPr/>
        </p:nvPicPr>
        <p:blipFill rotWithShape="1">
          <a:blip r:embed="rId3">
            <a:extLst>
              <a:ext uri="{28A0092B-C50C-407E-A947-70E740481C1C}">
                <a14:useLocalDpi xmlns:a14="http://schemas.microsoft.com/office/drawing/2010/main" val="0"/>
              </a:ext>
            </a:extLst>
          </a:blip>
          <a:srcRect l="-1255" t="25555" r="617" b="20000"/>
          <a:stretch/>
        </p:blipFill>
        <p:spPr>
          <a:xfrm>
            <a:off x="304800" y="1063423"/>
            <a:ext cx="3746301" cy="4352671"/>
          </a:xfrm>
          <a:prstGeom prst="rect">
            <a:avLst/>
          </a:prstGeom>
        </p:spPr>
      </p:pic>
    </p:spTree>
    <p:extLst>
      <p:ext uri="{BB962C8B-B14F-4D97-AF65-F5344CB8AC3E}">
        <p14:creationId xmlns:p14="http://schemas.microsoft.com/office/powerpoint/2010/main" val="95492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AE494-BE99-20F5-373E-D32D1425E613}"/>
              </a:ext>
            </a:extLst>
          </p:cNvPr>
          <p:cNvSpPr>
            <a:spLocks noGrp="1"/>
          </p:cNvSpPr>
          <p:nvPr>
            <p:ph type="title"/>
          </p:nvPr>
        </p:nvSpPr>
        <p:spPr>
          <a:xfrm>
            <a:off x="613237" y="-311785"/>
            <a:ext cx="7467600" cy="563562"/>
          </a:xfrm>
        </p:spPr>
        <p:txBody>
          <a:bodyPr>
            <a:noAutofit/>
          </a:bodyPr>
          <a:lstStyle/>
          <a:p>
            <a:pPr algn="ctr"/>
            <a:r>
              <a:rPr lang="en-IN" sz="2400" b="1" dirty="0">
                <a:latin typeface="Times New Roman" panose="02020603050405020304" pitchFamily="18" charset="0"/>
                <a:cs typeface="Times New Roman" panose="02020603050405020304" pitchFamily="18" charset="0"/>
              </a:rPr>
              <a:t>                                                                                    </a:t>
            </a:r>
            <a:br>
              <a:rPr lang="en-IN" sz="3600" b="1" dirty="0">
                <a:latin typeface="Times New Roman" panose="02020603050405020304" pitchFamily="18" charset="0"/>
                <a:cs typeface="Times New Roman" panose="02020603050405020304" pitchFamily="18" charset="0"/>
              </a:rPr>
            </a:br>
            <a:br>
              <a:rPr lang="en-IN" sz="2400" b="1" dirty="0">
                <a:latin typeface="Times New Roman" panose="02020603050405020304" pitchFamily="18" charset="0"/>
                <a:cs typeface="Times New Roman" panose="02020603050405020304" pitchFamily="18" charset="0"/>
              </a:rPr>
            </a:br>
            <a:br>
              <a:rPr lang="en-IN" sz="2400" b="1" dirty="0">
                <a:latin typeface="Times New Roman" panose="02020603050405020304" pitchFamily="18" charset="0"/>
                <a:cs typeface="Times New Roman" panose="02020603050405020304" pitchFamily="18" charset="0"/>
              </a:rPr>
            </a:br>
            <a:br>
              <a:rPr lang="en-IN" sz="2400" b="1" dirty="0">
                <a:latin typeface="Times New Roman" panose="02020603050405020304" pitchFamily="18" charset="0"/>
                <a:cs typeface="Times New Roman" panose="02020603050405020304" pitchFamily="18" charset="0"/>
              </a:rPr>
            </a:br>
            <a:br>
              <a:rPr lang="en-IN" sz="24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METHODOLOGY</a:t>
            </a:r>
            <a:br>
              <a:rPr lang="en-IN" sz="2400" b="1" dirty="0">
                <a:latin typeface="Times New Roman" panose="02020603050405020304" pitchFamily="18" charset="0"/>
                <a:cs typeface="Times New Roman" panose="02020603050405020304" pitchFamily="18" charset="0"/>
              </a:rPr>
            </a:b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FORMULATION TABLE</a:t>
            </a:r>
            <a:br>
              <a:rPr lang="en-IN" sz="2000" b="1"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15665071"/>
              </p:ext>
            </p:extLst>
          </p:nvPr>
        </p:nvGraphicFramePr>
        <p:xfrm>
          <a:off x="166497" y="1445351"/>
          <a:ext cx="8811006" cy="4856931"/>
        </p:xfrm>
        <a:graphic>
          <a:graphicData uri="http://schemas.openxmlformats.org/drawingml/2006/table">
            <a:tbl>
              <a:tblPr firstRow="1" firstCol="1" bandRow="1"/>
              <a:tblGrid>
                <a:gridCol w="753077">
                  <a:extLst>
                    <a:ext uri="{9D8B030D-6E8A-4147-A177-3AD203B41FA5}">
                      <a16:colId xmlns:a16="http://schemas.microsoft.com/office/drawing/2014/main" val="20000"/>
                    </a:ext>
                  </a:extLst>
                </a:gridCol>
                <a:gridCol w="1538907">
                  <a:extLst>
                    <a:ext uri="{9D8B030D-6E8A-4147-A177-3AD203B41FA5}">
                      <a16:colId xmlns:a16="http://schemas.microsoft.com/office/drawing/2014/main" val="20001"/>
                    </a:ext>
                  </a:extLst>
                </a:gridCol>
                <a:gridCol w="1320966">
                  <a:extLst>
                    <a:ext uri="{9D8B030D-6E8A-4147-A177-3AD203B41FA5}">
                      <a16:colId xmlns:a16="http://schemas.microsoft.com/office/drawing/2014/main" val="20002"/>
                    </a:ext>
                  </a:extLst>
                </a:gridCol>
                <a:gridCol w="924242">
                  <a:extLst>
                    <a:ext uri="{9D8B030D-6E8A-4147-A177-3AD203B41FA5}">
                      <a16:colId xmlns:a16="http://schemas.microsoft.com/office/drawing/2014/main" val="20003"/>
                    </a:ext>
                  </a:extLst>
                </a:gridCol>
                <a:gridCol w="892193">
                  <a:extLst>
                    <a:ext uri="{9D8B030D-6E8A-4147-A177-3AD203B41FA5}">
                      <a16:colId xmlns:a16="http://schemas.microsoft.com/office/drawing/2014/main" val="20004"/>
                    </a:ext>
                  </a:extLst>
                </a:gridCol>
                <a:gridCol w="804707">
                  <a:extLst>
                    <a:ext uri="{9D8B030D-6E8A-4147-A177-3AD203B41FA5}">
                      <a16:colId xmlns:a16="http://schemas.microsoft.com/office/drawing/2014/main" val="20005"/>
                    </a:ext>
                  </a:extLst>
                </a:gridCol>
                <a:gridCol w="804707">
                  <a:extLst>
                    <a:ext uri="{9D8B030D-6E8A-4147-A177-3AD203B41FA5}">
                      <a16:colId xmlns:a16="http://schemas.microsoft.com/office/drawing/2014/main" val="20006"/>
                    </a:ext>
                  </a:extLst>
                </a:gridCol>
                <a:gridCol w="804707">
                  <a:extLst>
                    <a:ext uri="{9D8B030D-6E8A-4147-A177-3AD203B41FA5}">
                      <a16:colId xmlns:a16="http://schemas.microsoft.com/office/drawing/2014/main" val="20007"/>
                    </a:ext>
                  </a:extLst>
                </a:gridCol>
                <a:gridCol w="967500">
                  <a:extLst>
                    <a:ext uri="{9D8B030D-6E8A-4147-A177-3AD203B41FA5}">
                      <a16:colId xmlns:a16="http://schemas.microsoft.com/office/drawing/2014/main" val="20008"/>
                    </a:ext>
                  </a:extLst>
                </a:gridCol>
              </a:tblGrid>
              <a:tr h="1143000">
                <a:tc>
                  <a:txBody>
                    <a:bodyPr/>
                    <a:lstStyle/>
                    <a:p>
                      <a:pPr marL="0" marR="0" algn="ctr">
                        <a:spcBef>
                          <a:spcPts val="0"/>
                        </a:spcBef>
                        <a:spcAft>
                          <a:spcPts val="0"/>
                        </a:spcAft>
                      </a:pPr>
                      <a:r>
                        <a:rPr lang="en-US" sz="1600"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 No</a:t>
                      </a:r>
                      <a:endParaRPr lang="en-US" sz="16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Formulation Code</a:t>
                      </a:r>
                      <a:endParaRPr lang="en-US" sz="16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API</a:t>
                      </a:r>
                    </a:p>
                    <a:p>
                      <a:pPr marL="0" marR="0" algn="ctr">
                        <a:spcBef>
                          <a:spcPts val="0"/>
                        </a:spcBef>
                        <a:spcAft>
                          <a:spcPts val="0"/>
                        </a:spcAft>
                      </a:pPr>
                      <a:r>
                        <a:rPr lang="en-US" sz="1600"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Fesoterodine Fumarate</a:t>
                      </a:r>
                    </a:p>
                    <a:p>
                      <a:pPr marL="0" marR="0" algn="ctr">
                        <a:spcBef>
                          <a:spcPts val="0"/>
                        </a:spcBef>
                        <a:spcAft>
                          <a:spcPts val="0"/>
                        </a:spcAft>
                      </a:pPr>
                      <a:r>
                        <a:rPr lang="en-US" sz="1600"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mg)</a:t>
                      </a:r>
                      <a:endParaRPr lang="en-US" sz="16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Egg Albumin</a:t>
                      </a:r>
                      <a:endParaRPr lang="en-US" sz="16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Sodium Alginate (% w/v)</a:t>
                      </a:r>
                      <a:endParaRPr lang="en-US" sz="16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HPMC (mg)</a:t>
                      </a:r>
                      <a:endParaRPr lang="en-US" sz="16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Tween 80 (ml)</a:t>
                      </a:r>
                      <a:endParaRPr lang="en-US" sz="16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Water</a:t>
                      </a:r>
                      <a:endParaRPr lang="en-US" sz="16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Calcium chloride (% w/v)</a:t>
                      </a:r>
                      <a:endParaRPr lang="en-US" sz="16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58667">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q.s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02760">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q.s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37097">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q. 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02760">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q. 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02760">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q. 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02760">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q. 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532682">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q. 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574445">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q. 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b="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Slide Number Placeholder 4">
            <a:extLst>
              <a:ext uri="{FF2B5EF4-FFF2-40B4-BE49-F238E27FC236}">
                <a16:creationId xmlns:a16="http://schemas.microsoft.com/office/drawing/2014/main" id="{B44E389C-2D73-5241-3B1B-9382ACB6C1AD}"/>
              </a:ext>
            </a:extLst>
          </p:cNvPr>
          <p:cNvSpPr>
            <a:spLocks noGrp="1"/>
          </p:cNvSpPr>
          <p:nvPr>
            <p:ph type="sldNum" sz="quarter" idx="12"/>
          </p:nvPr>
        </p:nvSpPr>
        <p:spPr/>
        <p:txBody>
          <a:bodyPr/>
          <a:lstStyle/>
          <a:p>
            <a:fld id="{6C412A46-B304-460B-BA6E-26B326EC1AA6}" type="slidenum">
              <a:rPr lang="en-US" smtClean="0"/>
              <a:pPr/>
              <a:t>13</a:t>
            </a:fld>
            <a:endParaRPr lang="en-US"/>
          </a:p>
        </p:txBody>
      </p:sp>
      <p:sp>
        <p:nvSpPr>
          <p:cNvPr id="7" name="Rectangle 1"/>
          <p:cNvSpPr>
            <a:spLocks noChangeArrowheads="1"/>
          </p:cNvSpPr>
          <p:nvPr/>
        </p:nvSpPr>
        <p:spPr bwMode="auto">
          <a:xfrm>
            <a:off x="-521657" y="-360864"/>
            <a:ext cx="10662711" cy="661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sz="1100" b="1" i="0" u="none" strike="noStrike" cap="none" normalizeH="0" baseline="0">
                <a:ln>
                  <a:noFill/>
                </a:ln>
                <a:solidFill>
                  <a:schemeClr val="tx1"/>
                </a:solidFill>
                <a:effectLst/>
                <a:latin typeface="Arial" panose="020B0604020202020204" pitchFamily="34" charset="0"/>
                <a:ea typeface="Times New Roman" panose="02020603050405020304" pitchFamily="18" charset="0"/>
              </a:rPr>
            </a:br>
            <a:endParaRPr kumimoji="0" 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70681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DA691-C22F-37AB-D3B0-749D8F414FB6}"/>
              </a:ext>
            </a:extLst>
          </p:cNvPr>
          <p:cNvSpPr>
            <a:spLocks noGrp="1"/>
          </p:cNvSpPr>
          <p:nvPr>
            <p:ph type="title"/>
          </p:nvPr>
        </p:nvSpPr>
        <p:spPr>
          <a:xfrm>
            <a:off x="449727" y="491923"/>
            <a:ext cx="7467600" cy="1143000"/>
          </a:xfrm>
        </p:spPr>
        <p:txBody>
          <a:bodyPr>
            <a:normAutofit/>
          </a:bodyPr>
          <a:lstStyle/>
          <a:p>
            <a:pPr algn="ctr"/>
            <a:r>
              <a:rPr lang="en-IN" sz="4000" b="1" dirty="0">
                <a:latin typeface="Times New Roman" panose="02020603050405020304" pitchFamily="18" charset="0"/>
                <a:cs typeface="Times New Roman" panose="02020603050405020304" pitchFamily="18" charset="0"/>
              </a:rPr>
              <a:t>EVALUATION TESTS</a:t>
            </a:r>
          </a:p>
        </p:txBody>
      </p:sp>
      <p:sp>
        <p:nvSpPr>
          <p:cNvPr id="3" name="Content Placeholder 2">
            <a:extLst>
              <a:ext uri="{FF2B5EF4-FFF2-40B4-BE49-F238E27FC236}">
                <a16:creationId xmlns:a16="http://schemas.microsoft.com/office/drawing/2014/main" id="{42C3ACBE-284E-AB80-CED2-9C9F0406BF79}"/>
              </a:ext>
            </a:extLst>
          </p:cNvPr>
          <p:cNvSpPr>
            <a:spLocks noGrp="1"/>
          </p:cNvSpPr>
          <p:nvPr>
            <p:ph idx="1"/>
          </p:nvPr>
        </p:nvSpPr>
        <p:spPr>
          <a:xfrm>
            <a:off x="827700" y="2057400"/>
            <a:ext cx="6711654" cy="4195481"/>
          </a:xfrm>
        </p:spPr>
        <p:txBody>
          <a:bodyPr>
            <a:normAutofit/>
          </a:bodyPr>
          <a:lstStyle/>
          <a:p>
            <a:pPr marL="342900" indent="-342900" algn="just">
              <a:lnSpc>
                <a:spcPct val="107000"/>
              </a:lnSpc>
              <a:spcAft>
                <a:spcPts val="800"/>
              </a:spcAft>
              <a:buFont typeface="Symbol" panose="05050102010706020507" pitchFamily="18" charset="2"/>
              <a:buChar char=""/>
            </a:pPr>
            <a:r>
              <a:rPr lang="en-US" dirty="0">
                <a:effectLst/>
                <a:latin typeface="Times New Roman" panose="02020603050405020304" pitchFamily="18" charset="0"/>
                <a:ea typeface="Times New Roman" panose="02020603050405020304" pitchFamily="18" charset="0"/>
              </a:rPr>
              <a:t>Fourier Transform Infra-Red Spectroscopy</a:t>
            </a:r>
          </a:p>
          <a:p>
            <a:pPr marL="342900" lvl="0" indent="-342900" algn="just">
              <a:lnSpc>
                <a:spcPct val="107000"/>
              </a:lnSpc>
              <a:spcAft>
                <a:spcPts val="800"/>
              </a:spcAft>
              <a:buFont typeface="Symbol" panose="05050102010706020507" pitchFamily="18" charset="2"/>
              <a:buChar char=""/>
            </a:pPr>
            <a:r>
              <a:rPr lang="en-US" dirty="0">
                <a:effectLst/>
                <a:latin typeface="Times New Roman" panose="02020603050405020304" pitchFamily="18" charset="0"/>
                <a:ea typeface="Times New Roman" panose="02020603050405020304" pitchFamily="18" charset="0"/>
              </a:rPr>
              <a:t>Bead size measurement </a:t>
            </a:r>
            <a:endParaRPr lang="en-IN" dirty="0">
              <a:effectLst/>
              <a:latin typeface="Times New Roman" panose="02020603050405020304" pitchFamily="18" charset="0"/>
              <a:ea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US" dirty="0">
                <a:effectLst/>
                <a:latin typeface="Times New Roman" panose="02020603050405020304" pitchFamily="18" charset="0"/>
                <a:ea typeface="Times New Roman" panose="02020603050405020304" pitchFamily="18" charset="0"/>
              </a:rPr>
              <a:t>Swelling Index</a:t>
            </a:r>
            <a:endParaRPr lang="en-IN" dirty="0">
              <a:effectLst/>
              <a:latin typeface="Times New Roman" panose="02020603050405020304" pitchFamily="18" charset="0"/>
              <a:ea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US" dirty="0">
                <a:effectLst/>
                <a:latin typeface="Times New Roman" panose="02020603050405020304" pitchFamily="18" charset="0"/>
                <a:ea typeface="Times New Roman" panose="02020603050405020304" pitchFamily="18" charset="0"/>
              </a:rPr>
              <a:t>Drug Content of the beads</a:t>
            </a:r>
            <a:endParaRPr lang="en-IN" dirty="0">
              <a:effectLst/>
              <a:latin typeface="Times New Roman" panose="02020603050405020304" pitchFamily="18" charset="0"/>
              <a:ea typeface="Times New Roman" panose="02020603050405020304" pitchFamily="18" charset="0"/>
            </a:endParaRPr>
          </a:p>
          <a:p>
            <a:pPr marL="342900" indent="-342900" algn="just">
              <a:lnSpc>
                <a:spcPct val="107000"/>
              </a:lnSpc>
              <a:spcAft>
                <a:spcPts val="800"/>
              </a:spcAft>
              <a:buFont typeface="Symbol" panose="05050102010706020507" pitchFamily="18" charset="2"/>
              <a:buChar char=""/>
            </a:pPr>
            <a:r>
              <a:rPr lang="en-US" dirty="0">
                <a:effectLst/>
                <a:latin typeface="Times New Roman" panose="02020603050405020304" pitchFamily="18" charset="0"/>
                <a:ea typeface="Times New Roman" panose="02020603050405020304" pitchFamily="18" charset="0"/>
              </a:rPr>
              <a:t>In-vitro dissolution studies</a:t>
            </a:r>
          </a:p>
          <a:p>
            <a:pPr marL="342900" indent="-342900" algn="just">
              <a:lnSpc>
                <a:spcPct val="107000"/>
              </a:lnSpc>
              <a:spcAft>
                <a:spcPts val="800"/>
              </a:spcAft>
              <a:buFont typeface="Symbol" panose="05050102010706020507" pitchFamily="18" charset="2"/>
              <a:buChar char=""/>
            </a:pPr>
            <a:endParaRPr lang="en-IN" dirty="0">
              <a:effectLst/>
              <a:latin typeface="Times New Roman" panose="02020603050405020304" pitchFamily="18" charset="0"/>
              <a:ea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endParaRPr lang="en-IN" sz="2800" dirty="0">
              <a:effectLst/>
              <a:latin typeface="Times New Roman" panose="02020603050405020304" pitchFamily="18" charset="0"/>
              <a:ea typeface="Times New Roman" panose="02020603050405020304" pitchFamily="18" charset="0"/>
            </a:endParaRPr>
          </a:p>
          <a:p>
            <a:pPr marL="0" indent="0">
              <a:buNone/>
            </a:pPr>
            <a:endParaRPr lang="en-IN" dirty="0"/>
          </a:p>
        </p:txBody>
      </p:sp>
      <p:sp>
        <p:nvSpPr>
          <p:cNvPr id="4" name="Slide Number Placeholder 3">
            <a:extLst>
              <a:ext uri="{FF2B5EF4-FFF2-40B4-BE49-F238E27FC236}">
                <a16:creationId xmlns:a16="http://schemas.microsoft.com/office/drawing/2014/main" id="{FE628758-DEDE-BCA4-785D-A4B9E7A6C2CB}"/>
              </a:ext>
            </a:extLst>
          </p:cNvPr>
          <p:cNvSpPr>
            <a:spLocks noGrp="1"/>
          </p:cNvSpPr>
          <p:nvPr>
            <p:ph type="sldNum" sz="quarter" idx="12"/>
          </p:nvPr>
        </p:nvSpPr>
        <p:spPr/>
        <p:txBody>
          <a:bodyPr/>
          <a:lstStyle/>
          <a:p>
            <a:fld id="{6C412A46-B304-460B-BA6E-26B326EC1AA6}" type="slidenum">
              <a:rPr lang="en-US" smtClean="0"/>
              <a:pPr/>
              <a:t>14</a:t>
            </a:fld>
            <a:endParaRPr lang="en-US"/>
          </a:p>
        </p:txBody>
      </p:sp>
    </p:spTree>
    <p:extLst>
      <p:ext uri="{BB962C8B-B14F-4D97-AF65-F5344CB8AC3E}">
        <p14:creationId xmlns:p14="http://schemas.microsoft.com/office/powerpoint/2010/main" val="2462790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43294F-9EA6-E8FC-23E4-5654800C183B}"/>
              </a:ext>
            </a:extLst>
          </p:cNvPr>
          <p:cNvSpPr>
            <a:spLocks noGrp="1"/>
          </p:cNvSpPr>
          <p:nvPr>
            <p:ph type="title"/>
          </p:nvPr>
        </p:nvSpPr>
        <p:spPr>
          <a:xfrm>
            <a:off x="838199" y="-304800"/>
            <a:ext cx="6400800" cy="1143000"/>
          </a:xfrm>
        </p:spPr>
        <p:txBody>
          <a:bodyPr>
            <a:normAutofit/>
          </a:bodyPr>
          <a:lstStyle/>
          <a:p>
            <a:r>
              <a:rPr lang="en-IN" sz="2800" b="1" dirty="0">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EVALUATION PARAMETERS</a:t>
            </a:r>
          </a:p>
        </p:txBody>
      </p:sp>
      <p:sp>
        <p:nvSpPr>
          <p:cNvPr id="7" name="Slide Number Placeholder 6">
            <a:extLst>
              <a:ext uri="{FF2B5EF4-FFF2-40B4-BE49-F238E27FC236}">
                <a16:creationId xmlns:a16="http://schemas.microsoft.com/office/drawing/2014/main" id="{D36E31B2-7527-11A2-0DC9-87FA22B716BE}"/>
              </a:ext>
            </a:extLst>
          </p:cNvPr>
          <p:cNvSpPr>
            <a:spLocks noGrp="1"/>
          </p:cNvSpPr>
          <p:nvPr>
            <p:ph type="sldNum" sz="quarter" idx="12"/>
          </p:nvPr>
        </p:nvSpPr>
        <p:spPr/>
        <p:txBody>
          <a:bodyPr/>
          <a:lstStyle/>
          <a:p>
            <a:fld id="{6C412A46-B304-460B-BA6E-26B326EC1AA6}" type="slidenum">
              <a:rPr lang="en-US" smtClean="0"/>
              <a:pPr/>
              <a:t>15</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882528614"/>
              </p:ext>
            </p:extLst>
          </p:nvPr>
        </p:nvGraphicFramePr>
        <p:xfrm>
          <a:off x="609600" y="762003"/>
          <a:ext cx="6857999" cy="5714996"/>
        </p:xfrm>
        <a:graphic>
          <a:graphicData uri="http://schemas.openxmlformats.org/drawingml/2006/table">
            <a:tbl>
              <a:tblPr firstRow="1" firstCol="1" bandRow="1"/>
              <a:tblGrid>
                <a:gridCol w="1699040">
                  <a:extLst>
                    <a:ext uri="{9D8B030D-6E8A-4147-A177-3AD203B41FA5}">
                      <a16:colId xmlns:a16="http://schemas.microsoft.com/office/drawing/2014/main" val="20000"/>
                    </a:ext>
                  </a:extLst>
                </a:gridCol>
                <a:gridCol w="1800630">
                  <a:extLst>
                    <a:ext uri="{9D8B030D-6E8A-4147-A177-3AD203B41FA5}">
                      <a16:colId xmlns:a16="http://schemas.microsoft.com/office/drawing/2014/main" val="20001"/>
                    </a:ext>
                  </a:extLst>
                </a:gridCol>
                <a:gridCol w="1699040">
                  <a:extLst>
                    <a:ext uri="{9D8B030D-6E8A-4147-A177-3AD203B41FA5}">
                      <a16:colId xmlns:a16="http://schemas.microsoft.com/office/drawing/2014/main" val="20002"/>
                    </a:ext>
                  </a:extLst>
                </a:gridCol>
                <a:gridCol w="1659289">
                  <a:extLst>
                    <a:ext uri="{9D8B030D-6E8A-4147-A177-3AD203B41FA5}">
                      <a16:colId xmlns:a16="http://schemas.microsoft.com/office/drawing/2014/main" val="20003"/>
                    </a:ext>
                  </a:extLst>
                </a:gridCol>
              </a:tblGrid>
              <a:tr h="1096011">
                <a:tc>
                  <a:txBody>
                    <a:bodyPr/>
                    <a:lstStyle/>
                    <a:p>
                      <a:pPr marL="0" marR="0" algn="ctr">
                        <a:lnSpc>
                          <a:spcPct val="107000"/>
                        </a:lnSpc>
                        <a:spcBef>
                          <a:spcPts val="0"/>
                        </a:spcBef>
                        <a:spcAft>
                          <a:spcPts val="0"/>
                        </a:spcAft>
                      </a:pPr>
                      <a:r>
                        <a:rPr lang="en-IN" sz="2000"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Formulation Code</a:t>
                      </a:r>
                      <a:endParaRPr lang="en-US"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IN" sz="2000"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Drug Content</a:t>
                      </a:r>
                      <a:endParaRPr lang="en-US"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IN" sz="2000" b="1"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Swelling Index</a:t>
                      </a:r>
                      <a:endParaRPr lang="en-US" sz="200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IN" sz="2000"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Size Distribution</a:t>
                      </a:r>
                      <a:endParaRPr lang="en-US"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90522">
                <a:tc>
                  <a:txBody>
                    <a:bodyPr/>
                    <a:lstStyle/>
                    <a:p>
                      <a:pPr marL="0" marR="0" algn="ctr">
                        <a:lnSpc>
                          <a:spcPct val="107000"/>
                        </a:lnSpc>
                        <a:spcBef>
                          <a:spcPts val="0"/>
                        </a:spcBef>
                        <a:spcAft>
                          <a:spcPts val="0"/>
                        </a:spcAft>
                      </a:pPr>
                      <a:r>
                        <a:rPr lang="en-IN"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F1</a:t>
                      </a:r>
                      <a:endParaRPr lang="en-US"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IN"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93</a:t>
                      </a:r>
                      <a:endParaRPr lang="en-US"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IN"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32.2</a:t>
                      </a:r>
                      <a:endParaRPr lang="en-US"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IN"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110</a:t>
                      </a:r>
                      <a:endParaRPr lang="en-US"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90522">
                <a:tc>
                  <a:txBody>
                    <a:bodyPr/>
                    <a:lstStyle/>
                    <a:p>
                      <a:pPr marL="0" marR="0" algn="ctr">
                        <a:lnSpc>
                          <a:spcPct val="107000"/>
                        </a:lnSpc>
                        <a:spcBef>
                          <a:spcPts val="0"/>
                        </a:spcBef>
                        <a:spcAft>
                          <a:spcPts val="0"/>
                        </a:spcAft>
                      </a:pPr>
                      <a:r>
                        <a:rPr lang="en-IN" sz="200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F2</a:t>
                      </a:r>
                      <a:endParaRPr lang="en-US" sz="200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IN"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91</a:t>
                      </a:r>
                      <a:endParaRPr lang="en-US"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IN" sz="200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43</a:t>
                      </a:r>
                      <a:endParaRPr lang="en-US" sz="200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IN" sz="200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123</a:t>
                      </a:r>
                      <a:endParaRPr lang="en-US" sz="200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90522">
                <a:tc>
                  <a:txBody>
                    <a:bodyPr/>
                    <a:lstStyle/>
                    <a:p>
                      <a:pPr marL="0" marR="0" algn="ctr">
                        <a:lnSpc>
                          <a:spcPct val="107000"/>
                        </a:lnSpc>
                        <a:spcBef>
                          <a:spcPts val="0"/>
                        </a:spcBef>
                        <a:spcAft>
                          <a:spcPts val="0"/>
                        </a:spcAft>
                      </a:pPr>
                      <a:r>
                        <a:rPr lang="en-IN" sz="200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F3</a:t>
                      </a:r>
                      <a:endParaRPr lang="en-US" sz="200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IN"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92</a:t>
                      </a:r>
                      <a:endParaRPr lang="en-US"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IN" sz="200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58</a:t>
                      </a:r>
                      <a:endParaRPr lang="en-US" sz="200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IN" sz="200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136</a:t>
                      </a:r>
                      <a:endParaRPr lang="en-US" sz="200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90522">
                <a:tc>
                  <a:txBody>
                    <a:bodyPr/>
                    <a:lstStyle/>
                    <a:p>
                      <a:pPr marL="0" marR="0" algn="ctr">
                        <a:lnSpc>
                          <a:spcPct val="107000"/>
                        </a:lnSpc>
                        <a:spcBef>
                          <a:spcPts val="0"/>
                        </a:spcBef>
                        <a:spcAft>
                          <a:spcPts val="0"/>
                        </a:spcAft>
                      </a:pPr>
                      <a:r>
                        <a:rPr lang="en-IN" sz="2000" b="1" kern="100" dirty="0">
                          <a:solidFill>
                            <a:schemeClr val="accent1">
                              <a:lumMod val="7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F4</a:t>
                      </a:r>
                      <a:endParaRPr lang="en-US" sz="2000" kern="100" dirty="0">
                        <a:solidFill>
                          <a:schemeClr val="accent1">
                            <a:lumMod val="75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IN" sz="2000" b="1" kern="100" dirty="0">
                          <a:solidFill>
                            <a:schemeClr val="accent1">
                              <a:lumMod val="7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98</a:t>
                      </a:r>
                      <a:endParaRPr lang="en-US" sz="2000" kern="100" dirty="0">
                        <a:solidFill>
                          <a:schemeClr val="accent1">
                            <a:lumMod val="75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IN" sz="2000" b="1" kern="100" dirty="0">
                          <a:solidFill>
                            <a:schemeClr val="accent1">
                              <a:lumMod val="7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94</a:t>
                      </a:r>
                      <a:endParaRPr lang="en-US" sz="2000" kern="100" dirty="0">
                        <a:solidFill>
                          <a:schemeClr val="accent1">
                            <a:lumMod val="75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IN" sz="2000" b="1" kern="100" dirty="0">
                          <a:solidFill>
                            <a:schemeClr val="accent1">
                              <a:lumMod val="7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83</a:t>
                      </a:r>
                      <a:endParaRPr lang="en-US" sz="2000" kern="100" dirty="0">
                        <a:solidFill>
                          <a:schemeClr val="accent1">
                            <a:lumMod val="75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90522">
                <a:tc>
                  <a:txBody>
                    <a:bodyPr/>
                    <a:lstStyle/>
                    <a:p>
                      <a:pPr marL="0" marR="0" algn="ctr">
                        <a:lnSpc>
                          <a:spcPct val="107000"/>
                        </a:lnSpc>
                        <a:spcBef>
                          <a:spcPts val="0"/>
                        </a:spcBef>
                        <a:spcAft>
                          <a:spcPts val="0"/>
                        </a:spcAft>
                      </a:pPr>
                      <a:r>
                        <a:rPr lang="en-IN" sz="200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F5</a:t>
                      </a:r>
                      <a:endParaRPr lang="en-US" sz="200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IN"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95</a:t>
                      </a:r>
                      <a:endParaRPr lang="en-US"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IN"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68</a:t>
                      </a:r>
                      <a:endParaRPr lang="en-US"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IN" sz="200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136</a:t>
                      </a:r>
                      <a:endParaRPr lang="en-US" sz="200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90522">
                <a:tc>
                  <a:txBody>
                    <a:bodyPr/>
                    <a:lstStyle/>
                    <a:p>
                      <a:pPr marL="0" marR="0" algn="ctr">
                        <a:lnSpc>
                          <a:spcPct val="107000"/>
                        </a:lnSpc>
                        <a:spcBef>
                          <a:spcPts val="0"/>
                        </a:spcBef>
                        <a:spcAft>
                          <a:spcPts val="0"/>
                        </a:spcAft>
                      </a:pPr>
                      <a:r>
                        <a:rPr lang="en-IN" sz="200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F6</a:t>
                      </a:r>
                      <a:endParaRPr lang="en-US" sz="200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IN" sz="200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89</a:t>
                      </a:r>
                      <a:endParaRPr lang="en-US" sz="200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IN"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82</a:t>
                      </a:r>
                      <a:endParaRPr lang="en-US"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IN"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140</a:t>
                      </a:r>
                      <a:endParaRPr lang="en-US"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590522">
                <a:tc>
                  <a:txBody>
                    <a:bodyPr/>
                    <a:lstStyle/>
                    <a:p>
                      <a:pPr marL="0" marR="0" algn="ctr">
                        <a:lnSpc>
                          <a:spcPct val="107000"/>
                        </a:lnSpc>
                        <a:spcBef>
                          <a:spcPts val="0"/>
                        </a:spcBef>
                        <a:spcAft>
                          <a:spcPts val="0"/>
                        </a:spcAft>
                      </a:pPr>
                      <a:r>
                        <a:rPr lang="en-IN" sz="200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F7</a:t>
                      </a:r>
                      <a:endParaRPr lang="en-US" sz="200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IN" sz="200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97</a:t>
                      </a:r>
                      <a:endParaRPr lang="en-US" sz="200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IN"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79</a:t>
                      </a:r>
                      <a:endParaRPr lang="en-US"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IN"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128</a:t>
                      </a:r>
                      <a:endParaRPr lang="en-US"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85331">
                <a:tc>
                  <a:txBody>
                    <a:bodyPr/>
                    <a:lstStyle/>
                    <a:p>
                      <a:pPr marL="0" marR="0" algn="ctr">
                        <a:lnSpc>
                          <a:spcPct val="107000"/>
                        </a:lnSpc>
                        <a:spcBef>
                          <a:spcPts val="0"/>
                        </a:spcBef>
                        <a:spcAft>
                          <a:spcPts val="0"/>
                        </a:spcAft>
                      </a:pPr>
                      <a:r>
                        <a:rPr lang="en-IN" sz="200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F8</a:t>
                      </a:r>
                      <a:endParaRPr lang="en-US" sz="200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IN" sz="200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94</a:t>
                      </a:r>
                      <a:endParaRPr lang="en-US" sz="2000"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IN"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73</a:t>
                      </a:r>
                      <a:endParaRPr lang="en-US"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IN"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115</a:t>
                      </a:r>
                      <a:endParaRPr lang="en-US"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6429322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A05FA-8A16-F965-2263-23D1B6E6A057}"/>
              </a:ext>
            </a:extLst>
          </p:cNvPr>
          <p:cNvSpPr>
            <a:spLocks noGrp="1"/>
          </p:cNvSpPr>
          <p:nvPr>
            <p:ph type="title"/>
          </p:nvPr>
        </p:nvSpPr>
        <p:spPr>
          <a:xfrm>
            <a:off x="328910" y="295736"/>
            <a:ext cx="7772399" cy="1865531"/>
          </a:xfrm>
        </p:spPr>
        <p:txBody>
          <a:bodyPr>
            <a:normAutofit fontScale="90000"/>
          </a:bodyPr>
          <a:lstStyle/>
          <a:p>
            <a:pPr algn="ctr">
              <a:lnSpc>
                <a:spcPct val="150000"/>
              </a:lnSpc>
              <a:spcAft>
                <a:spcPts val="800"/>
              </a:spcAft>
            </a:pPr>
            <a:r>
              <a:rPr lang="en-IN" sz="4400" b="1" dirty="0">
                <a:latin typeface="Times New Roman" panose="02020603050405020304" pitchFamily="18" charset="0"/>
                <a:ea typeface="Calibri" panose="020F0502020204030204" pitchFamily="34" charset="0"/>
                <a:cs typeface="Times New Roman" panose="02020603050405020304" pitchFamily="18" charset="0"/>
              </a:rPr>
              <a:t>RESULTS AND DISCUSSION</a:t>
            </a:r>
            <a:br>
              <a:rPr lang="en-IN" sz="4400" b="1" dirty="0">
                <a:latin typeface="Times New Roman" panose="02020603050405020304" pitchFamily="18" charset="0"/>
                <a:ea typeface="Calibri" panose="020F0502020204030204" pitchFamily="34" charset="0"/>
                <a:cs typeface="Times New Roman" panose="02020603050405020304" pitchFamily="18" charset="0"/>
              </a:rPr>
            </a:br>
            <a:r>
              <a:rPr lang="en-IN" sz="2200" b="1" dirty="0">
                <a:latin typeface="Times New Roman" panose="02020603050405020304" pitchFamily="18" charset="0"/>
                <a:ea typeface="Calibri" panose="020F0502020204030204" pitchFamily="34" charset="0"/>
              </a:rPr>
              <a:t>DEVELOPMENT OF CALIBRATION CURVE </a:t>
            </a:r>
            <a:br>
              <a:rPr lang="en-IN" sz="1800" dirty="0">
                <a:latin typeface="Arial" panose="020B0604020202020204" pitchFamily="34" charset="0"/>
                <a:ea typeface="Calibri" panose="020F0502020204030204" pitchFamily="34" charset="0"/>
                <a:cs typeface="Arial" panose="020B0604020202020204" pitchFamily="34" charset="0"/>
              </a:rPr>
            </a:br>
            <a:r>
              <a:rPr lang="en-US" sz="2200" dirty="0">
                <a:latin typeface="Times New Roman" panose="02020603050405020304" pitchFamily="18" charset="0"/>
                <a:ea typeface="Calibri" panose="020F0502020204030204" pitchFamily="34" charset="0"/>
                <a:cs typeface="Times New Roman" panose="02020603050405020304" pitchFamily="18" charset="0"/>
              </a:rPr>
              <a:t>The absorbance for various concentrations measured at 222 nm as follows</a:t>
            </a:r>
            <a:br>
              <a:rPr lang="en-US" sz="2200" dirty="0">
                <a:latin typeface="Times New Roman" panose="02020603050405020304" pitchFamily="18" charset="0"/>
                <a:ea typeface="Calibri" panose="020F0502020204030204" pitchFamily="34" charset="0"/>
                <a:cs typeface="Times New Roman" panose="02020603050405020304" pitchFamily="18" charset="0"/>
              </a:rPr>
            </a:br>
            <a:endParaRPr lang="en-IN" sz="2200" dirty="0">
              <a:latin typeface="Times New Roman" panose="02020603050405020304" pitchFamily="18" charset="0"/>
              <a:cs typeface="Times New Roman" panose="02020603050405020304" pitchFamily="18" charset="0"/>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378950356"/>
              </p:ext>
            </p:extLst>
          </p:nvPr>
        </p:nvGraphicFramePr>
        <p:xfrm>
          <a:off x="984631" y="2590800"/>
          <a:ext cx="6781800" cy="2386330"/>
        </p:xfrm>
        <a:graphic>
          <a:graphicData uri="http://schemas.openxmlformats.org/drawingml/2006/table">
            <a:tbl>
              <a:tblPr firstRow="1" firstCol="1" bandRow="1"/>
              <a:tblGrid>
                <a:gridCol w="705088">
                  <a:extLst>
                    <a:ext uri="{9D8B030D-6E8A-4147-A177-3AD203B41FA5}">
                      <a16:colId xmlns:a16="http://schemas.microsoft.com/office/drawing/2014/main" val="20000"/>
                    </a:ext>
                  </a:extLst>
                </a:gridCol>
                <a:gridCol w="2690045">
                  <a:extLst>
                    <a:ext uri="{9D8B030D-6E8A-4147-A177-3AD203B41FA5}">
                      <a16:colId xmlns:a16="http://schemas.microsoft.com/office/drawing/2014/main" val="20001"/>
                    </a:ext>
                  </a:extLst>
                </a:gridCol>
                <a:gridCol w="3386667">
                  <a:extLst>
                    <a:ext uri="{9D8B030D-6E8A-4147-A177-3AD203B41FA5}">
                      <a16:colId xmlns:a16="http://schemas.microsoft.com/office/drawing/2014/main" val="20002"/>
                    </a:ext>
                  </a:extLst>
                </a:gridCol>
              </a:tblGrid>
              <a:tr h="326178">
                <a:tc>
                  <a:txBody>
                    <a:bodyPr/>
                    <a:lstStyle/>
                    <a:p>
                      <a:pPr marL="0" marR="0" algn="ctr">
                        <a:lnSpc>
                          <a:spcPct val="107000"/>
                        </a:lnSpc>
                        <a:spcBef>
                          <a:spcPts val="0"/>
                        </a:spcBef>
                        <a:spcAft>
                          <a:spcPts val="800"/>
                        </a:spcAft>
                      </a:pPr>
                      <a:r>
                        <a:rPr lang="en-US" sz="2000" b="1" kern="100" dirty="0">
                          <a:effectLst/>
                          <a:latin typeface="Times New Roman" panose="02020603050405020304" pitchFamily="18" charset="0"/>
                          <a:ea typeface="Times New Roman" panose="02020603050405020304" pitchFamily="18" charset="0"/>
                          <a:cs typeface="Times New Roman" panose="02020603050405020304" pitchFamily="18" charset="0"/>
                        </a:rPr>
                        <a:t>S.No</a:t>
                      </a:r>
                      <a:endParaRPr lang="en-US"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b="1" kern="100">
                          <a:effectLst/>
                          <a:latin typeface="Times New Roman" panose="02020603050405020304" pitchFamily="18" charset="0"/>
                          <a:ea typeface="Times New Roman" panose="02020603050405020304" pitchFamily="18" charset="0"/>
                          <a:cs typeface="Times New Roman" panose="02020603050405020304" pitchFamily="18" charset="0"/>
                        </a:rPr>
                        <a:t>Concentration (µg/ml)</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b="1" kern="100">
                          <a:effectLst/>
                          <a:latin typeface="Times New Roman" panose="02020603050405020304" pitchFamily="18" charset="0"/>
                          <a:ea typeface="Times New Roman" panose="02020603050405020304" pitchFamily="18" charset="0"/>
                          <a:cs typeface="Times New Roman" panose="02020603050405020304" pitchFamily="18" charset="0"/>
                        </a:rPr>
                        <a:t>Absorbance</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59622">
                <a:tc>
                  <a:txBody>
                    <a:bodyPr/>
                    <a:lstStyle/>
                    <a:p>
                      <a:pPr marL="0" marR="0" algn="ctr">
                        <a:lnSpc>
                          <a:spcPct val="107000"/>
                        </a:lnSpc>
                        <a:spcBef>
                          <a:spcPts val="0"/>
                        </a:spcBef>
                        <a:spcAft>
                          <a:spcPts val="800"/>
                        </a:spcAft>
                      </a:pPr>
                      <a:r>
                        <a:rPr lang="en-US" sz="2000" kern="100" dirty="0">
                          <a:effectLst/>
                          <a:latin typeface="Times New Roman" panose="02020603050405020304" pitchFamily="18" charset="0"/>
                          <a:ea typeface="Times New Roman" panose="02020603050405020304" pitchFamily="18"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kern="100" dirty="0">
                          <a:effectLst/>
                          <a:latin typeface="Times New Roman" panose="02020603050405020304" pitchFamily="18" charset="0"/>
                          <a:ea typeface="Times New Roman" panose="02020603050405020304" pitchFamily="18"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kern="100" dirty="0">
                          <a:effectLst/>
                          <a:latin typeface="Times New Roman" panose="02020603050405020304" pitchFamily="18" charset="0"/>
                          <a:ea typeface="Times New Roman" panose="02020603050405020304" pitchFamily="18" charset="0"/>
                          <a:cs typeface="Times New Roman" panose="02020603050405020304" pitchFamily="18" charset="0"/>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81000">
                <a:tc>
                  <a:txBody>
                    <a:bodyPr/>
                    <a:lstStyle/>
                    <a:p>
                      <a:pPr marL="0" marR="0" algn="ctr">
                        <a:lnSpc>
                          <a:spcPct val="107000"/>
                        </a:lnSpc>
                        <a:spcBef>
                          <a:spcPts val="0"/>
                        </a:spcBef>
                        <a:spcAft>
                          <a:spcPts val="800"/>
                        </a:spcAft>
                      </a:pPr>
                      <a:r>
                        <a:rPr lang="en-US" sz="2000" kern="100">
                          <a:effectLst/>
                          <a:latin typeface="Times New Roman" panose="02020603050405020304" pitchFamily="18" charset="0"/>
                          <a:ea typeface="Times New Roman" panose="02020603050405020304" pitchFamily="18"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kern="100" dirty="0">
                          <a:effectLst/>
                          <a:latin typeface="Times New Roman" panose="02020603050405020304" pitchFamily="18" charset="0"/>
                          <a:ea typeface="Times New Roman" panose="02020603050405020304" pitchFamily="18" charset="0"/>
                          <a:cs typeface="Times New Roman" panose="02020603050405020304" pitchFamily="18"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kern="100" dirty="0">
                          <a:effectLst/>
                          <a:latin typeface="Times New Roman" panose="02020603050405020304" pitchFamily="18" charset="0"/>
                          <a:ea typeface="Times New Roman" panose="02020603050405020304" pitchFamily="18" charset="0"/>
                          <a:cs typeface="Times New Roman" panose="02020603050405020304" pitchFamily="18" charset="0"/>
                        </a:rPr>
                        <a:t>0.181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26178">
                <a:tc>
                  <a:txBody>
                    <a:bodyPr/>
                    <a:lstStyle/>
                    <a:p>
                      <a:pPr marL="0" marR="0" algn="ctr">
                        <a:lnSpc>
                          <a:spcPct val="107000"/>
                        </a:lnSpc>
                        <a:spcBef>
                          <a:spcPts val="0"/>
                        </a:spcBef>
                        <a:spcAft>
                          <a:spcPts val="800"/>
                        </a:spcAft>
                      </a:pPr>
                      <a:r>
                        <a:rPr lang="en-US" sz="2000" kern="100" dirty="0">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kern="100" dirty="0">
                          <a:effectLst/>
                          <a:latin typeface="Times New Roman" panose="02020603050405020304" pitchFamily="18" charset="0"/>
                          <a:ea typeface="Times New Roman" panose="02020603050405020304" pitchFamily="18"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kern="100">
                          <a:effectLst/>
                          <a:latin typeface="Times New Roman" panose="02020603050405020304" pitchFamily="18" charset="0"/>
                          <a:ea typeface="Times New Roman" panose="02020603050405020304" pitchFamily="18" charset="0"/>
                          <a:cs typeface="Times New Roman" panose="02020603050405020304" pitchFamily="18" charset="0"/>
                        </a:rPr>
                        <a:t>0.362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26178">
                <a:tc>
                  <a:txBody>
                    <a:bodyPr/>
                    <a:lstStyle/>
                    <a:p>
                      <a:pPr marL="0" marR="0" algn="ctr">
                        <a:lnSpc>
                          <a:spcPct val="107000"/>
                        </a:lnSpc>
                        <a:spcBef>
                          <a:spcPts val="0"/>
                        </a:spcBef>
                        <a:spcAft>
                          <a:spcPts val="800"/>
                        </a:spcAft>
                      </a:pPr>
                      <a:r>
                        <a:rPr lang="en-US" sz="2000" kern="100" dirty="0">
                          <a:effectLst/>
                          <a:latin typeface="Times New Roman" panose="02020603050405020304" pitchFamily="18" charset="0"/>
                          <a:ea typeface="Times New Roman" panose="02020603050405020304" pitchFamily="18"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kern="100" dirty="0">
                          <a:effectLst/>
                          <a:latin typeface="Times New Roman" panose="02020603050405020304" pitchFamily="18" charset="0"/>
                          <a:ea typeface="Times New Roman" panose="02020603050405020304" pitchFamily="18" charset="0"/>
                          <a:cs typeface="Times New Roman" panose="02020603050405020304" pitchFamily="18"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kern="100" dirty="0">
                          <a:effectLst/>
                          <a:latin typeface="Times New Roman" panose="02020603050405020304" pitchFamily="18" charset="0"/>
                          <a:ea typeface="Times New Roman" panose="02020603050405020304" pitchFamily="18" charset="0"/>
                          <a:cs typeface="Times New Roman" panose="02020603050405020304" pitchFamily="18" charset="0"/>
                        </a:rPr>
                        <a:t>0.543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38244">
                <a:tc>
                  <a:txBody>
                    <a:bodyPr/>
                    <a:lstStyle/>
                    <a:p>
                      <a:pPr marL="0" marR="0" algn="ctr">
                        <a:lnSpc>
                          <a:spcPct val="107000"/>
                        </a:lnSpc>
                        <a:spcBef>
                          <a:spcPts val="0"/>
                        </a:spcBef>
                        <a:spcAft>
                          <a:spcPts val="800"/>
                        </a:spcAft>
                      </a:pPr>
                      <a:r>
                        <a:rPr lang="en-US" sz="2000" kern="100">
                          <a:effectLst/>
                          <a:latin typeface="Times New Roman" panose="02020603050405020304" pitchFamily="18" charset="0"/>
                          <a:ea typeface="Times New Roman" panose="02020603050405020304" pitchFamily="18" charset="0"/>
                          <a:cs typeface="Times New Roman" panose="02020603050405020304" pitchFamily="18"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kern="100" dirty="0">
                          <a:effectLst/>
                          <a:latin typeface="Times New Roman" panose="02020603050405020304" pitchFamily="18" charset="0"/>
                          <a:ea typeface="Times New Roman" panose="02020603050405020304" pitchFamily="18" charset="0"/>
                          <a:cs typeface="Times New Roman" panose="02020603050405020304" pitchFamily="18" charset="0"/>
                        </a:rPr>
                        <a:t>20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kern="100" dirty="0">
                          <a:effectLst/>
                          <a:latin typeface="Times New Roman" panose="02020603050405020304" pitchFamily="18" charset="0"/>
                          <a:ea typeface="Times New Roman" panose="02020603050405020304" pitchFamily="18" charset="0"/>
                          <a:cs typeface="Times New Roman" panose="02020603050405020304" pitchFamily="18" charset="0"/>
                        </a:rPr>
                        <a:t>0.712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28930">
                <a:tc>
                  <a:txBody>
                    <a:bodyPr/>
                    <a:lstStyle/>
                    <a:p>
                      <a:pPr marL="0" marR="0" algn="ctr">
                        <a:lnSpc>
                          <a:spcPct val="107000"/>
                        </a:lnSpc>
                        <a:spcBef>
                          <a:spcPts val="0"/>
                        </a:spcBef>
                        <a:spcAft>
                          <a:spcPts val="800"/>
                        </a:spcAft>
                      </a:pPr>
                      <a:r>
                        <a:rPr lang="en-US" sz="2000" kern="100">
                          <a:effectLst/>
                          <a:latin typeface="Times New Roman" panose="02020603050405020304" pitchFamily="18" charset="0"/>
                          <a:ea typeface="Times New Roman" panose="02020603050405020304" pitchFamily="18" charset="0"/>
                          <a:cs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kern="100" dirty="0">
                          <a:effectLst/>
                          <a:latin typeface="Times New Roman" panose="02020603050405020304" pitchFamily="18" charset="0"/>
                          <a:ea typeface="Times New Roman" panose="02020603050405020304" pitchFamily="18" charset="0"/>
                          <a:cs typeface="Times New Roman" panose="02020603050405020304" pitchFamily="18" charset="0"/>
                        </a:rPr>
                        <a:t>25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kern="100" dirty="0">
                          <a:effectLst/>
                          <a:latin typeface="Times New Roman" panose="02020603050405020304" pitchFamily="18" charset="0"/>
                          <a:ea typeface="Times New Roman" panose="02020603050405020304" pitchFamily="18" charset="0"/>
                          <a:cs typeface="Times New Roman" panose="02020603050405020304" pitchFamily="18" charset="0"/>
                        </a:rPr>
                        <a:t>0.867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2" name="Slide Number Placeholder 11">
            <a:extLst>
              <a:ext uri="{FF2B5EF4-FFF2-40B4-BE49-F238E27FC236}">
                <a16:creationId xmlns:a16="http://schemas.microsoft.com/office/drawing/2014/main" id="{7E9901EE-252E-EE3C-E9D4-57767D818D33}"/>
              </a:ext>
            </a:extLst>
          </p:cNvPr>
          <p:cNvSpPr>
            <a:spLocks noGrp="1"/>
          </p:cNvSpPr>
          <p:nvPr>
            <p:ph type="sldNum" sz="quarter" idx="12"/>
          </p:nvPr>
        </p:nvSpPr>
        <p:spPr/>
        <p:txBody>
          <a:bodyPr/>
          <a:lstStyle/>
          <a:p>
            <a:fld id="{6C412A46-B304-460B-BA6E-26B326EC1AA6}" type="slidenum">
              <a:rPr lang="en-US" smtClean="0"/>
              <a:pPr/>
              <a:t>16</a:t>
            </a:fld>
            <a:endParaRPr lang="en-US"/>
          </a:p>
        </p:txBody>
      </p:sp>
      <p:graphicFrame>
        <p:nvGraphicFramePr>
          <p:cNvPr id="5" name="Chart 4">
            <a:extLst>
              <a:ext uri="{FF2B5EF4-FFF2-40B4-BE49-F238E27FC236}">
                <a16:creationId xmlns:a16="http://schemas.microsoft.com/office/drawing/2014/main" id="{417E6F86-A2A6-EF5A-A212-B6F05640883D}"/>
              </a:ext>
            </a:extLst>
          </p:cNvPr>
          <p:cNvGraphicFramePr>
            <a:graphicFrameLocks/>
          </p:cNvGraphicFramePr>
          <p:nvPr>
            <p:extLst>
              <p:ext uri="{D42A27DB-BD31-4B8C-83A1-F6EECF244321}">
                <p14:modId xmlns:p14="http://schemas.microsoft.com/office/powerpoint/2010/main" val="3955312350"/>
              </p:ext>
            </p:extLst>
          </p:nvPr>
        </p:nvGraphicFramePr>
        <p:xfrm flipV="1">
          <a:off x="11582400" y="5525605"/>
          <a:ext cx="45719" cy="45719"/>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886368CA-25FF-4B03-989B-2EC01FAA69DB}"/>
              </a:ext>
            </a:extLst>
          </p:cNvPr>
          <p:cNvSpPr txBox="1"/>
          <p:nvPr/>
        </p:nvSpPr>
        <p:spPr>
          <a:xfrm>
            <a:off x="1066800" y="5410200"/>
            <a:ext cx="7239000" cy="707886"/>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Standard Calibration Table of Fesoterodine Fumarate in 6.8 pH Phosphate Buffer</a:t>
            </a:r>
          </a:p>
        </p:txBody>
      </p:sp>
    </p:spTree>
    <p:extLst>
      <p:ext uri="{BB962C8B-B14F-4D97-AF65-F5344CB8AC3E}">
        <p14:creationId xmlns:p14="http://schemas.microsoft.com/office/powerpoint/2010/main" val="41743814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C412A46-B304-460B-BA6E-26B326EC1AA6}" type="slidenum">
              <a:rPr lang="en-US" smtClean="0"/>
              <a:pPr/>
              <a:t>17</a:t>
            </a:fld>
            <a:endParaRPr lang="en-US"/>
          </a:p>
        </p:txBody>
      </p:sp>
      <p:sp>
        <p:nvSpPr>
          <p:cNvPr id="3" name="Rectangle 2"/>
          <p:cNvSpPr/>
          <p:nvPr/>
        </p:nvSpPr>
        <p:spPr>
          <a:xfrm>
            <a:off x="304800" y="4800600"/>
            <a:ext cx="9067801" cy="400110"/>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Standard Calibration Graph of  </a:t>
            </a:r>
            <a:r>
              <a:rPr lang="en-US" sz="2000" dirty="0" err="1">
                <a:latin typeface="Times New Roman" panose="02020603050405020304" pitchFamily="18" charset="0"/>
                <a:cs typeface="Times New Roman" panose="02020603050405020304" pitchFamily="18" charset="0"/>
              </a:rPr>
              <a:t>Fesoterodine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Fumarate</a:t>
            </a:r>
            <a:r>
              <a:rPr lang="en-US" sz="2000" dirty="0">
                <a:latin typeface="Times New Roman" panose="02020603050405020304" pitchFamily="18" charset="0"/>
                <a:cs typeface="Times New Roman" panose="02020603050405020304" pitchFamily="18" charset="0"/>
              </a:rPr>
              <a:t> in 6.8 pH Phosphate buffer</a:t>
            </a:r>
          </a:p>
        </p:txBody>
      </p:sp>
      <p:sp>
        <p:nvSpPr>
          <p:cNvPr id="4" name="Rectangle 3"/>
          <p:cNvSpPr/>
          <p:nvPr/>
        </p:nvSpPr>
        <p:spPr>
          <a:xfrm>
            <a:off x="491319" y="5791200"/>
            <a:ext cx="8153400" cy="707886"/>
          </a:xfrm>
          <a:prstGeom prst="rect">
            <a:avLst/>
          </a:prstGeom>
        </p:spPr>
        <p:txBody>
          <a:bodyPr wrap="square">
            <a:spAutoFit/>
          </a:bodyPr>
          <a:lstStyle/>
          <a:p>
            <a:r>
              <a:rPr lang="en-US" sz="2000" dirty="0" err="1">
                <a:latin typeface="Times New Roman" panose="02020603050405020304" pitchFamily="18" charset="0"/>
                <a:cs typeface="Times New Roman" panose="02020603050405020304" pitchFamily="18" charset="0"/>
              </a:rPr>
              <a:t>Fesoterodine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Fumarate</a:t>
            </a:r>
            <a:r>
              <a:rPr lang="en-US" sz="2000" dirty="0">
                <a:latin typeface="Times New Roman" panose="02020603050405020304" pitchFamily="18" charset="0"/>
                <a:cs typeface="Times New Roman" panose="02020603050405020304" pitchFamily="18" charset="0"/>
              </a:rPr>
              <a:t> shows good linearity with the range 0 to 25μg with R2= 0.999, Slope = 0.034 x</a:t>
            </a:r>
          </a:p>
        </p:txBody>
      </p:sp>
      <p:graphicFrame>
        <p:nvGraphicFramePr>
          <p:cNvPr id="5" name="Chart 4">
            <a:extLst>
              <a:ext uri="{FF2B5EF4-FFF2-40B4-BE49-F238E27FC236}">
                <a16:creationId xmlns:a16="http://schemas.microsoft.com/office/drawing/2014/main" id="{417E6F86-A2A6-EF5A-A212-B6F05640883D}"/>
              </a:ext>
            </a:extLst>
          </p:cNvPr>
          <p:cNvGraphicFramePr/>
          <p:nvPr>
            <p:extLst>
              <p:ext uri="{D42A27DB-BD31-4B8C-83A1-F6EECF244321}">
                <p14:modId xmlns:p14="http://schemas.microsoft.com/office/powerpoint/2010/main" val="4107034935"/>
              </p:ext>
            </p:extLst>
          </p:nvPr>
        </p:nvGraphicFramePr>
        <p:xfrm>
          <a:off x="643437" y="1063423"/>
          <a:ext cx="7086600" cy="35464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599385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282FDE-9E27-7E43-F5F2-6975C9F92A1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457200"/>
            <a:ext cx="5181600" cy="2971800"/>
          </a:xfrm>
          <a:prstGeom prst="rect">
            <a:avLst/>
          </a:prstGeom>
        </p:spPr>
      </p:pic>
      <p:pic>
        <p:nvPicPr>
          <p:cNvPr id="5" name="Picture 4">
            <a:extLst>
              <a:ext uri="{FF2B5EF4-FFF2-40B4-BE49-F238E27FC236}">
                <a16:creationId xmlns:a16="http://schemas.microsoft.com/office/drawing/2014/main" id="{019070F2-1583-8B38-EA01-69E92E97BE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62488" y="3514151"/>
            <a:ext cx="5147393" cy="3247030"/>
          </a:xfrm>
          <a:prstGeom prst="rect">
            <a:avLst/>
          </a:prstGeom>
        </p:spPr>
      </p:pic>
      <p:sp>
        <p:nvSpPr>
          <p:cNvPr id="20" name="Slide Number Placeholder 19">
            <a:extLst>
              <a:ext uri="{FF2B5EF4-FFF2-40B4-BE49-F238E27FC236}">
                <a16:creationId xmlns:a16="http://schemas.microsoft.com/office/drawing/2014/main" id="{D856D75C-6356-0942-9650-1DC32940DBFB}"/>
              </a:ext>
            </a:extLst>
          </p:cNvPr>
          <p:cNvSpPr>
            <a:spLocks noGrp="1"/>
          </p:cNvSpPr>
          <p:nvPr>
            <p:ph type="sldNum" sz="quarter" idx="12"/>
          </p:nvPr>
        </p:nvSpPr>
        <p:spPr/>
        <p:txBody>
          <a:bodyPr/>
          <a:lstStyle/>
          <a:p>
            <a:fld id="{6C412A46-B304-460B-BA6E-26B326EC1AA6}" type="slidenum">
              <a:rPr lang="en-US" smtClean="0"/>
              <a:pPr/>
              <a:t>18</a:t>
            </a:fld>
            <a:endParaRPr lang="en-US"/>
          </a:p>
        </p:txBody>
      </p:sp>
      <p:sp>
        <p:nvSpPr>
          <p:cNvPr id="2" name="TextBox 1"/>
          <p:cNvSpPr txBox="1"/>
          <p:nvPr/>
        </p:nvSpPr>
        <p:spPr>
          <a:xfrm>
            <a:off x="457200" y="57090"/>
            <a:ext cx="2023824"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FT-IR STUDIES</a:t>
            </a:r>
          </a:p>
        </p:txBody>
      </p:sp>
      <p:sp>
        <p:nvSpPr>
          <p:cNvPr id="4" name="TextBox 3"/>
          <p:cNvSpPr txBox="1"/>
          <p:nvPr/>
        </p:nvSpPr>
        <p:spPr>
          <a:xfrm>
            <a:off x="5553380" y="1752600"/>
            <a:ext cx="3590620" cy="677108"/>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FT-IR Spectrum of Calcium </a:t>
            </a:r>
            <a:r>
              <a:rPr lang="en-US" sz="2000" dirty="0">
                <a:latin typeface="Times New Roman" panose="02020603050405020304" pitchFamily="18" charset="0"/>
                <a:cs typeface="Times New Roman" panose="02020603050405020304" pitchFamily="18" charset="0"/>
              </a:rPr>
              <a:t>Chloride</a:t>
            </a:r>
          </a:p>
        </p:txBody>
      </p:sp>
      <p:sp>
        <p:nvSpPr>
          <p:cNvPr id="6" name="TextBox 5"/>
          <p:cNvSpPr txBox="1"/>
          <p:nvPr/>
        </p:nvSpPr>
        <p:spPr>
          <a:xfrm>
            <a:off x="0" y="4953000"/>
            <a:ext cx="3917226" cy="707886"/>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FT-IR Spectrum of Sodium Alginate</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92199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C412A46-B304-460B-BA6E-26B326EC1AA6}" type="slidenum">
              <a:rPr lang="en-US" smtClean="0"/>
              <a:pPr/>
              <a:t>19</a:t>
            </a:fld>
            <a:endParaRPr lang="en-US"/>
          </a:p>
        </p:txBody>
      </p:sp>
      <p:pic>
        <p:nvPicPr>
          <p:cNvPr id="3" name="Picture 2">
            <a:extLst>
              <a:ext uri="{FF2B5EF4-FFF2-40B4-BE49-F238E27FC236}">
                <a16:creationId xmlns:a16="http://schemas.microsoft.com/office/drawing/2014/main" id="{A87382F1-611D-018A-28F4-72595B7B9B72}"/>
              </a:ext>
            </a:extLst>
          </p:cNvPr>
          <p:cNvPicPr>
            <a:picLocks noChangeAspect="1"/>
          </p:cNvPicPr>
          <p:nvPr/>
        </p:nvPicPr>
        <p:blipFill rotWithShape="1">
          <a:blip r:embed="rId2">
            <a:extLst>
              <a:ext uri="{28A0092B-C50C-407E-A947-70E740481C1C}">
                <a14:useLocalDpi xmlns:a14="http://schemas.microsoft.com/office/drawing/2010/main" val="0"/>
              </a:ext>
            </a:extLst>
          </a:blip>
          <a:srcRect l="10290" t="10102" r="7323" b="19103"/>
          <a:stretch/>
        </p:blipFill>
        <p:spPr>
          <a:xfrm>
            <a:off x="152400" y="152400"/>
            <a:ext cx="5181600" cy="3145221"/>
          </a:xfrm>
          <a:prstGeom prst="rect">
            <a:avLst/>
          </a:prstGeom>
        </p:spPr>
      </p:pic>
      <p:pic>
        <p:nvPicPr>
          <p:cNvPr id="4" name="Picture 3">
            <a:extLst>
              <a:ext uri="{FF2B5EF4-FFF2-40B4-BE49-F238E27FC236}">
                <a16:creationId xmlns:a16="http://schemas.microsoft.com/office/drawing/2014/main" id="{3212F54F-D461-ED7C-FFA7-3E97BB16212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6933" r="1666" b="2128"/>
          <a:stretch/>
        </p:blipFill>
        <p:spPr>
          <a:xfrm>
            <a:off x="3962400" y="3690292"/>
            <a:ext cx="5029200" cy="3015308"/>
          </a:xfrm>
          <a:prstGeom prst="rect">
            <a:avLst/>
          </a:prstGeom>
        </p:spPr>
      </p:pic>
      <p:sp>
        <p:nvSpPr>
          <p:cNvPr id="5" name="TextBox 4"/>
          <p:cNvSpPr txBox="1"/>
          <p:nvPr/>
        </p:nvSpPr>
        <p:spPr>
          <a:xfrm>
            <a:off x="5567996" y="1760267"/>
            <a:ext cx="2916696"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FT-IR Spectrum of HPMC</a:t>
            </a:r>
          </a:p>
        </p:txBody>
      </p:sp>
      <p:sp>
        <p:nvSpPr>
          <p:cNvPr id="6" name="TextBox 5"/>
          <p:cNvSpPr txBox="1"/>
          <p:nvPr/>
        </p:nvSpPr>
        <p:spPr>
          <a:xfrm>
            <a:off x="685800" y="4953000"/>
            <a:ext cx="2537874" cy="707886"/>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FT-IR Spectrum of </a:t>
            </a:r>
          </a:p>
          <a:p>
            <a:r>
              <a:rPr lang="en-US" sz="2000" dirty="0" err="1">
                <a:latin typeface="Times New Roman" panose="02020603050405020304" pitchFamily="18" charset="0"/>
                <a:cs typeface="Times New Roman" panose="02020603050405020304" pitchFamily="18" charset="0"/>
              </a:rPr>
              <a:t>Fesoterodine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Fumarate</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58734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C412A46-B304-460B-BA6E-26B326EC1AA6}" type="slidenum">
              <a:rPr lang="en-US" smtClean="0"/>
              <a:pPr/>
              <a:t>20</a:t>
            </a:fld>
            <a:endParaRPr lang="en-US"/>
          </a:p>
        </p:txBody>
      </p:sp>
      <p:graphicFrame>
        <p:nvGraphicFramePr>
          <p:cNvPr id="3" name="Table 2"/>
          <p:cNvGraphicFramePr>
            <a:graphicFrameLocks noGrp="1"/>
          </p:cNvGraphicFramePr>
          <p:nvPr>
            <p:extLst>
              <p:ext uri="{D42A27DB-BD31-4B8C-83A1-F6EECF244321}">
                <p14:modId xmlns:p14="http://schemas.microsoft.com/office/powerpoint/2010/main" val="2237345346"/>
              </p:ext>
            </p:extLst>
          </p:nvPr>
        </p:nvGraphicFramePr>
        <p:xfrm>
          <a:off x="533400" y="2133600"/>
          <a:ext cx="7010400" cy="4334320"/>
        </p:xfrm>
        <a:graphic>
          <a:graphicData uri="http://schemas.openxmlformats.org/drawingml/2006/table">
            <a:tbl>
              <a:tblPr firstRow="1" firstCol="1" bandRow="1"/>
              <a:tblGrid>
                <a:gridCol w="2336541">
                  <a:extLst>
                    <a:ext uri="{9D8B030D-6E8A-4147-A177-3AD203B41FA5}">
                      <a16:colId xmlns:a16="http://schemas.microsoft.com/office/drawing/2014/main" val="20000"/>
                    </a:ext>
                  </a:extLst>
                </a:gridCol>
                <a:gridCol w="2336541">
                  <a:extLst>
                    <a:ext uri="{9D8B030D-6E8A-4147-A177-3AD203B41FA5}">
                      <a16:colId xmlns:a16="http://schemas.microsoft.com/office/drawing/2014/main" val="20001"/>
                    </a:ext>
                  </a:extLst>
                </a:gridCol>
                <a:gridCol w="2337318">
                  <a:extLst>
                    <a:ext uri="{9D8B030D-6E8A-4147-A177-3AD203B41FA5}">
                      <a16:colId xmlns:a16="http://schemas.microsoft.com/office/drawing/2014/main" val="20002"/>
                    </a:ext>
                  </a:extLst>
                </a:gridCol>
              </a:tblGrid>
              <a:tr h="1469200">
                <a:tc>
                  <a:txBody>
                    <a:bodyPr/>
                    <a:lstStyle/>
                    <a:p>
                      <a:pPr marL="0" marR="194945" algn="just">
                        <a:lnSpc>
                          <a:spcPct val="150000"/>
                        </a:lnSpc>
                        <a:spcBef>
                          <a:spcPts val="0"/>
                        </a:spcBef>
                        <a:spcAft>
                          <a:spcPts val="0"/>
                        </a:spcAft>
                      </a:pPr>
                      <a:r>
                        <a:rPr lang="en-US" sz="2000" b="1" kern="100" dirty="0">
                          <a:effectLst/>
                          <a:latin typeface="Times New Roman" panose="02020603050405020304" pitchFamily="18" charset="0"/>
                          <a:ea typeface="Times New Roman" panose="02020603050405020304" pitchFamily="18" charset="0"/>
                          <a:cs typeface="Times New Roman" panose="02020603050405020304" pitchFamily="18" charset="0"/>
                        </a:rPr>
                        <a:t>Functional Groups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94945" algn="just">
                        <a:lnSpc>
                          <a:spcPct val="150000"/>
                        </a:lnSpc>
                        <a:spcBef>
                          <a:spcPts val="0"/>
                        </a:spcBef>
                        <a:spcAft>
                          <a:spcPts val="0"/>
                        </a:spcAft>
                      </a:pPr>
                      <a:r>
                        <a:rPr lang="en-US" sz="2000" b="1" kern="100" dirty="0">
                          <a:effectLst/>
                          <a:latin typeface="Times New Roman" panose="02020603050405020304" pitchFamily="18" charset="0"/>
                          <a:ea typeface="Times New Roman" panose="02020603050405020304" pitchFamily="18" charset="0"/>
                          <a:cs typeface="Times New Roman" panose="02020603050405020304" pitchFamily="18" charset="0"/>
                        </a:rPr>
                        <a:t> Mode of Vibration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94945" algn="just">
                        <a:lnSpc>
                          <a:spcPct val="150000"/>
                        </a:lnSpc>
                        <a:spcBef>
                          <a:spcPts val="0"/>
                        </a:spcBef>
                        <a:spcAft>
                          <a:spcPts val="0"/>
                        </a:spcAft>
                      </a:pPr>
                      <a:r>
                        <a:rPr lang="en-US" sz="2000" b="1" kern="100" dirty="0">
                          <a:effectLst/>
                          <a:latin typeface="Times New Roman" panose="02020603050405020304" pitchFamily="18" charset="0"/>
                          <a:ea typeface="Times New Roman" panose="02020603050405020304" pitchFamily="18" charset="0"/>
                          <a:cs typeface="Times New Roman" panose="02020603050405020304" pitchFamily="18" charset="0"/>
                        </a:rPr>
                        <a:t> Wave number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16280">
                <a:tc>
                  <a:txBody>
                    <a:bodyPr/>
                    <a:lstStyle/>
                    <a:p>
                      <a:pPr marL="0" marR="194945" algn="just">
                        <a:lnSpc>
                          <a:spcPct val="150000"/>
                        </a:lnSpc>
                        <a:spcBef>
                          <a:spcPts val="0"/>
                        </a:spcBef>
                        <a:spcAft>
                          <a:spcPts val="0"/>
                        </a:spcAft>
                      </a:pPr>
                      <a:r>
                        <a:rPr lang="en-US" sz="2000" kern="100" dirty="0">
                          <a:effectLst/>
                          <a:latin typeface="Times New Roman" panose="02020603050405020304" pitchFamily="18" charset="0"/>
                          <a:ea typeface="Times New Roman" panose="02020603050405020304" pitchFamily="18" charset="0"/>
                          <a:cs typeface="Times New Roman" panose="02020603050405020304" pitchFamily="18" charset="0"/>
                        </a:rPr>
                        <a:t>O-H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94945" algn="just">
                        <a:lnSpc>
                          <a:spcPct val="150000"/>
                        </a:lnSpc>
                        <a:spcBef>
                          <a:spcPts val="0"/>
                        </a:spcBef>
                        <a:spcAft>
                          <a:spcPts val="0"/>
                        </a:spcAft>
                      </a:pPr>
                      <a:r>
                        <a:rPr lang="en-US" sz="2000" kern="100" dirty="0">
                          <a:effectLst/>
                          <a:latin typeface="Times New Roman" panose="02020603050405020304" pitchFamily="18" charset="0"/>
                          <a:ea typeface="Times New Roman" panose="02020603050405020304" pitchFamily="18" charset="0"/>
                          <a:cs typeface="Times New Roman" panose="02020603050405020304" pitchFamily="18" charset="0"/>
                        </a:rPr>
                        <a:t>Stretching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94945" algn="just">
                        <a:lnSpc>
                          <a:spcPct val="150000"/>
                        </a:lnSpc>
                        <a:spcBef>
                          <a:spcPts val="0"/>
                        </a:spcBef>
                        <a:spcAft>
                          <a:spcPts val="0"/>
                        </a:spcAft>
                      </a:pPr>
                      <a:r>
                        <a:rPr lang="en-US" sz="2000" kern="100">
                          <a:effectLst/>
                          <a:latin typeface="Times New Roman" panose="02020603050405020304" pitchFamily="18" charset="0"/>
                          <a:ea typeface="Times New Roman" panose="02020603050405020304" pitchFamily="18" charset="0"/>
                          <a:cs typeface="Times New Roman" panose="02020603050405020304" pitchFamily="18" charset="0"/>
                        </a:rPr>
                        <a:t>2992.30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16280">
                <a:tc>
                  <a:txBody>
                    <a:bodyPr/>
                    <a:lstStyle/>
                    <a:p>
                      <a:pPr marL="0" marR="194945" algn="just">
                        <a:lnSpc>
                          <a:spcPct val="150000"/>
                        </a:lnSpc>
                        <a:spcBef>
                          <a:spcPts val="0"/>
                        </a:spcBef>
                        <a:spcAft>
                          <a:spcPts val="0"/>
                        </a:spcAft>
                      </a:pPr>
                      <a:r>
                        <a:rPr lang="en-US" sz="2000" kern="100" dirty="0">
                          <a:effectLst/>
                          <a:latin typeface="Times New Roman" panose="02020603050405020304" pitchFamily="18" charset="0"/>
                          <a:ea typeface="Times New Roman" panose="02020603050405020304" pitchFamily="18" charset="0"/>
                          <a:cs typeface="Times New Roman" panose="02020603050405020304" pitchFamily="18" charset="0"/>
                        </a:rPr>
                        <a:t>C=C</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94945" algn="just">
                        <a:lnSpc>
                          <a:spcPct val="150000"/>
                        </a:lnSpc>
                        <a:spcBef>
                          <a:spcPts val="0"/>
                        </a:spcBef>
                        <a:spcAft>
                          <a:spcPts val="0"/>
                        </a:spcAft>
                      </a:pPr>
                      <a:r>
                        <a:rPr lang="en-US" sz="2000" kern="100" dirty="0">
                          <a:effectLst/>
                          <a:latin typeface="Times New Roman" panose="02020603050405020304" pitchFamily="18" charset="0"/>
                          <a:ea typeface="Times New Roman" panose="02020603050405020304" pitchFamily="18" charset="0"/>
                          <a:cs typeface="Times New Roman" panose="02020603050405020304" pitchFamily="18" charset="0"/>
                        </a:rPr>
                        <a:t>Stretching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94945" algn="just">
                        <a:lnSpc>
                          <a:spcPct val="150000"/>
                        </a:lnSpc>
                        <a:spcBef>
                          <a:spcPts val="0"/>
                        </a:spcBef>
                        <a:spcAft>
                          <a:spcPts val="0"/>
                        </a:spcAft>
                      </a:pPr>
                      <a:r>
                        <a:rPr lang="en-US" sz="2000" kern="100">
                          <a:effectLst/>
                          <a:latin typeface="Times New Roman" panose="02020603050405020304" pitchFamily="18" charset="0"/>
                          <a:ea typeface="Times New Roman" panose="02020603050405020304" pitchFamily="18" charset="0"/>
                          <a:cs typeface="Times New Roman" panose="02020603050405020304" pitchFamily="18" charset="0"/>
                        </a:rPr>
                        <a:t>1659.53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432560">
                <a:tc>
                  <a:txBody>
                    <a:bodyPr/>
                    <a:lstStyle/>
                    <a:p>
                      <a:pPr marL="0" marR="194945" algn="just">
                        <a:lnSpc>
                          <a:spcPct val="150000"/>
                        </a:lnSpc>
                        <a:spcBef>
                          <a:spcPts val="0"/>
                        </a:spcBef>
                        <a:spcAft>
                          <a:spcPts val="0"/>
                        </a:spcAft>
                      </a:pPr>
                      <a:r>
                        <a:rPr lang="en-US" sz="2000" kern="100" dirty="0">
                          <a:effectLst/>
                          <a:latin typeface="Times New Roman" panose="02020603050405020304" pitchFamily="18" charset="0"/>
                          <a:ea typeface="Times New Roman" panose="02020603050405020304" pitchFamily="18" charset="0"/>
                          <a:cs typeface="Times New Roman" panose="02020603050405020304" pitchFamily="18" charset="0"/>
                        </a:rPr>
                        <a:t>C=O</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94945" algn="just">
                        <a:lnSpc>
                          <a:spcPct val="150000"/>
                        </a:lnSpc>
                        <a:spcBef>
                          <a:spcPts val="0"/>
                        </a:spcBef>
                        <a:spcAft>
                          <a:spcPts val="0"/>
                        </a:spcAft>
                      </a:pPr>
                      <a:r>
                        <a:rPr lang="en-US" sz="2000" kern="100" dirty="0">
                          <a:effectLst/>
                          <a:latin typeface="Times New Roman" panose="02020603050405020304" pitchFamily="18" charset="0"/>
                          <a:ea typeface="Times New Roman" panose="02020603050405020304" pitchFamily="18" charset="0"/>
                          <a:cs typeface="Times New Roman" panose="02020603050405020304" pitchFamily="18" charset="0"/>
                        </a:rPr>
                        <a:t>Stretching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94945" algn="just">
                        <a:lnSpc>
                          <a:spcPct val="150000"/>
                        </a:lnSpc>
                        <a:spcBef>
                          <a:spcPts val="0"/>
                        </a:spcBef>
                        <a:spcAft>
                          <a:spcPts val="0"/>
                        </a:spcAft>
                      </a:pPr>
                      <a:r>
                        <a:rPr lang="en-US" sz="2000" kern="100" dirty="0">
                          <a:effectLst/>
                          <a:latin typeface="Times New Roman" panose="02020603050405020304" pitchFamily="18" charset="0"/>
                          <a:ea typeface="Times New Roman" panose="02020603050405020304" pitchFamily="18" charset="0"/>
                          <a:cs typeface="Times New Roman" panose="02020603050405020304" pitchFamily="18" charset="0"/>
                        </a:rPr>
                        <a:t>1754.59</a:t>
                      </a:r>
                    </a:p>
                    <a:p>
                      <a:pPr marL="0" marR="194945" algn="just">
                        <a:lnSpc>
                          <a:spcPct val="150000"/>
                        </a:lnSpc>
                        <a:spcBef>
                          <a:spcPts val="0"/>
                        </a:spcBef>
                        <a:spcAft>
                          <a:spcPts val="0"/>
                        </a:spcAft>
                      </a:pPr>
                      <a:r>
                        <a:rPr lang="en-US" sz="2000" kern="100" dirty="0">
                          <a:effectLst/>
                          <a:latin typeface="Times New Roman" panose="02020603050405020304" pitchFamily="18" charset="0"/>
                          <a:ea typeface="Times New Roman" panose="02020603050405020304" pitchFamily="18" charset="0"/>
                          <a:cs typeface="Times New Roman" panose="02020603050405020304" pitchFamily="18" charset="0"/>
                        </a:rPr>
                        <a:t>1722.79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Rectangle 3"/>
          <p:cNvSpPr/>
          <p:nvPr/>
        </p:nvSpPr>
        <p:spPr>
          <a:xfrm>
            <a:off x="679831" y="733068"/>
            <a:ext cx="7086600" cy="707886"/>
          </a:xfrm>
          <a:prstGeom prst="rect">
            <a:avLst/>
          </a:prstGeom>
        </p:spPr>
        <p:txBody>
          <a:bodyPr wrap="square">
            <a:spAutoFit/>
          </a:bodyPr>
          <a:lstStyle/>
          <a:p>
            <a:r>
              <a:rPr lang="en-US" sz="2000" b="1" kern="0" dirty="0">
                <a:latin typeface="Times New Roman" panose="02020603050405020304" pitchFamily="18" charset="0"/>
                <a:ea typeface="Times New Roman" panose="02020603050405020304" pitchFamily="18" charset="0"/>
              </a:rPr>
              <a:t>FTIR spectra of </a:t>
            </a:r>
            <a:r>
              <a:rPr lang="en-US" sz="2000" b="1" kern="0" spc="-35" dirty="0" err="1">
                <a:latin typeface="Times New Roman" panose="02020603050405020304" pitchFamily="18" charset="0"/>
                <a:ea typeface="Times New Roman" panose="02020603050405020304" pitchFamily="18" charset="0"/>
              </a:rPr>
              <a:t>Fesoterodine</a:t>
            </a:r>
            <a:r>
              <a:rPr lang="en-US" sz="2000" b="1" kern="0" dirty="0">
                <a:latin typeface="Times New Roman" panose="02020603050405020304" pitchFamily="18" charset="0"/>
                <a:ea typeface="Times New Roman" panose="02020603050405020304" pitchFamily="18" charset="0"/>
              </a:rPr>
              <a:t> </a:t>
            </a:r>
            <a:r>
              <a:rPr lang="en-US" sz="2000" b="1" kern="0" dirty="0" err="1">
                <a:latin typeface="Times New Roman" panose="02020603050405020304" pitchFamily="18" charset="0"/>
                <a:ea typeface="Times New Roman" panose="02020603050405020304" pitchFamily="18" charset="0"/>
              </a:rPr>
              <a:t>Fumarate</a:t>
            </a:r>
            <a:r>
              <a:rPr lang="en-US" sz="2000" b="1" kern="0" dirty="0">
                <a:latin typeface="Times New Roman" panose="02020603050405020304" pitchFamily="18" charset="0"/>
                <a:ea typeface="Times New Roman" panose="02020603050405020304" pitchFamily="18" charset="0"/>
              </a:rPr>
              <a:t> pure drug display principal bands at a wave number as follows.</a:t>
            </a:r>
            <a:endParaRPr lang="en-US" sz="2000" dirty="0"/>
          </a:p>
        </p:txBody>
      </p:sp>
    </p:spTree>
    <p:extLst>
      <p:ext uri="{BB962C8B-B14F-4D97-AF65-F5344CB8AC3E}">
        <p14:creationId xmlns:p14="http://schemas.microsoft.com/office/powerpoint/2010/main" val="14542638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C412A46-B304-460B-BA6E-26B326EC1AA6}" type="slidenum">
              <a:rPr lang="en-US" smtClean="0"/>
              <a:pPr/>
              <a:t>21</a:t>
            </a:fld>
            <a:endParaRPr lang="en-US"/>
          </a:p>
        </p:txBody>
      </p:sp>
      <p:sp>
        <p:nvSpPr>
          <p:cNvPr id="7" name="TextBox 6"/>
          <p:cNvSpPr txBox="1"/>
          <p:nvPr/>
        </p:nvSpPr>
        <p:spPr>
          <a:xfrm>
            <a:off x="1905000" y="111070"/>
            <a:ext cx="5659242"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CUMULATIVE % OF DRUG RELEASE (F1-F4</a:t>
            </a:r>
            <a:r>
              <a:rPr lang="en-US" dirty="0"/>
              <a:t>)</a:t>
            </a:r>
          </a:p>
        </p:txBody>
      </p:sp>
      <p:graphicFrame>
        <p:nvGraphicFramePr>
          <p:cNvPr id="5" name="Table 4">
            <a:extLst>
              <a:ext uri="{FF2B5EF4-FFF2-40B4-BE49-F238E27FC236}">
                <a16:creationId xmlns:a16="http://schemas.microsoft.com/office/drawing/2014/main" id="{82B95822-99EE-96CC-A795-41BF13B5C104}"/>
              </a:ext>
            </a:extLst>
          </p:cNvPr>
          <p:cNvGraphicFramePr>
            <a:graphicFrameLocks noGrp="1"/>
          </p:cNvGraphicFramePr>
          <p:nvPr>
            <p:extLst>
              <p:ext uri="{D42A27DB-BD31-4B8C-83A1-F6EECF244321}">
                <p14:modId xmlns:p14="http://schemas.microsoft.com/office/powerpoint/2010/main" val="1318098509"/>
              </p:ext>
            </p:extLst>
          </p:nvPr>
        </p:nvGraphicFramePr>
        <p:xfrm>
          <a:off x="152400" y="1055131"/>
          <a:ext cx="3581400" cy="5217648"/>
        </p:xfrm>
        <a:graphic>
          <a:graphicData uri="http://schemas.openxmlformats.org/drawingml/2006/table">
            <a:tbl>
              <a:tblPr>
                <a:tableStyleId>{5940675A-B579-460E-94D1-54222C63F5DA}</a:tableStyleId>
              </a:tblPr>
              <a:tblGrid>
                <a:gridCol w="601436">
                  <a:extLst>
                    <a:ext uri="{9D8B030D-6E8A-4147-A177-3AD203B41FA5}">
                      <a16:colId xmlns:a16="http://schemas.microsoft.com/office/drawing/2014/main" val="466965624"/>
                    </a:ext>
                  </a:extLst>
                </a:gridCol>
                <a:gridCol w="746840">
                  <a:extLst>
                    <a:ext uri="{9D8B030D-6E8A-4147-A177-3AD203B41FA5}">
                      <a16:colId xmlns:a16="http://schemas.microsoft.com/office/drawing/2014/main" val="1435364214"/>
                    </a:ext>
                  </a:extLst>
                </a:gridCol>
                <a:gridCol w="709124">
                  <a:extLst>
                    <a:ext uri="{9D8B030D-6E8A-4147-A177-3AD203B41FA5}">
                      <a16:colId xmlns:a16="http://schemas.microsoft.com/office/drawing/2014/main" val="2666521864"/>
                    </a:ext>
                  </a:extLst>
                </a:gridCol>
                <a:gridCol w="718459">
                  <a:extLst>
                    <a:ext uri="{9D8B030D-6E8A-4147-A177-3AD203B41FA5}">
                      <a16:colId xmlns:a16="http://schemas.microsoft.com/office/drawing/2014/main" val="2444531051"/>
                    </a:ext>
                  </a:extLst>
                </a:gridCol>
                <a:gridCol w="805541">
                  <a:extLst>
                    <a:ext uri="{9D8B030D-6E8A-4147-A177-3AD203B41FA5}">
                      <a16:colId xmlns:a16="http://schemas.microsoft.com/office/drawing/2014/main" val="287215163"/>
                    </a:ext>
                  </a:extLst>
                </a:gridCol>
              </a:tblGrid>
              <a:tr h="914745">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Time (hrs)</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F1</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F2</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b="1" u="none" strike="noStrike">
                          <a:effectLst/>
                          <a:latin typeface="Times New Roman" panose="02020603050405020304" pitchFamily="18" charset="0"/>
                          <a:cs typeface="Times New Roman" panose="02020603050405020304" pitchFamily="18" charset="0"/>
                        </a:rPr>
                        <a:t>F3</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F4</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481209804"/>
                  </a:ext>
                </a:extLst>
              </a:tr>
              <a:tr h="391173">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0</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0</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0</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0</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0</a:t>
                      </a:r>
                      <a:endParaRPr lang="en-IN" sz="2000" b="1" i="0" u="none" strike="noStrike" dirty="0">
                        <a:solidFill>
                          <a:srgbClr val="FF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519263957"/>
                  </a:ext>
                </a:extLst>
              </a:tr>
              <a:tr h="391173">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1</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17</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12</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14</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16</a:t>
                      </a:r>
                      <a:endParaRPr lang="en-IN" sz="2000" b="1" i="0" u="none" strike="noStrike">
                        <a:solidFill>
                          <a:srgbClr val="FF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287905563"/>
                  </a:ext>
                </a:extLst>
              </a:tr>
              <a:tr h="391173">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2</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26</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22</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28</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29</a:t>
                      </a:r>
                      <a:endParaRPr lang="en-IN" sz="2000" b="1" i="0" u="none" strike="noStrike">
                        <a:solidFill>
                          <a:srgbClr val="FF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182896110"/>
                  </a:ext>
                </a:extLst>
              </a:tr>
              <a:tr h="391173">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3</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37</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34</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39</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37</a:t>
                      </a:r>
                      <a:endParaRPr lang="en-IN" sz="2000" b="1" i="0" u="none" strike="noStrike">
                        <a:solidFill>
                          <a:srgbClr val="FF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207135846"/>
                  </a:ext>
                </a:extLst>
              </a:tr>
              <a:tr h="391173">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4</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43</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41</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53</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52</a:t>
                      </a:r>
                      <a:endParaRPr lang="en-IN" sz="2000" b="1" i="0" u="none" strike="noStrike">
                        <a:solidFill>
                          <a:srgbClr val="FF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946719659"/>
                  </a:ext>
                </a:extLst>
              </a:tr>
              <a:tr h="391173">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5</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48</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46</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57</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58</a:t>
                      </a:r>
                      <a:endParaRPr lang="en-IN" sz="2000" b="1" i="0" u="none" strike="noStrike">
                        <a:solidFill>
                          <a:srgbClr val="FF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509545510"/>
                  </a:ext>
                </a:extLst>
              </a:tr>
              <a:tr h="391173">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6</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52</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48</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59</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62</a:t>
                      </a:r>
                      <a:endParaRPr lang="en-IN" sz="2000" b="1" i="0" u="none" strike="noStrike">
                        <a:solidFill>
                          <a:srgbClr val="FF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940251944"/>
                  </a:ext>
                </a:extLst>
              </a:tr>
              <a:tr h="391173">
                <a:tc>
                  <a:txBody>
                    <a:bodyPr/>
                    <a:lstStyle/>
                    <a:p>
                      <a:pPr algn="ctr" fontAlgn="ctr"/>
                      <a:r>
                        <a:rPr lang="en-IN" sz="2000" b="1" u="none" strike="noStrike">
                          <a:effectLst/>
                          <a:latin typeface="Times New Roman" panose="02020603050405020304" pitchFamily="18" charset="0"/>
                          <a:cs typeface="Times New Roman" panose="02020603050405020304" pitchFamily="18" charset="0"/>
                        </a:rPr>
                        <a:t>7</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59</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54</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69</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79</a:t>
                      </a:r>
                      <a:endParaRPr lang="en-IN" sz="2000" b="1" i="0" u="none" strike="noStrike">
                        <a:solidFill>
                          <a:srgbClr val="FF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823724351"/>
                  </a:ext>
                </a:extLst>
              </a:tr>
              <a:tr h="391173">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8</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71</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64</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77</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87</a:t>
                      </a:r>
                      <a:endParaRPr lang="en-IN" sz="2000" b="1" i="0" u="none" strike="noStrike">
                        <a:solidFill>
                          <a:srgbClr val="FF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028093462"/>
                  </a:ext>
                </a:extLst>
              </a:tr>
              <a:tr h="391173">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10</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88</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79</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87</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92</a:t>
                      </a:r>
                      <a:endParaRPr lang="en-IN" sz="2000" b="1" i="0" u="none" strike="noStrike" dirty="0">
                        <a:solidFill>
                          <a:srgbClr val="FF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978264700"/>
                  </a:ext>
                </a:extLst>
              </a:tr>
              <a:tr h="391173">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12</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93</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91</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94</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98</a:t>
                      </a:r>
                      <a:endParaRPr lang="en-IN" sz="2000" b="1" i="0" u="none" strike="noStrike" dirty="0">
                        <a:solidFill>
                          <a:srgbClr val="FF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22124062"/>
                  </a:ext>
                </a:extLst>
              </a:tr>
            </a:tbl>
          </a:graphicData>
        </a:graphic>
      </p:graphicFrame>
      <p:graphicFrame>
        <p:nvGraphicFramePr>
          <p:cNvPr id="6" name="Chart 5">
            <a:extLst>
              <a:ext uri="{FF2B5EF4-FFF2-40B4-BE49-F238E27FC236}">
                <a16:creationId xmlns:a16="http://schemas.microsoft.com/office/drawing/2014/main" id="{E4198B29-DB04-4249-E739-239D6562F3A7}"/>
              </a:ext>
            </a:extLst>
          </p:cNvPr>
          <p:cNvGraphicFramePr>
            <a:graphicFrameLocks/>
          </p:cNvGraphicFramePr>
          <p:nvPr>
            <p:extLst>
              <p:ext uri="{D42A27DB-BD31-4B8C-83A1-F6EECF244321}">
                <p14:modId xmlns:p14="http://schemas.microsoft.com/office/powerpoint/2010/main" val="520338486"/>
              </p:ext>
            </p:extLst>
          </p:nvPr>
        </p:nvGraphicFramePr>
        <p:xfrm>
          <a:off x="3886200" y="1219200"/>
          <a:ext cx="5257800" cy="3962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85206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C412A46-B304-460B-BA6E-26B326EC1AA6}" type="slidenum">
              <a:rPr lang="en-US" smtClean="0"/>
              <a:pPr/>
              <a:t>22</a:t>
            </a:fld>
            <a:endParaRPr lang="en-US"/>
          </a:p>
        </p:txBody>
      </p:sp>
      <p:sp>
        <p:nvSpPr>
          <p:cNvPr id="5" name="TextBox 4"/>
          <p:cNvSpPr txBox="1"/>
          <p:nvPr/>
        </p:nvSpPr>
        <p:spPr>
          <a:xfrm>
            <a:off x="1600200" y="0"/>
            <a:ext cx="5657639"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CUMULATIVE % OF DRUG RELEASE (F5-F8)</a:t>
            </a:r>
          </a:p>
        </p:txBody>
      </p:sp>
      <p:graphicFrame>
        <p:nvGraphicFramePr>
          <p:cNvPr id="6" name="Table 5">
            <a:extLst>
              <a:ext uri="{FF2B5EF4-FFF2-40B4-BE49-F238E27FC236}">
                <a16:creationId xmlns:a16="http://schemas.microsoft.com/office/drawing/2014/main" id="{82F29CD8-D6A1-4E66-38BA-DA7232C71596}"/>
              </a:ext>
            </a:extLst>
          </p:cNvPr>
          <p:cNvGraphicFramePr>
            <a:graphicFrameLocks noGrp="1"/>
          </p:cNvGraphicFramePr>
          <p:nvPr>
            <p:extLst>
              <p:ext uri="{D42A27DB-BD31-4B8C-83A1-F6EECF244321}">
                <p14:modId xmlns:p14="http://schemas.microsoft.com/office/powerpoint/2010/main" val="3286202672"/>
              </p:ext>
            </p:extLst>
          </p:nvPr>
        </p:nvGraphicFramePr>
        <p:xfrm>
          <a:off x="152400" y="1219200"/>
          <a:ext cx="3581400" cy="4953000"/>
        </p:xfrm>
        <a:graphic>
          <a:graphicData uri="http://schemas.openxmlformats.org/drawingml/2006/table">
            <a:tbl>
              <a:tblPr>
                <a:tableStyleId>{5940675A-B579-460E-94D1-54222C63F5DA}</a:tableStyleId>
              </a:tblPr>
              <a:tblGrid>
                <a:gridCol w="716280">
                  <a:extLst>
                    <a:ext uri="{9D8B030D-6E8A-4147-A177-3AD203B41FA5}">
                      <a16:colId xmlns:a16="http://schemas.microsoft.com/office/drawing/2014/main" val="1958814811"/>
                    </a:ext>
                  </a:extLst>
                </a:gridCol>
                <a:gridCol w="716280">
                  <a:extLst>
                    <a:ext uri="{9D8B030D-6E8A-4147-A177-3AD203B41FA5}">
                      <a16:colId xmlns:a16="http://schemas.microsoft.com/office/drawing/2014/main" val="4116520943"/>
                    </a:ext>
                  </a:extLst>
                </a:gridCol>
                <a:gridCol w="716280">
                  <a:extLst>
                    <a:ext uri="{9D8B030D-6E8A-4147-A177-3AD203B41FA5}">
                      <a16:colId xmlns:a16="http://schemas.microsoft.com/office/drawing/2014/main" val="2499544616"/>
                    </a:ext>
                  </a:extLst>
                </a:gridCol>
                <a:gridCol w="716280">
                  <a:extLst>
                    <a:ext uri="{9D8B030D-6E8A-4147-A177-3AD203B41FA5}">
                      <a16:colId xmlns:a16="http://schemas.microsoft.com/office/drawing/2014/main" val="1373581152"/>
                    </a:ext>
                  </a:extLst>
                </a:gridCol>
                <a:gridCol w="716280">
                  <a:extLst>
                    <a:ext uri="{9D8B030D-6E8A-4147-A177-3AD203B41FA5}">
                      <a16:colId xmlns:a16="http://schemas.microsoft.com/office/drawing/2014/main" val="1019354988"/>
                    </a:ext>
                  </a:extLst>
                </a:gridCol>
              </a:tblGrid>
              <a:tr h="721311">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Time (hrs)</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F5</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F6</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F7</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F8</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476174146"/>
                  </a:ext>
                </a:extLst>
              </a:tr>
              <a:tr h="384699">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0</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0</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0</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0</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0</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149557784"/>
                  </a:ext>
                </a:extLst>
              </a:tr>
              <a:tr h="384699">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1</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13</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15</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14</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11</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212660503"/>
                  </a:ext>
                </a:extLst>
              </a:tr>
              <a:tr h="384699">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2</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18</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24</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25</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19</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590545200"/>
                  </a:ext>
                </a:extLst>
              </a:tr>
              <a:tr h="384699">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3</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26</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36</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31</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28</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220217278"/>
                  </a:ext>
                </a:extLst>
              </a:tr>
              <a:tr h="384699">
                <a:tc>
                  <a:txBody>
                    <a:bodyPr/>
                    <a:lstStyle/>
                    <a:p>
                      <a:pPr algn="ctr" fontAlgn="ctr"/>
                      <a:r>
                        <a:rPr lang="en-IN" sz="2000" b="1" u="none" strike="noStrike">
                          <a:effectLst/>
                          <a:latin typeface="Times New Roman" panose="02020603050405020304" pitchFamily="18" charset="0"/>
                          <a:cs typeface="Times New Roman" panose="02020603050405020304" pitchFamily="18" charset="0"/>
                        </a:rPr>
                        <a:t>4</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39</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44</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45</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37</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863495104"/>
                  </a:ext>
                </a:extLst>
              </a:tr>
              <a:tr h="384699">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5</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43</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47</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48</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43</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674988375"/>
                  </a:ext>
                </a:extLst>
              </a:tr>
              <a:tr h="384699">
                <a:tc>
                  <a:txBody>
                    <a:bodyPr/>
                    <a:lstStyle/>
                    <a:p>
                      <a:pPr algn="ctr" fontAlgn="ctr"/>
                      <a:r>
                        <a:rPr lang="en-IN" sz="2000" b="1" u="none" strike="noStrike">
                          <a:effectLst/>
                          <a:latin typeface="Times New Roman" panose="02020603050405020304" pitchFamily="18" charset="0"/>
                          <a:cs typeface="Times New Roman" panose="02020603050405020304" pitchFamily="18" charset="0"/>
                        </a:rPr>
                        <a:t>6</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54</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52</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54</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49</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696311798"/>
                  </a:ext>
                </a:extLst>
              </a:tr>
              <a:tr h="384699">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7</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57</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55</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57</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53</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25145832"/>
                  </a:ext>
                </a:extLst>
              </a:tr>
              <a:tr h="384699">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8</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69</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72</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77</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63</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196912619"/>
                  </a:ext>
                </a:extLst>
              </a:tr>
              <a:tr h="384699">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10</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76</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89</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84</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75</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4069676876"/>
                  </a:ext>
                </a:extLst>
              </a:tr>
              <a:tr h="384699">
                <a:tc>
                  <a:txBody>
                    <a:bodyPr/>
                    <a:lstStyle/>
                    <a:p>
                      <a:pPr algn="ctr" fontAlgn="ctr"/>
                      <a:r>
                        <a:rPr lang="en-IN" sz="2000" b="1" u="none" strike="noStrike" dirty="0">
                          <a:effectLst/>
                          <a:latin typeface="Times New Roman" panose="02020603050405020304" pitchFamily="18" charset="0"/>
                          <a:cs typeface="Times New Roman" panose="02020603050405020304" pitchFamily="18" charset="0"/>
                        </a:rPr>
                        <a:t>12</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88</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95</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90</a:t>
                      </a:r>
                      <a:endParaRPr lang="en-IN" sz="20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IN" sz="2000" u="none" strike="noStrike" dirty="0">
                          <a:effectLst/>
                          <a:latin typeface="Times New Roman" panose="02020603050405020304" pitchFamily="18" charset="0"/>
                          <a:cs typeface="Times New Roman" panose="02020603050405020304" pitchFamily="18" charset="0"/>
                        </a:rPr>
                        <a:t>82</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345787422"/>
                  </a:ext>
                </a:extLst>
              </a:tr>
            </a:tbl>
          </a:graphicData>
        </a:graphic>
      </p:graphicFrame>
      <p:graphicFrame>
        <p:nvGraphicFramePr>
          <p:cNvPr id="7" name="Chart 6">
            <a:extLst>
              <a:ext uri="{FF2B5EF4-FFF2-40B4-BE49-F238E27FC236}">
                <a16:creationId xmlns:a16="http://schemas.microsoft.com/office/drawing/2014/main" id="{F5B7AD81-0D54-9DBC-C548-D38108E4E060}"/>
              </a:ext>
            </a:extLst>
          </p:cNvPr>
          <p:cNvGraphicFramePr>
            <a:graphicFrameLocks/>
          </p:cNvGraphicFramePr>
          <p:nvPr>
            <p:extLst>
              <p:ext uri="{D42A27DB-BD31-4B8C-83A1-F6EECF244321}">
                <p14:modId xmlns:p14="http://schemas.microsoft.com/office/powerpoint/2010/main" val="3289012195"/>
              </p:ext>
            </p:extLst>
          </p:nvPr>
        </p:nvGraphicFramePr>
        <p:xfrm>
          <a:off x="4038600" y="2057400"/>
          <a:ext cx="4572000" cy="41148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092457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B1CDDD-8058-273B-5F48-E420253A8510}"/>
              </a:ext>
            </a:extLst>
          </p:cNvPr>
          <p:cNvSpPr>
            <a:spLocks noGrp="1"/>
          </p:cNvSpPr>
          <p:nvPr>
            <p:ph type="sldNum" sz="quarter" idx="12"/>
          </p:nvPr>
        </p:nvSpPr>
        <p:spPr/>
        <p:txBody>
          <a:bodyPr/>
          <a:lstStyle/>
          <a:p>
            <a:fld id="{6C412A46-B304-460B-BA6E-26B326EC1AA6}" type="slidenum">
              <a:rPr lang="en-US" smtClean="0"/>
              <a:pPr/>
              <a:t>23</a:t>
            </a:fld>
            <a:endParaRPr lang="en-US"/>
          </a:p>
        </p:txBody>
      </p:sp>
      <p:graphicFrame>
        <p:nvGraphicFramePr>
          <p:cNvPr id="3" name="Chart 2">
            <a:extLst>
              <a:ext uri="{FF2B5EF4-FFF2-40B4-BE49-F238E27FC236}">
                <a16:creationId xmlns:a16="http://schemas.microsoft.com/office/drawing/2014/main" id="{6A3E6554-3E40-A45C-A9F9-C2D0687D3D8A}"/>
              </a:ext>
            </a:extLst>
          </p:cNvPr>
          <p:cNvGraphicFramePr>
            <a:graphicFrameLocks/>
          </p:cNvGraphicFramePr>
          <p:nvPr>
            <p:extLst>
              <p:ext uri="{D42A27DB-BD31-4B8C-83A1-F6EECF244321}">
                <p14:modId xmlns:p14="http://schemas.microsoft.com/office/powerpoint/2010/main" val="3201339338"/>
              </p:ext>
            </p:extLst>
          </p:nvPr>
        </p:nvGraphicFramePr>
        <p:xfrm>
          <a:off x="838200" y="1371600"/>
          <a:ext cx="7645146" cy="4343400"/>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897501C0-FF06-D876-D5BC-72E284C564A0}"/>
              </a:ext>
            </a:extLst>
          </p:cNvPr>
          <p:cNvSpPr txBox="1"/>
          <p:nvPr/>
        </p:nvSpPr>
        <p:spPr>
          <a:xfrm>
            <a:off x="1981200" y="444483"/>
            <a:ext cx="5879690"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CUMULATIVE % OF DRUG RELEASE (F1-F8)</a:t>
            </a:r>
          </a:p>
        </p:txBody>
      </p:sp>
    </p:spTree>
    <p:extLst>
      <p:ext uri="{BB962C8B-B14F-4D97-AF65-F5344CB8AC3E}">
        <p14:creationId xmlns:p14="http://schemas.microsoft.com/office/powerpoint/2010/main" val="28561873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4BE98CF-FCA0-E564-B90A-E8520E2E8B89}"/>
              </a:ext>
            </a:extLst>
          </p:cNvPr>
          <p:cNvSpPr>
            <a:spLocks noGrp="1"/>
          </p:cNvSpPr>
          <p:nvPr>
            <p:ph type="sldNum" sz="quarter" idx="12"/>
          </p:nvPr>
        </p:nvSpPr>
        <p:spPr/>
        <p:txBody>
          <a:bodyPr/>
          <a:lstStyle/>
          <a:p>
            <a:fld id="{6C412A46-B304-460B-BA6E-26B326EC1AA6}" type="slidenum">
              <a:rPr lang="en-US" smtClean="0"/>
              <a:pPr/>
              <a:t>24</a:t>
            </a:fld>
            <a:endParaRPr lang="en-US"/>
          </a:p>
        </p:txBody>
      </p:sp>
      <p:graphicFrame>
        <p:nvGraphicFramePr>
          <p:cNvPr id="5" name="Table 5">
            <a:extLst>
              <a:ext uri="{FF2B5EF4-FFF2-40B4-BE49-F238E27FC236}">
                <a16:creationId xmlns:a16="http://schemas.microsoft.com/office/drawing/2014/main" id="{BD7F008E-E0BE-197E-E63C-3F4523A64466}"/>
              </a:ext>
            </a:extLst>
          </p:cNvPr>
          <p:cNvGraphicFramePr>
            <a:graphicFrameLocks noGrp="1"/>
          </p:cNvGraphicFramePr>
          <p:nvPr>
            <p:extLst>
              <p:ext uri="{D42A27DB-BD31-4B8C-83A1-F6EECF244321}">
                <p14:modId xmlns:p14="http://schemas.microsoft.com/office/powerpoint/2010/main" val="177319784"/>
              </p:ext>
            </p:extLst>
          </p:nvPr>
        </p:nvGraphicFramePr>
        <p:xfrm>
          <a:off x="180594" y="1219200"/>
          <a:ext cx="2819399" cy="5334001"/>
        </p:xfrm>
        <a:graphic>
          <a:graphicData uri="http://schemas.openxmlformats.org/drawingml/2006/table">
            <a:tbl>
              <a:tblPr firstRow="1" bandRow="1">
                <a:tableStyleId>{5940675A-B579-460E-94D1-54222C63F5DA}</a:tableStyleId>
              </a:tblPr>
              <a:tblGrid>
                <a:gridCol w="1110688">
                  <a:extLst>
                    <a:ext uri="{9D8B030D-6E8A-4147-A177-3AD203B41FA5}">
                      <a16:colId xmlns:a16="http://schemas.microsoft.com/office/drawing/2014/main" val="1622653645"/>
                    </a:ext>
                  </a:extLst>
                </a:gridCol>
                <a:gridCol w="1708711">
                  <a:extLst>
                    <a:ext uri="{9D8B030D-6E8A-4147-A177-3AD203B41FA5}">
                      <a16:colId xmlns:a16="http://schemas.microsoft.com/office/drawing/2014/main" val="3481560070"/>
                    </a:ext>
                  </a:extLst>
                </a:gridCol>
              </a:tblGrid>
              <a:tr h="725474">
                <a:tc>
                  <a:txBody>
                    <a:bodyPr/>
                    <a:lstStyle/>
                    <a:p>
                      <a:pPr algn="ctr"/>
                      <a:r>
                        <a:rPr lang="en-IN" b="1" dirty="0">
                          <a:latin typeface="Times New Roman" panose="02020603050405020304" pitchFamily="18" charset="0"/>
                          <a:cs typeface="Times New Roman" panose="02020603050405020304" pitchFamily="18" charset="0"/>
                        </a:rPr>
                        <a:t>Time</a:t>
                      </a:r>
                    </a:p>
                  </a:txBody>
                  <a:tcPr/>
                </a:tc>
                <a:tc>
                  <a:txBody>
                    <a:bodyPr/>
                    <a:lstStyle/>
                    <a:p>
                      <a:pPr algn="ctr"/>
                      <a:r>
                        <a:rPr lang="en-IN" b="1" dirty="0">
                          <a:latin typeface="Times New Roman" panose="02020603050405020304" pitchFamily="18" charset="0"/>
                          <a:cs typeface="Times New Roman" panose="02020603050405020304" pitchFamily="18" charset="0"/>
                        </a:rPr>
                        <a:t>Cumulative % Release</a:t>
                      </a:r>
                    </a:p>
                  </a:txBody>
                  <a:tcPr/>
                </a:tc>
                <a:extLst>
                  <a:ext uri="{0D108BD9-81ED-4DB2-BD59-A6C34878D82A}">
                    <a16:rowId xmlns:a16="http://schemas.microsoft.com/office/drawing/2014/main" val="810445513"/>
                  </a:ext>
                </a:extLst>
              </a:tr>
              <a:tr h="418957">
                <a:tc>
                  <a:txBody>
                    <a:bodyPr/>
                    <a:lstStyle/>
                    <a:p>
                      <a:pPr algn="ctr"/>
                      <a:r>
                        <a:rPr lang="en-IN" dirty="0">
                          <a:latin typeface="Times New Roman" panose="02020603050405020304" pitchFamily="18" charset="0"/>
                          <a:cs typeface="Times New Roman" panose="02020603050405020304" pitchFamily="18" charset="0"/>
                        </a:rPr>
                        <a:t>0</a:t>
                      </a:r>
                    </a:p>
                  </a:txBody>
                  <a:tcPr/>
                </a:tc>
                <a:tc>
                  <a:txBody>
                    <a:bodyPr/>
                    <a:lstStyle/>
                    <a:p>
                      <a:pPr algn="ctr"/>
                      <a:r>
                        <a:rPr lang="en-IN" dirty="0">
                          <a:latin typeface="Times New Roman" panose="02020603050405020304" pitchFamily="18" charset="0"/>
                          <a:cs typeface="Times New Roman" panose="02020603050405020304" pitchFamily="18" charset="0"/>
                        </a:rPr>
                        <a:t>0</a:t>
                      </a:r>
                    </a:p>
                  </a:txBody>
                  <a:tcPr/>
                </a:tc>
                <a:extLst>
                  <a:ext uri="{0D108BD9-81ED-4DB2-BD59-A6C34878D82A}">
                    <a16:rowId xmlns:a16="http://schemas.microsoft.com/office/drawing/2014/main" val="2320831235"/>
                  </a:ext>
                </a:extLst>
              </a:tr>
              <a:tr h="418957">
                <a:tc>
                  <a:txBody>
                    <a:bodyPr/>
                    <a:lstStyle/>
                    <a:p>
                      <a:pPr algn="ctr"/>
                      <a:r>
                        <a:rPr lang="en-IN" dirty="0">
                          <a:latin typeface="Times New Roman" panose="02020603050405020304" pitchFamily="18" charset="0"/>
                          <a:cs typeface="Times New Roman" panose="02020603050405020304" pitchFamily="18" charset="0"/>
                        </a:rPr>
                        <a:t>1</a:t>
                      </a:r>
                    </a:p>
                  </a:txBody>
                  <a:tcPr/>
                </a:tc>
                <a:tc>
                  <a:txBody>
                    <a:bodyPr/>
                    <a:lstStyle/>
                    <a:p>
                      <a:pPr algn="ctr"/>
                      <a:r>
                        <a:rPr lang="en-IN" dirty="0">
                          <a:latin typeface="Times New Roman" panose="02020603050405020304" pitchFamily="18" charset="0"/>
                          <a:cs typeface="Times New Roman" panose="02020603050405020304" pitchFamily="18" charset="0"/>
                        </a:rPr>
                        <a:t>16</a:t>
                      </a:r>
                    </a:p>
                  </a:txBody>
                  <a:tcPr/>
                </a:tc>
                <a:extLst>
                  <a:ext uri="{0D108BD9-81ED-4DB2-BD59-A6C34878D82A}">
                    <a16:rowId xmlns:a16="http://schemas.microsoft.com/office/drawing/2014/main" val="2055013972"/>
                  </a:ext>
                </a:extLst>
              </a:tr>
              <a:tr h="418957">
                <a:tc>
                  <a:txBody>
                    <a:bodyPr/>
                    <a:lstStyle/>
                    <a:p>
                      <a:pPr algn="ctr"/>
                      <a:r>
                        <a:rPr lang="en-IN" dirty="0">
                          <a:latin typeface="Times New Roman" panose="02020603050405020304" pitchFamily="18" charset="0"/>
                          <a:cs typeface="Times New Roman" panose="02020603050405020304" pitchFamily="18" charset="0"/>
                        </a:rPr>
                        <a:t>2</a:t>
                      </a:r>
                    </a:p>
                  </a:txBody>
                  <a:tcPr/>
                </a:tc>
                <a:tc>
                  <a:txBody>
                    <a:bodyPr/>
                    <a:lstStyle/>
                    <a:p>
                      <a:pPr algn="ctr"/>
                      <a:r>
                        <a:rPr lang="en-IN" dirty="0">
                          <a:latin typeface="Times New Roman" panose="02020603050405020304" pitchFamily="18" charset="0"/>
                          <a:cs typeface="Times New Roman" panose="02020603050405020304" pitchFamily="18" charset="0"/>
                        </a:rPr>
                        <a:t>29</a:t>
                      </a:r>
                    </a:p>
                  </a:txBody>
                  <a:tcPr/>
                </a:tc>
                <a:extLst>
                  <a:ext uri="{0D108BD9-81ED-4DB2-BD59-A6C34878D82A}">
                    <a16:rowId xmlns:a16="http://schemas.microsoft.com/office/drawing/2014/main" val="2491030563"/>
                  </a:ext>
                </a:extLst>
              </a:tr>
              <a:tr h="418957">
                <a:tc>
                  <a:txBody>
                    <a:bodyPr/>
                    <a:lstStyle/>
                    <a:p>
                      <a:pPr algn="ctr"/>
                      <a:r>
                        <a:rPr lang="en-IN" dirty="0">
                          <a:latin typeface="Times New Roman" panose="02020603050405020304" pitchFamily="18" charset="0"/>
                          <a:cs typeface="Times New Roman" panose="02020603050405020304" pitchFamily="18" charset="0"/>
                        </a:rPr>
                        <a:t>3</a:t>
                      </a:r>
                    </a:p>
                  </a:txBody>
                  <a:tcPr/>
                </a:tc>
                <a:tc>
                  <a:txBody>
                    <a:bodyPr/>
                    <a:lstStyle/>
                    <a:p>
                      <a:pPr algn="ctr"/>
                      <a:r>
                        <a:rPr lang="en-IN" dirty="0">
                          <a:latin typeface="Times New Roman" panose="02020603050405020304" pitchFamily="18" charset="0"/>
                          <a:cs typeface="Times New Roman" panose="02020603050405020304" pitchFamily="18" charset="0"/>
                        </a:rPr>
                        <a:t>37</a:t>
                      </a:r>
                    </a:p>
                  </a:txBody>
                  <a:tcPr/>
                </a:tc>
                <a:extLst>
                  <a:ext uri="{0D108BD9-81ED-4DB2-BD59-A6C34878D82A}">
                    <a16:rowId xmlns:a16="http://schemas.microsoft.com/office/drawing/2014/main" val="174707666"/>
                  </a:ext>
                </a:extLst>
              </a:tr>
              <a:tr h="418957">
                <a:tc>
                  <a:txBody>
                    <a:bodyPr/>
                    <a:lstStyle/>
                    <a:p>
                      <a:pPr algn="ctr"/>
                      <a:r>
                        <a:rPr lang="en-IN" dirty="0">
                          <a:latin typeface="Times New Roman" panose="02020603050405020304" pitchFamily="18" charset="0"/>
                          <a:cs typeface="Times New Roman" panose="02020603050405020304" pitchFamily="18" charset="0"/>
                        </a:rPr>
                        <a:t>4</a:t>
                      </a:r>
                    </a:p>
                  </a:txBody>
                  <a:tcPr/>
                </a:tc>
                <a:tc>
                  <a:txBody>
                    <a:bodyPr/>
                    <a:lstStyle/>
                    <a:p>
                      <a:pPr algn="ctr"/>
                      <a:r>
                        <a:rPr lang="en-IN" dirty="0">
                          <a:latin typeface="Times New Roman" panose="02020603050405020304" pitchFamily="18" charset="0"/>
                          <a:cs typeface="Times New Roman" panose="02020603050405020304" pitchFamily="18" charset="0"/>
                        </a:rPr>
                        <a:t>52</a:t>
                      </a:r>
                    </a:p>
                  </a:txBody>
                  <a:tcPr/>
                </a:tc>
                <a:extLst>
                  <a:ext uri="{0D108BD9-81ED-4DB2-BD59-A6C34878D82A}">
                    <a16:rowId xmlns:a16="http://schemas.microsoft.com/office/drawing/2014/main" val="419314730"/>
                  </a:ext>
                </a:extLst>
              </a:tr>
              <a:tr h="418957">
                <a:tc>
                  <a:txBody>
                    <a:bodyPr/>
                    <a:lstStyle/>
                    <a:p>
                      <a:pPr algn="ctr"/>
                      <a:r>
                        <a:rPr lang="en-IN" dirty="0">
                          <a:latin typeface="Times New Roman" panose="02020603050405020304" pitchFamily="18" charset="0"/>
                          <a:cs typeface="Times New Roman" panose="02020603050405020304" pitchFamily="18" charset="0"/>
                        </a:rPr>
                        <a:t>5</a:t>
                      </a:r>
                    </a:p>
                  </a:txBody>
                  <a:tcPr/>
                </a:tc>
                <a:tc>
                  <a:txBody>
                    <a:bodyPr/>
                    <a:lstStyle/>
                    <a:p>
                      <a:pPr algn="ctr"/>
                      <a:r>
                        <a:rPr lang="en-IN" dirty="0">
                          <a:latin typeface="Times New Roman" panose="02020603050405020304" pitchFamily="18" charset="0"/>
                          <a:cs typeface="Times New Roman" panose="02020603050405020304" pitchFamily="18" charset="0"/>
                        </a:rPr>
                        <a:t>58</a:t>
                      </a:r>
                    </a:p>
                  </a:txBody>
                  <a:tcPr/>
                </a:tc>
                <a:extLst>
                  <a:ext uri="{0D108BD9-81ED-4DB2-BD59-A6C34878D82A}">
                    <a16:rowId xmlns:a16="http://schemas.microsoft.com/office/drawing/2014/main" val="4251206569"/>
                  </a:ext>
                </a:extLst>
              </a:tr>
              <a:tr h="418957">
                <a:tc>
                  <a:txBody>
                    <a:bodyPr/>
                    <a:lstStyle/>
                    <a:p>
                      <a:pPr algn="ctr"/>
                      <a:r>
                        <a:rPr lang="en-IN" dirty="0">
                          <a:latin typeface="Times New Roman" panose="02020603050405020304" pitchFamily="18" charset="0"/>
                          <a:cs typeface="Times New Roman" panose="02020603050405020304" pitchFamily="18" charset="0"/>
                        </a:rPr>
                        <a:t>6</a:t>
                      </a:r>
                    </a:p>
                  </a:txBody>
                  <a:tcPr/>
                </a:tc>
                <a:tc>
                  <a:txBody>
                    <a:bodyPr/>
                    <a:lstStyle/>
                    <a:p>
                      <a:pPr algn="ctr"/>
                      <a:r>
                        <a:rPr lang="en-IN" dirty="0">
                          <a:latin typeface="Times New Roman" panose="02020603050405020304" pitchFamily="18" charset="0"/>
                          <a:cs typeface="Times New Roman" panose="02020603050405020304" pitchFamily="18" charset="0"/>
                        </a:rPr>
                        <a:t>62</a:t>
                      </a:r>
                    </a:p>
                  </a:txBody>
                  <a:tcPr/>
                </a:tc>
                <a:extLst>
                  <a:ext uri="{0D108BD9-81ED-4DB2-BD59-A6C34878D82A}">
                    <a16:rowId xmlns:a16="http://schemas.microsoft.com/office/drawing/2014/main" val="3902213859"/>
                  </a:ext>
                </a:extLst>
              </a:tr>
              <a:tr h="418957">
                <a:tc>
                  <a:txBody>
                    <a:bodyPr/>
                    <a:lstStyle/>
                    <a:p>
                      <a:pPr algn="ctr"/>
                      <a:r>
                        <a:rPr lang="en-IN" dirty="0">
                          <a:latin typeface="Times New Roman" panose="02020603050405020304" pitchFamily="18" charset="0"/>
                          <a:cs typeface="Times New Roman" panose="02020603050405020304" pitchFamily="18" charset="0"/>
                        </a:rPr>
                        <a:t>7</a:t>
                      </a:r>
                    </a:p>
                  </a:txBody>
                  <a:tcPr/>
                </a:tc>
                <a:tc>
                  <a:txBody>
                    <a:bodyPr/>
                    <a:lstStyle/>
                    <a:p>
                      <a:pPr algn="ctr"/>
                      <a:r>
                        <a:rPr lang="en-IN" dirty="0">
                          <a:latin typeface="Times New Roman" panose="02020603050405020304" pitchFamily="18" charset="0"/>
                          <a:cs typeface="Times New Roman" panose="02020603050405020304" pitchFamily="18" charset="0"/>
                        </a:rPr>
                        <a:t>79</a:t>
                      </a:r>
                    </a:p>
                  </a:txBody>
                  <a:tcPr/>
                </a:tc>
                <a:extLst>
                  <a:ext uri="{0D108BD9-81ED-4DB2-BD59-A6C34878D82A}">
                    <a16:rowId xmlns:a16="http://schemas.microsoft.com/office/drawing/2014/main" val="3944071607"/>
                  </a:ext>
                </a:extLst>
              </a:tr>
              <a:tr h="418957">
                <a:tc>
                  <a:txBody>
                    <a:bodyPr/>
                    <a:lstStyle/>
                    <a:p>
                      <a:pPr algn="ctr"/>
                      <a:r>
                        <a:rPr lang="en-IN" dirty="0">
                          <a:latin typeface="Times New Roman" panose="02020603050405020304" pitchFamily="18" charset="0"/>
                          <a:cs typeface="Times New Roman" panose="02020603050405020304" pitchFamily="18" charset="0"/>
                        </a:rPr>
                        <a:t>8</a:t>
                      </a:r>
                    </a:p>
                  </a:txBody>
                  <a:tcPr/>
                </a:tc>
                <a:tc>
                  <a:txBody>
                    <a:bodyPr/>
                    <a:lstStyle/>
                    <a:p>
                      <a:pPr algn="ctr"/>
                      <a:r>
                        <a:rPr lang="en-IN" dirty="0">
                          <a:latin typeface="Times New Roman" panose="02020603050405020304" pitchFamily="18" charset="0"/>
                          <a:cs typeface="Times New Roman" panose="02020603050405020304" pitchFamily="18" charset="0"/>
                        </a:rPr>
                        <a:t>87</a:t>
                      </a:r>
                    </a:p>
                  </a:txBody>
                  <a:tcPr/>
                </a:tc>
                <a:extLst>
                  <a:ext uri="{0D108BD9-81ED-4DB2-BD59-A6C34878D82A}">
                    <a16:rowId xmlns:a16="http://schemas.microsoft.com/office/drawing/2014/main" val="2030972920"/>
                  </a:ext>
                </a:extLst>
              </a:tr>
              <a:tr h="418957">
                <a:tc>
                  <a:txBody>
                    <a:bodyPr/>
                    <a:lstStyle/>
                    <a:p>
                      <a:pPr algn="ctr"/>
                      <a:r>
                        <a:rPr lang="en-IN" dirty="0">
                          <a:latin typeface="Times New Roman" panose="02020603050405020304" pitchFamily="18" charset="0"/>
                          <a:cs typeface="Times New Roman" panose="02020603050405020304" pitchFamily="18" charset="0"/>
                        </a:rPr>
                        <a:t>10</a:t>
                      </a:r>
                    </a:p>
                  </a:txBody>
                  <a:tcPr/>
                </a:tc>
                <a:tc>
                  <a:txBody>
                    <a:bodyPr/>
                    <a:lstStyle/>
                    <a:p>
                      <a:pPr algn="ctr"/>
                      <a:r>
                        <a:rPr lang="en-IN" dirty="0">
                          <a:latin typeface="Times New Roman" panose="02020603050405020304" pitchFamily="18" charset="0"/>
                          <a:cs typeface="Times New Roman" panose="02020603050405020304" pitchFamily="18" charset="0"/>
                        </a:rPr>
                        <a:t>92</a:t>
                      </a:r>
                    </a:p>
                  </a:txBody>
                  <a:tcPr/>
                </a:tc>
                <a:extLst>
                  <a:ext uri="{0D108BD9-81ED-4DB2-BD59-A6C34878D82A}">
                    <a16:rowId xmlns:a16="http://schemas.microsoft.com/office/drawing/2014/main" val="4008293117"/>
                  </a:ext>
                </a:extLst>
              </a:tr>
              <a:tr h="418957">
                <a:tc>
                  <a:txBody>
                    <a:bodyPr/>
                    <a:lstStyle/>
                    <a:p>
                      <a:pPr algn="ctr"/>
                      <a:r>
                        <a:rPr lang="en-IN" dirty="0">
                          <a:latin typeface="Times New Roman" panose="02020603050405020304" pitchFamily="18" charset="0"/>
                          <a:cs typeface="Times New Roman" panose="02020603050405020304" pitchFamily="18" charset="0"/>
                        </a:rPr>
                        <a:t>12</a:t>
                      </a:r>
                    </a:p>
                  </a:txBody>
                  <a:tcPr/>
                </a:tc>
                <a:tc>
                  <a:txBody>
                    <a:bodyPr/>
                    <a:lstStyle/>
                    <a:p>
                      <a:pPr algn="ctr"/>
                      <a:r>
                        <a:rPr lang="en-IN" dirty="0">
                          <a:latin typeface="Times New Roman" panose="02020603050405020304" pitchFamily="18" charset="0"/>
                          <a:cs typeface="Times New Roman" panose="02020603050405020304" pitchFamily="18" charset="0"/>
                        </a:rPr>
                        <a:t>98</a:t>
                      </a:r>
                    </a:p>
                  </a:txBody>
                  <a:tcPr/>
                </a:tc>
                <a:extLst>
                  <a:ext uri="{0D108BD9-81ED-4DB2-BD59-A6C34878D82A}">
                    <a16:rowId xmlns:a16="http://schemas.microsoft.com/office/drawing/2014/main" val="484902491"/>
                  </a:ext>
                </a:extLst>
              </a:tr>
            </a:tbl>
          </a:graphicData>
        </a:graphic>
      </p:graphicFrame>
      <p:graphicFrame>
        <p:nvGraphicFramePr>
          <p:cNvPr id="6" name="Chart 5">
            <a:extLst>
              <a:ext uri="{FF2B5EF4-FFF2-40B4-BE49-F238E27FC236}">
                <a16:creationId xmlns:a16="http://schemas.microsoft.com/office/drawing/2014/main" id="{CF847479-9323-C2A7-0FFE-F2530067B8EE}"/>
              </a:ext>
            </a:extLst>
          </p:cNvPr>
          <p:cNvGraphicFramePr>
            <a:graphicFrameLocks noGrp="1"/>
          </p:cNvGraphicFramePr>
          <p:nvPr>
            <p:extLst>
              <p:ext uri="{D42A27DB-BD31-4B8C-83A1-F6EECF244321}">
                <p14:modId xmlns:p14="http://schemas.microsoft.com/office/powerpoint/2010/main" val="3348455259"/>
              </p:ext>
            </p:extLst>
          </p:nvPr>
        </p:nvGraphicFramePr>
        <p:xfrm>
          <a:off x="3276600" y="1339082"/>
          <a:ext cx="5324092" cy="4405746"/>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08FF0F5D-B206-2F81-0643-A40BA76EB9AD}"/>
              </a:ext>
            </a:extLst>
          </p:cNvPr>
          <p:cNvSpPr txBox="1"/>
          <p:nvPr/>
        </p:nvSpPr>
        <p:spPr>
          <a:xfrm>
            <a:off x="364841" y="124351"/>
            <a:ext cx="8118505" cy="954107"/>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a:ln>
                  <a:noFill/>
                </a:ln>
                <a:solidFill>
                  <a:srgbClr val="000000"/>
                </a:solidFill>
                <a:effectLst/>
                <a:latin typeface="Times New Roman" pitchFamily="18" charset="0"/>
                <a:ea typeface="Times New Roman" pitchFamily="18" charset="0"/>
                <a:cs typeface="Times New Roman" pitchFamily="18" charset="0"/>
              </a:rPr>
              <a:t>RELEASE KINETICS STUDIES OF THE OPTIMIZED FORMULATION (F</a:t>
            </a:r>
            <a:r>
              <a:rPr kumimoji="0" lang="en-US" b="1" i="0" u="none" strike="noStrike" cap="none" normalizeH="0" baseline="-30000" dirty="0">
                <a:ln>
                  <a:noFill/>
                </a:ln>
                <a:solidFill>
                  <a:srgbClr val="000000"/>
                </a:solidFill>
                <a:effectLst/>
                <a:latin typeface="Times New Roman" pitchFamily="18" charset="0"/>
                <a:ea typeface="Times New Roman" pitchFamily="18" charset="0"/>
                <a:cs typeface="Times New Roman" pitchFamily="18" charset="0"/>
              </a:rPr>
              <a:t>4</a:t>
            </a:r>
            <a:r>
              <a:rPr kumimoji="0" lang="en-US" b="1" i="0" u="none" strike="noStrike" cap="none" normalizeH="0" baseline="0" dirty="0">
                <a:ln>
                  <a:noFill/>
                </a:ln>
                <a:solidFill>
                  <a:srgbClr val="000000"/>
                </a:solidFill>
                <a:effectLst/>
                <a:latin typeface="Times New Roman" pitchFamily="18" charset="0"/>
                <a:ea typeface="Times New Roman" pitchFamily="18" charset="0"/>
                <a:cs typeface="Times New Roman" pitchFamily="18" charset="0"/>
              </a:rPr>
              <a:t>) </a:t>
            </a:r>
            <a:endParaRPr kumimoji="0" lang="en-US" b="0" i="0" u="none" strike="noStrike" cap="none" normalizeH="0" baseline="0" dirty="0">
              <a:ln>
                <a:noFill/>
              </a:ln>
              <a:solidFill>
                <a:srgbClr val="666666"/>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1" i="0" u="none" strike="noStrike" cap="none" normalizeH="0" baseline="0" dirty="0">
              <a:ln>
                <a:noFill/>
              </a:ln>
              <a:solidFill>
                <a:srgbClr val="000000"/>
              </a:solidFill>
              <a:effectLst/>
              <a:latin typeface="Times New Roman" pitchFamily="18" charset="0"/>
              <a:ea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rgbClr val="000000"/>
                </a:solidFill>
                <a:effectLst/>
                <a:latin typeface="Times New Roman" pitchFamily="18" charset="0"/>
                <a:ea typeface="Times New Roman" pitchFamily="18" charset="0"/>
                <a:cs typeface="Times New Roman" pitchFamily="18" charset="0"/>
              </a:rPr>
              <a:t>ZERO ORDER</a:t>
            </a:r>
            <a:r>
              <a:rPr kumimoji="0" lang="en-US" sz="2000" b="1" i="0" u="none" strike="noStrike" cap="none" normalizeH="0" baseline="0" dirty="0">
                <a:ln>
                  <a:noFill/>
                </a:ln>
                <a:solidFill>
                  <a:srgbClr val="666666"/>
                </a:solidFill>
                <a:effectLst/>
                <a:latin typeface="Times New Roman" pitchFamily="18" charset="0"/>
                <a:ea typeface="Times New Roman" pitchFamily="18" charset="0"/>
                <a:cs typeface="Times New Roman" pitchFamily="18" charset="0"/>
              </a:rPr>
              <a:t> </a:t>
            </a:r>
            <a:r>
              <a:rPr kumimoji="0" lang="en-US" sz="2000" b="1" i="0" u="none" strike="noStrike" cap="none" normalizeH="0" baseline="0" dirty="0">
                <a:ln>
                  <a:noFill/>
                </a:ln>
                <a:effectLst/>
                <a:latin typeface="Times New Roman" pitchFamily="18" charset="0"/>
                <a:ea typeface="Times New Roman" pitchFamily="18" charset="0"/>
                <a:cs typeface="Times New Roman" pitchFamily="18" charset="0"/>
              </a:rPr>
              <a:t>KINETICS</a:t>
            </a:r>
            <a:endParaRPr kumimoji="0" lang="en-US" sz="2000" b="0" i="0" u="none" strike="noStrike" cap="none" normalizeH="0" baseline="0" dirty="0">
              <a:ln>
                <a:noFill/>
              </a:ln>
              <a:effectLst/>
              <a:latin typeface="Times New Roman" pitchFamily="18" charset="0"/>
              <a:cs typeface="Times New Roman" pitchFamily="18" charset="0"/>
            </a:endParaRPr>
          </a:p>
        </p:txBody>
      </p:sp>
      <p:sp>
        <p:nvSpPr>
          <p:cNvPr id="8" name="TextBox 7">
            <a:extLst>
              <a:ext uri="{FF2B5EF4-FFF2-40B4-BE49-F238E27FC236}">
                <a16:creationId xmlns:a16="http://schemas.microsoft.com/office/drawing/2014/main" id="{49480118-E62A-42D5-1BC3-A354C42512EE}"/>
              </a:ext>
            </a:extLst>
          </p:cNvPr>
          <p:cNvSpPr txBox="1"/>
          <p:nvPr/>
        </p:nvSpPr>
        <p:spPr>
          <a:xfrm>
            <a:off x="3817233" y="6139118"/>
            <a:ext cx="4512774" cy="369332"/>
          </a:xfrm>
          <a:prstGeom prst="rect">
            <a:avLst/>
          </a:prstGeom>
          <a:noFill/>
        </p:spPr>
        <p:txBody>
          <a:bodyPr wrap="none" rtlCol="0">
            <a:spAutoFit/>
          </a:bodyPr>
          <a:lstStyle/>
          <a:p>
            <a:r>
              <a:rPr lang="en-IN" dirty="0">
                <a:latin typeface="Times New Roman" pitchFamily="18" charset="0"/>
                <a:cs typeface="Times New Roman" pitchFamily="18" charset="0"/>
              </a:rPr>
              <a:t>Zero-order plot for optimized formulation (F4)</a:t>
            </a:r>
            <a:endParaRPr lang="en-IN" dirty="0"/>
          </a:p>
        </p:txBody>
      </p:sp>
    </p:spTree>
    <p:extLst>
      <p:ext uri="{BB962C8B-B14F-4D97-AF65-F5344CB8AC3E}">
        <p14:creationId xmlns:p14="http://schemas.microsoft.com/office/powerpoint/2010/main" val="5474508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DB86C6F-2D97-CC14-77FF-873BA6495E80}"/>
              </a:ext>
            </a:extLst>
          </p:cNvPr>
          <p:cNvSpPr>
            <a:spLocks noGrp="1"/>
          </p:cNvSpPr>
          <p:nvPr>
            <p:ph type="sldNum" sz="quarter" idx="12"/>
          </p:nvPr>
        </p:nvSpPr>
        <p:spPr/>
        <p:txBody>
          <a:bodyPr/>
          <a:lstStyle/>
          <a:p>
            <a:fld id="{6C412A46-B304-460B-BA6E-26B326EC1AA6}" type="slidenum">
              <a:rPr lang="en-US" smtClean="0"/>
              <a:pPr/>
              <a:t>25</a:t>
            </a:fld>
            <a:endParaRPr lang="en-US"/>
          </a:p>
        </p:txBody>
      </p:sp>
      <p:graphicFrame>
        <p:nvGraphicFramePr>
          <p:cNvPr id="5" name="Table 5">
            <a:extLst>
              <a:ext uri="{FF2B5EF4-FFF2-40B4-BE49-F238E27FC236}">
                <a16:creationId xmlns:a16="http://schemas.microsoft.com/office/drawing/2014/main" id="{649A5CAE-F745-1FB1-E9F4-A342C447B892}"/>
              </a:ext>
            </a:extLst>
          </p:cNvPr>
          <p:cNvGraphicFramePr>
            <a:graphicFrameLocks noGrp="1"/>
          </p:cNvGraphicFramePr>
          <p:nvPr>
            <p:extLst>
              <p:ext uri="{D42A27DB-BD31-4B8C-83A1-F6EECF244321}">
                <p14:modId xmlns:p14="http://schemas.microsoft.com/office/powerpoint/2010/main" val="2829267152"/>
              </p:ext>
            </p:extLst>
          </p:nvPr>
        </p:nvGraphicFramePr>
        <p:xfrm>
          <a:off x="190424" y="1751385"/>
          <a:ext cx="3561728" cy="4759250"/>
        </p:xfrm>
        <a:graphic>
          <a:graphicData uri="http://schemas.openxmlformats.org/drawingml/2006/table">
            <a:tbl>
              <a:tblPr firstRow="1" bandRow="1">
                <a:tableStyleId>{5940675A-B579-460E-94D1-54222C63F5DA}</a:tableStyleId>
              </a:tblPr>
              <a:tblGrid>
                <a:gridCol w="700405">
                  <a:extLst>
                    <a:ext uri="{9D8B030D-6E8A-4147-A177-3AD203B41FA5}">
                      <a16:colId xmlns:a16="http://schemas.microsoft.com/office/drawing/2014/main" val="1734540065"/>
                    </a:ext>
                  </a:extLst>
                </a:gridCol>
                <a:gridCol w="1419914">
                  <a:extLst>
                    <a:ext uri="{9D8B030D-6E8A-4147-A177-3AD203B41FA5}">
                      <a16:colId xmlns:a16="http://schemas.microsoft.com/office/drawing/2014/main" val="3638441176"/>
                    </a:ext>
                  </a:extLst>
                </a:gridCol>
                <a:gridCol w="1441409">
                  <a:extLst>
                    <a:ext uri="{9D8B030D-6E8A-4147-A177-3AD203B41FA5}">
                      <a16:colId xmlns:a16="http://schemas.microsoft.com/office/drawing/2014/main" val="3369818378"/>
                    </a:ext>
                  </a:extLst>
                </a:gridCol>
              </a:tblGrid>
              <a:tr h="584789">
                <a:tc>
                  <a:txBody>
                    <a:bodyPr/>
                    <a:lstStyle/>
                    <a:p>
                      <a:r>
                        <a:rPr lang="en-IN" sz="1800" b="1" dirty="0">
                          <a:latin typeface="Times New Roman" panose="02020603050405020304" pitchFamily="18" charset="0"/>
                          <a:cs typeface="Times New Roman" panose="02020603050405020304" pitchFamily="18" charset="0"/>
                        </a:rPr>
                        <a:t>Time</a:t>
                      </a:r>
                    </a:p>
                  </a:txBody>
                  <a:tcPr/>
                </a:tc>
                <a:tc>
                  <a:txBody>
                    <a:bodyPr/>
                    <a:lstStyle/>
                    <a:p>
                      <a:pPr algn="ctr"/>
                      <a:r>
                        <a:rPr lang="en-IN" sz="1800" b="1" dirty="0">
                          <a:latin typeface="Times New Roman" panose="02020603050405020304" pitchFamily="18" charset="0"/>
                          <a:cs typeface="Times New Roman" panose="02020603050405020304" pitchFamily="18" charset="0"/>
                        </a:rPr>
                        <a:t>Square root of time</a:t>
                      </a:r>
                    </a:p>
                  </a:txBody>
                  <a:tcPr/>
                </a:tc>
                <a:tc>
                  <a:txBody>
                    <a:bodyPr/>
                    <a:lstStyle/>
                    <a:p>
                      <a:pPr algn="ctr"/>
                      <a:r>
                        <a:rPr lang="en-IN" sz="1800" b="1" dirty="0">
                          <a:latin typeface="Times New Roman" panose="02020603050405020304" pitchFamily="18" charset="0"/>
                          <a:cs typeface="Times New Roman" panose="02020603050405020304" pitchFamily="18" charset="0"/>
                        </a:rPr>
                        <a:t>% drug release</a:t>
                      </a:r>
                    </a:p>
                  </a:txBody>
                  <a:tcPr/>
                </a:tc>
                <a:extLst>
                  <a:ext uri="{0D108BD9-81ED-4DB2-BD59-A6C34878D82A}">
                    <a16:rowId xmlns:a16="http://schemas.microsoft.com/office/drawing/2014/main" val="3732656440"/>
                  </a:ext>
                </a:extLst>
              </a:tr>
              <a:tr h="374470">
                <a:tc>
                  <a:txBody>
                    <a:bodyPr/>
                    <a:lstStyle/>
                    <a:p>
                      <a:r>
                        <a:rPr lang="en-IN" sz="1800" dirty="0">
                          <a:latin typeface="Times New Roman" panose="02020603050405020304" pitchFamily="18" charset="0"/>
                          <a:cs typeface="Times New Roman" panose="02020603050405020304" pitchFamily="18" charset="0"/>
                        </a:rPr>
                        <a:t>0</a:t>
                      </a:r>
                    </a:p>
                  </a:txBody>
                  <a:tcPr/>
                </a:tc>
                <a:tc>
                  <a:txBody>
                    <a:bodyPr/>
                    <a:lstStyle/>
                    <a:p>
                      <a:pPr algn="ctr" fontAlgn="b"/>
                      <a:r>
                        <a:rPr lang="en-IN" sz="1800" b="0" u="none" strike="noStrike" dirty="0">
                          <a:effectLst/>
                          <a:latin typeface="Times New Roman" panose="02020603050405020304" pitchFamily="18" charset="0"/>
                          <a:cs typeface="Times New Roman" panose="02020603050405020304" pitchFamily="18" charset="0"/>
                        </a:rPr>
                        <a:t>0</a:t>
                      </a:r>
                      <a:endParaRPr lang="en-IN" sz="1800" b="0" i="0" u="none" strike="noStrike" dirty="0">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a:r>
                        <a:rPr lang="en-IN" dirty="0">
                          <a:latin typeface="Times New Roman" panose="02020603050405020304" pitchFamily="18" charset="0"/>
                          <a:cs typeface="Times New Roman" panose="02020603050405020304" pitchFamily="18" charset="0"/>
                        </a:rPr>
                        <a:t>0</a:t>
                      </a:r>
                    </a:p>
                  </a:txBody>
                  <a:tcPr/>
                </a:tc>
                <a:extLst>
                  <a:ext uri="{0D108BD9-81ED-4DB2-BD59-A6C34878D82A}">
                    <a16:rowId xmlns:a16="http://schemas.microsoft.com/office/drawing/2014/main" val="2388939827"/>
                  </a:ext>
                </a:extLst>
              </a:tr>
              <a:tr h="374470">
                <a:tc>
                  <a:txBody>
                    <a:bodyPr/>
                    <a:lstStyle/>
                    <a:p>
                      <a:r>
                        <a:rPr lang="en-IN" sz="1800" dirty="0">
                          <a:latin typeface="Times New Roman" panose="02020603050405020304" pitchFamily="18" charset="0"/>
                          <a:cs typeface="Times New Roman" panose="02020603050405020304" pitchFamily="18" charset="0"/>
                        </a:rPr>
                        <a:t>1</a:t>
                      </a:r>
                    </a:p>
                  </a:txBody>
                  <a:tcPr/>
                </a:tc>
                <a:tc>
                  <a:txBody>
                    <a:bodyPr/>
                    <a:lstStyle/>
                    <a:p>
                      <a:pPr algn="ctr" fontAlgn="b"/>
                      <a:r>
                        <a:rPr lang="en-IN" sz="1800" b="0" u="none" strike="noStrike" dirty="0">
                          <a:effectLst/>
                          <a:latin typeface="Times New Roman" panose="02020603050405020304" pitchFamily="18" charset="0"/>
                          <a:cs typeface="Times New Roman" panose="02020603050405020304" pitchFamily="18" charset="0"/>
                        </a:rPr>
                        <a:t>1.000</a:t>
                      </a:r>
                      <a:endParaRPr lang="en-IN" sz="1800" b="0" i="0" u="none" strike="noStrike" dirty="0">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a:r>
                        <a:rPr lang="en-IN" dirty="0">
                          <a:latin typeface="Times New Roman" panose="02020603050405020304" pitchFamily="18" charset="0"/>
                          <a:cs typeface="Times New Roman" panose="02020603050405020304" pitchFamily="18" charset="0"/>
                        </a:rPr>
                        <a:t>16</a:t>
                      </a:r>
                    </a:p>
                  </a:txBody>
                  <a:tcPr/>
                </a:tc>
                <a:extLst>
                  <a:ext uri="{0D108BD9-81ED-4DB2-BD59-A6C34878D82A}">
                    <a16:rowId xmlns:a16="http://schemas.microsoft.com/office/drawing/2014/main" val="3944923624"/>
                  </a:ext>
                </a:extLst>
              </a:tr>
              <a:tr h="374470">
                <a:tc>
                  <a:txBody>
                    <a:bodyPr/>
                    <a:lstStyle/>
                    <a:p>
                      <a:r>
                        <a:rPr lang="en-IN" sz="1800" dirty="0">
                          <a:latin typeface="Times New Roman" panose="02020603050405020304" pitchFamily="18" charset="0"/>
                          <a:cs typeface="Times New Roman" panose="02020603050405020304" pitchFamily="18" charset="0"/>
                        </a:rPr>
                        <a:t>2</a:t>
                      </a:r>
                    </a:p>
                  </a:txBody>
                  <a:tcPr/>
                </a:tc>
                <a:tc>
                  <a:txBody>
                    <a:bodyPr/>
                    <a:lstStyle/>
                    <a:p>
                      <a:pPr algn="ctr" fontAlgn="b"/>
                      <a:r>
                        <a:rPr lang="en-IN" sz="1800" b="0" u="none" strike="noStrike" dirty="0">
                          <a:effectLst/>
                          <a:latin typeface="Times New Roman" panose="02020603050405020304" pitchFamily="18" charset="0"/>
                          <a:cs typeface="Times New Roman" panose="02020603050405020304" pitchFamily="18" charset="0"/>
                        </a:rPr>
                        <a:t>1.414</a:t>
                      </a:r>
                      <a:endParaRPr lang="en-IN" sz="1800" b="0" i="0" u="none" strike="noStrike" dirty="0">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a:r>
                        <a:rPr lang="en-IN" dirty="0">
                          <a:latin typeface="Times New Roman" panose="02020603050405020304" pitchFamily="18" charset="0"/>
                          <a:cs typeface="Times New Roman" panose="02020603050405020304" pitchFamily="18" charset="0"/>
                        </a:rPr>
                        <a:t>29</a:t>
                      </a:r>
                    </a:p>
                  </a:txBody>
                  <a:tcPr/>
                </a:tc>
                <a:extLst>
                  <a:ext uri="{0D108BD9-81ED-4DB2-BD59-A6C34878D82A}">
                    <a16:rowId xmlns:a16="http://schemas.microsoft.com/office/drawing/2014/main" val="3681707450"/>
                  </a:ext>
                </a:extLst>
              </a:tr>
              <a:tr h="374470">
                <a:tc>
                  <a:txBody>
                    <a:bodyPr/>
                    <a:lstStyle/>
                    <a:p>
                      <a:r>
                        <a:rPr lang="en-IN" sz="1800" dirty="0">
                          <a:latin typeface="Times New Roman" panose="02020603050405020304" pitchFamily="18" charset="0"/>
                          <a:cs typeface="Times New Roman" panose="02020603050405020304" pitchFamily="18" charset="0"/>
                        </a:rPr>
                        <a:t>3</a:t>
                      </a:r>
                    </a:p>
                  </a:txBody>
                  <a:tcPr/>
                </a:tc>
                <a:tc>
                  <a:txBody>
                    <a:bodyPr/>
                    <a:lstStyle/>
                    <a:p>
                      <a:pPr algn="ctr" fontAlgn="b"/>
                      <a:r>
                        <a:rPr lang="en-IN" sz="1800" b="0" u="none" strike="noStrike" dirty="0">
                          <a:effectLst/>
                          <a:latin typeface="Times New Roman" panose="02020603050405020304" pitchFamily="18" charset="0"/>
                          <a:cs typeface="Times New Roman" panose="02020603050405020304" pitchFamily="18" charset="0"/>
                        </a:rPr>
                        <a:t>1.732</a:t>
                      </a:r>
                      <a:endParaRPr lang="en-IN" sz="1800" b="0" i="0" u="none" strike="noStrike" dirty="0">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a:r>
                        <a:rPr lang="en-IN" dirty="0">
                          <a:latin typeface="Times New Roman" panose="02020603050405020304" pitchFamily="18" charset="0"/>
                          <a:cs typeface="Times New Roman" panose="02020603050405020304" pitchFamily="18" charset="0"/>
                        </a:rPr>
                        <a:t>37</a:t>
                      </a:r>
                    </a:p>
                  </a:txBody>
                  <a:tcPr/>
                </a:tc>
                <a:extLst>
                  <a:ext uri="{0D108BD9-81ED-4DB2-BD59-A6C34878D82A}">
                    <a16:rowId xmlns:a16="http://schemas.microsoft.com/office/drawing/2014/main" val="4112800893"/>
                  </a:ext>
                </a:extLst>
              </a:tr>
              <a:tr h="374470">
                <a:tc>
                  <a:txBody>
                    <a:bodyPr/>
                    <a:lstStyle/>
                    <a:p>
                      <a:r>
                        <a:rPr lang="en-IN" sz="1800" dirty="0">
                          <a:latin typeface="Times New Roman" panose="02020603050405020304" pitchFamily="18" charset="0"/>
                          <a:cs typeface="Times New Roman" panose="02020603050405020304" pitchFamily="18" charset="0"/>
                        </a:rPr>
                        <a:t>4</a:t>
                      </a:r>
                    </a:p>
                  </a:txBody>
                  <a:tcPr/>
                </a:tc>
                <a:tc>
                  <a:txBody>
                    <a:bodyPr/>
                    <a:lstStyle/>
                    <a:p>
                      <a:pPr algn="ctr" fontAlgn="b"/>
                      <a:r>
                        <a:rPr lang="en-IN" sz="1800" b="0" u="none" strike="noStrike" dirty="0">
                          <a:effectLst/>
                          <a:latin typeface="Times New Roman" panose="02020603050405020304" pitchFamily="18" charset="0"/>
                          <a:cs typeface="Times New Roman" panose="02020603050405020304" pitchFamily="18" charset="0"/>
                        </a:rPr>
                        <a:t>2.000</a:t>
                      </a:r>
                      <a:endParaRPr lang="en-IN" sz="1800" b="0" i="0" u="none" strike="noStrike" dirty="0">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a:r>
                        <a:rPr lang="en-IN" dirty="0">
                          <a:latin typeface="Times New Roman" panose="02020603050405020304" pitchFamily="18" charset="0"/>
                          <a:cs typeface="Times New Roman" panose="02020603050405020304" pitchFamily="18" charset="0"/>
                        </a:rPr>
                        <a:t>52</a:t>
                      </a:r>
                    </a:p>
                  </a:txBody>
                  <a:tcPr/>
                </a:tc>
                <a:extLst>
                  <a:ext uri="{0D108BD9-81ED-4DB2-BD59-A6C34878D82A}">
                    <a16:rowId xmlns:a16="http://schemas.microsoft.com/office/drawing/2014/main" val="230928979"/>
                  </a:ext>
                </a:extLst>
              </a:tr>
              <a:tr h="374470">
                <a:tc>
                  <a:txBody>
                    <a:bodyPr/>
                    <a:lstStyle/>
                    <a:p>
                      <a:r>
                        <a:rPr lang="en-IN" sz="1800" dirty="0">
                          <a:latin typeface="Times New Roman" panose="02020603050405020304" pitchFamily="18" charset="0"/>
                          <a:cs typeface="Times New Roman" panose="02020603050405020304" pitchFamily="18" charset="0"/>
                        </a:rPr>
                        <a:t>5</a:t>
                      </a:r>
                    </a:p>
                  </a:txBody>
                  <a:tcPr/>
                </a:tc>
                <a:tc>
                  <a:txBody>
                    <a:bodyPr/>
                    <a:lstStyle/>
                    <a:p>
                      <a:pPr algn="ctr" fontAlgn="b"/>
                      <a:r>
                        <a:rPr lang="en-IN" sz="1800" b="0" u="none" strike="noStrike" dirty="0">
                          <a:effectLst/>
                          <a:latin typeface="Times New Roman" panose="02020603050405020304" pitchFamily="18" charset="0"/>
                          <a:cs typeface="Times New Roman" panose="02020603050405020304" pitchFamily="18" charset="0"/>
                        </a:rPr>
                        <a:t>2.236</a:t>
                      </a:r>
                      <a:endParaRPr lang="en-IN" sz="1800" b="0" i="0" u="none" strike="noStrike" dirty="0">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a:r>
                        <a:rPr lang="en-IN" dirty="0">
                          <a:latin typeface="Times New Roman" panose="02020603050405020304" pitchFamily="18" charset="0"/>
                          <a:cs typeface="Times New Roman" panose="02020603050405020304" pitchFamily="18" charset="0"/>
                        </a:rPr>
                        <a:t>58</a:t>
                      </a:r>
                    </a:p>
                  </a:txBody>
                  <a:tcPr/>
                </a:tc>
                <a:extLst>
                  <a:ext uri="{0D108BD9-81ED-4DB2-BD59-A6C34878D82A}">
                    <a16:rowId xmlns:a16="http://schemas.microsoft.com/office/drawing/2014/main" val="3216852999"/>
                  </a:ext>
                </a:extLst>
              </a:tr>
              <a:tr h="374470">
                <a:tc>
                  <a:txBody>
                    <a:bodyPr/>
                    <a:lstStyle/>
                    <a:p>
                      <a:r>
                        <a:rPr lang="en-IN" sz="1800" dirty="0">
                          <a:latin typeface="Times New Roman" panose="02020603050405020304" pitchFamily="18" charset="0"/>
                          <a:cs typeface="Times New Roman" panose="02020603050405020304" pitchFamily="18" charset="0"/>
                        </a:rPr>
                        <a:t>6</a:t>
                      </a:r>
                    </a:p>
                  </a:txBody>
                  <a:tcPr/>
                </a:tc>
                <a:tc>
                  <a:txBody>
                    <a:bodyPr/>
                    <a:lstStyle/>
                    <a:p>
                      <a:pPr algn="ctr" fontAlgn="b"/>
                      <a:r>
                        <a:rPr lang="en-IN" sz="1800" b="0" u="none" strike="noStrike" dirty="0">
                          <a:effectLst/>
                          <a:latin typeface="Times New Roman" panose="02020603050405020304" pitchFamily="18" charset="0"/>
                          <a:cs typeface="Times New Roman" panose="02020603050405020304" pitchFamily="18" charset="0"/>
                        </a:rPr>
                        <a:t>2.449</a:t>
                      </a:r>
                      <a:endParaRPr lang="en-IN" sz="1800" b="0" i="0" u="none" strike="noStrike" dirty="0">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a:r>
                        <a:rPr lang="en-IN" dirty="0">
                          <a:latin typeface="Times New Roman" panose="02020603050405020304" pitchFamily="18" charset="0"/>
                          <a:cs typeface="Times New Roman" panose="02020603050405020304" pitchFamily="18" charset="0"/>
                        </a:rPr>
                        <a:t>62</a:t>
                      </a:r>
                    </a:p>
                  </a:txBody>
                  <a:tcPr/>
                </a:tc>
                <a:extLst>
                  <a:ext uri="{0D108BD9-81ED-4DB2-BD59-A6C34878D82A}">
                    <a16:rowId xmlns:a16="http://schemas.microsoft.com/office/drawing/2014/main" val="3198953036"/>
                  </a:ext>
                </a:extLst>
              </a:tr>
              <a:tr h="374470">
                <a:tc>
                  <a:txBody>
                    <a:bodyPr/>
                    <a:lstStyle/>
                    <a:p>
                      <a:r>
                        <a:rPr lang="en-IN" sz="1800" dirty="0">
                          <a:latin typeface="Times New Roman" panose="02020603050405020304" pitchFamily="18" charset="0"/>
                          <a:cs typeface="Times New Roman" panose="02020603050405020304" pitchFamily="18" charset="0"/>
                        </a:rPr>
                        <a:t>7</a:t>
                      </a:r>
                    </a:p>
                  </a:txBody>
                  <a:tcPr/>
                </a:tc>
                <a:tc>
                  <a:txBody>
                    <a:bodyPr/>
                    <a:lstStyle/>
                    <a:p>
                      <a:pPr algn="ctr" fontAlgn="b"/>
                      <a:r>
                        <a:rPr lang="en-IN" sz="1800" b="0" u="none" strike="noStrike" dirty="0">
                          <a:effectLst/>
                          <a:latin typeface="Times New Roman" panose="02020603050405020304" pitchFamily="18" charset="0"/>
                          <a:cs typeface="Times New Roman" panose="02020603050405020304" pitchFamily="18" charset="0"/>
                        </a:rPr>
                        <a:t>2.646</a:t>
                      </a:r>
                      <a:endParaRPr lang="en-IN" sz="1800" b="0" i="0" u="none" strike="noStrike" dirty="0">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a:r>
                        <a:rPr lang="en-IN" dirty="0">
                          <a:latin typeface="Times New Roman" panose="02020603050405020304" pitchFamily="18" charset="0"/>
                          <a:cs typeface="Times New Roman" panose="02020603050405020304" pitchFamily="18" charset="0"/>
                        </a:rPr>
                        <a:t>79</a:t>
                      </a:r>
                    </a:p>
                  </a:txBody>
                  <a:tcPr/>
                </a:tc>
                <a:extLst>
                  <a:ext uri="{0D108BD9-81ED-4DB2-BD59-A6C34878D82A}">
                    <a16:rowId xmlns:a16="http://schemas.microsoft.com/office/drawing/2014/main" val="2932197511"/>
                  </a:ext>
                </a:extLst>
              </a:tr>
              <a:tr h="374470">
                <a:tc>
                  <a:txBody>
                    <a:bodyPr/>
                    <a:lstStyle/>
                    <a:p>
                      <a:r>
                        <a:rPr lang="en-IN" sz="1800" dirty="0">
                          <a:latin typeface="Times New Roman" panose="02020603050405020304" pitchFamily="18" charset="0"/>
                          <a:cs typeface="Times New Roman" panose="02020603050405020304" pitchFamily="18" charset="0"/>
                        </a:rPr>
                        <a:t>8</a:t>
                      </a:r>
                    </a:p>
                  </a:txBody>
                  <a:tcPr/>
                </a:tc>
                <a:tc>
                  <a:txBody>
                    <a:bodyPr/>
                    <a:lstStyle/>
                    <a:p>
                      <a:pPr algn="ctr" fontAlgn="b"/>
                      <a:r>
                        <a:rPr lang="en-IN" sz="1800" b="0" u="none" strike="noStrike" dirty="0">
                          <a:effectLst/>
                          <a:latin typeface="Times New Roman" panose="02020603050405020304" pitchFamily="18" charset="0"/>
                          <a:cs typeface="Times New Roman" panose="02020603050405020304" pitchFamily="18" charset="0"/>
                        </a:rPr>
                        <a:t>2.828</a:t>
                      </a:r>
                      <a:endParaRPr lang="en-IN" sz="1800" b="0" i="0" u="none" strike="noStrike" dirty="0">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a:r>
                        <a:rPr lang="en-IN" dirty="0">
                          <a:latin typeface="Times New Roman" panose="02020603050405020304" pitchFamily="18" charset="0"/>
                          <a:cs typeface="Times New Roman" panose="02020603050405020304" pitchFamily="18" charset="0"/>
                        </a:rPr>
                        <a:t>87</a:t>
                      </a:r>
                    </a:p>
                  </a:txBody>
                  <a:tcPr/>
                </a:tc>
                <a:extLst>
                  <a:ext uri="{0D108BD9-81ED-4DB2-BD59-A6C34878D82A}">
                    <a16:rowId xmlns:a16="http://schemas.microsoft.com/office/drawing/2014/main" val="3026110431"/>
                  </a:ext>
                </a:extLst>
              </a:tr>
              <a:tr h="374470">
                <a:tc>
                  <a:txBody>
                    <a:bodyPr/>
                    <a:lstStyle/>
                    <a:p>
                      <a:r>
                        <a:rPr lang="en-IN" sz="1800" dirty="0">
                          <a:latin typeface="Times New Roman" panose="02020603050405020304" pitchFamily="18" charset="0"/>
                          <a:cs typeface="Times New Roman" panose="02020603050405020304" pitchFamily="18" charset="0"/>
                        </a:rPr>
                        <a:t>10</a:t>
                      </a:r>
                    </a:p>
                  </a:txBody>
                  <a:tcPr/>
                </a:tc>
                <a:tc>
                  <a:txBody>
                    <a:bodyPr/>
                    <a:lstStyle/>
                    <a:p>
                      <a:pPr algn="ctr" fontAlgn="b"/>
                      <a:r>
                        <a:rPr lang="en-IN" sz="1800" b="0" u="none" strike="noStrike" dirty="0">
                          <a:effectLst/>
                          <a:latin typeface="Times New Roman" panose="02020603050405020304" pitchFamily="18" charset="0"/>
                          <a:cs typeface="Times New Roman" panose="02020603050405020304" pitchFamily="18" charset="0"/>
                        </a:rPr>
                        <a:t>3.162</a:t>
                      </a:r>
                      <a:endParaRPr lang="en-IN" sz="1800" b="0" i="0" u="none" strike="noStrike" dirty="0">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a:r>
                        <a:rPr lang="en-IN" dirty="0">
                          <a:latin typeface="Times New Roman" panose="02020603050405020304" pitchFamily="18" charset="0"/>
                          <a:cs typeface="Times New Roman" panose="02020603050405020304" pitchFamily="18" charset="0"/>
                        </a:rPr>
                        <a:t>92</a:t>
                      </a:r>
                    </a:p>
                  </a:txBody>
                  <a:tcPr/>
                </a:tc>
                <a:extLst>
                  <a:ext uri="{0D108BD9-81ED-4DB2-BD59-A6C34878D82A}">
                    <a16:rowId xmlns:a16="http://schemas.microsoft.com/office/drawing/2014/main" val="79324548"/>
                  </a:ext>
                </a:extLst>
              </a:tr>
              <a:tr h="374470">
                <a:tc>
                  <a:txBody>
                    <a:bodyPr/>
                    <a:lstStyle/>
                    <a:p>
                      <a:r>
                        <a:rPr lang="en-IN" sz="1800" dirty="0">
                          <a:latin typeface="Times New Roman" panose="02020603050405020304" pitchFamily="18" charset="0"/>
                          <a:cs typeface="Times New Roman" panose="02020603050405020304" pitchFamily="18" charset="0"/>
                        </a:rPr>
                        <a:t>12</a:t>
                      </a:r>
                    </a:p>
                  </a:txBody>
                  <a:tcPr/>
                </a:tc>
                <a:tc>
                  <a:txBody>
                    <a:bodyPr/>
                    <a:lstStyle/>
                    <a:p>
                      <a:pPr algn="ctr" fontAlgn="b"/>
                      <a:r>
                        <a:rPr lang="en-IN" sz="1800" b="0" u="none" strike="noStrike" dirty="0">
                          <a:effectLst/>
                          <a:latin typeface="Times New Roman" panose="02020603050405020304" pitchFamily="18" charset="0"/>
                          <a:cs typeface="Times New Roman" panose="02020603050405020304" pitchFamily="18" charset="0"/>
                        </a:rPr>
                        <a:t>3.464</a:t>
                      </a:r>
                      <a:endParaRPr lang="en-IN" sz="1800" b="0" i="0" u="none" strike="noStrike" dirty="0">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a:r>
                        <a:rPr lang="en-IN" dirty="0">
                          <a:latin typeface="Times New Roman" panose="02020603050405020304" pitchFamily="18" charset="0"/>
                          <a:cs typeface="Times New Roman" panose="02020603050405020304" pitchFamily="18" charset="0"/>
                        </a:rPr>
                        <a:t>98</a:t>
                      </a:r>
                    </a:p>
                  </a:txBody>
                  <a:tcPr/>
                </a:tc>
                <a:extLst>
                  <a:ext uri="{0D108BD9-81ED-4DB2-BD59-A6C34878D82A}">
                    <a16:rowId xmlns:a16="http://schemas.microsoft.com/office/drawing/2014/main" val="1402131158"/>
                  </a:ext>
                </a:extLst>
              </a:tr>
            </a:tbl>
          </a:graphicData>
        </a:graphic>
      </p:graphicFrame>
      <p:graphicFrame>
        <p:nvGraphicFramePr>
          <p:cNvPr id="6" name="Chart 5">
            <a:extLst>
              <a:ext uri="{FF2B5EF4-FFF2-40B4-BE49-F238E27FC236}">
                <a16:creationId xmlns:a16="http://schemas.microsoft.com/office/drawing/2014/main" id="{BCEA938D-312C-A161-8A01-8A46ABB9767C}"/>
              </a:ext>
            </a:extLst>
          </p:cNvPr>
          <p:cNvGraphicFramePr>
            <a:graphicFrameLocks noGrp="1"/>
          </p:cNvGraphicFramePr>
          <p:nvPr>
            <p:extLst>
              <p:ext uri="{D42A27DB-BD31-4B8C-83A1-F6EECF244321}">
                <p14:modId xmlns:p14="http://schemas.microsoft.com/office/powerpoint/2010/main" val="3464953272"/>
              </p:ext>
            </p:extLst>
          </p:nvPr>
        </p:nvGraphicFramePr>
        <p:xfrm>
          <a:off x="3924376" y="1568823"/>
          <a:ext cx="5029200" cy="4703962"/>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1979EDFE-9390-B767-82B2-6C074560FA93}"/>
              </a:ext>
            </a:extLst>
          </p:cNvPr>
          <p:cNvSpPr txBox="1"/>
          <p:nvPr/>
        </p:nvSpPr>
        <p:spPr>
          <a:xfrm>
            <a:off x="4121879" y="6172200"/>
            <a:ext cx="4572000" cy="369332"/>
          </a:xfrm>
          <a:prstGeom prst="rect">
            <a:avLst/>
          </a:prstGeom>
          <a:noFill/>
        </p:spPr>
        <p:txBody>
          <a:bodyPr wrap="square">
            <a:spAutoFit/>
          </a:bodyPr>
          <a:lstStyle/>
          <a:p>
            <a:pPr lvl="0" algn="ctr" fontAlgn="base">
              <a:spcBef>
                <a:spcPct val="0"/>
              </a:spcBef>
              <a:spcAft>
                <a:spcPct val="0"/>
              </a:spcAft>
              <a:tabLst>
                <a:tab pos="5886450" algn="l"/>
              </a:tabLst>
            </a:pPr>
            <a:r>
              <a:rPr kumimoji="0" lang="en-US"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Higuchi plot for optimized formulation (F4)</a:t>
            </a:r>
            <a:endParaRPr kumimoji="0" lang="en-US" sz="2800" i="0" u="none" strike="noStrike" cap="none" normalizeH="0" baseline="0" dirty="0">
              <a:ln>
                <a:noFill/>
              </a:ln>
              <a:solidFill>
                <a:schemeClr val="tx1"/>
              </a:solidFill>
              <a:effectLst/>
              <a:latin typeface="Times New Roman" pitchFamily="18" charset="0"/>
              <a:cs typeface="Times New Roman" pitchFamily="18" charset="0"/>
            </a:endParaRPr>
          </a:p>
        </p:txBody>
      </p:sp>
      <p:sp>
        <p:nvSpPr>
          <p:cNvPr id="16" name="TextBox 15">
            <a:extLst>
              <a:ext uri="{FF2B5EF4-FFF2-40B4-BE49-F238E27FC236}">
                <a16:creationId xmlns:a16="http://schemas.microsoft.com/office/drawing/2014/main" id="{D47B447C-21C6-2245-45AC-8E0808A100CB}"/>
              </a:ext>
            </a:extLst>
          </p:cNvPr>
          <p:cNvSpPr txBox="1"/>
          <p:nvPr/>
        </p:nvSpPr>
        <p:spPr>
          <a:xfrm>
            <a:off x="2857256" y="585215"/>
            <a:ext cx="3429488" cy="461665"/>
          </a:xfrm>
          <a:prstGeom prst="rect">
            <a:avLst/>
          </a:prstGeom>
          <a:noFill/>
        </p:spPr>
        <p:txBody>
          <a:bodyPr wrap="square" rtlCol="0">
            <a:spAutoFit/>
          </a:bodyPr>
          <a:lstStyle/>
          <a:p>
            <a:r>
              <a:rPr lang="en-IN" sz="2400" b="1" dirty="0">
                <a:latin typeface="Times New Roman" pitchFamily="18" charset="0"/>
                <a:cs typeface="Times New Roman" pitchFamily="18" charset="0"/>
              </a:rPr>
              <a:t>HIGUCHI MODEL </a:t>
            </a:r>
          </a:p>
        </p:txBody>
      </p:sp>
    </p:spTree>
    <p:extLst>
      <p:ext uri="{BB962C8B-B14F-4D97-AF65-F5344CB8AC3E}">
        <p14:creationId xmlns:p14="http://schemas.microsoft.com/office/powerpoint/2010/main" val="21310752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F4D0828-0450-62B5-3B96-4BDF4D5D9325}"/>
              </a:ext>
            </a:extLst>
          </p:cNvPr>
          <p:cNvSpPr>
            <a:spLocks noGrp="1"/>
          </p:cNvSpPr>
          <p:nvPr>
            <p:ph type="sldNum" sz="quarter" idx="12"/>
          </p:nvPr>
        </p:nvSpPr>
        <p:spPr/>
        <p:txBody>
          <a:bodyPr/>
          <a:lstStyle/>
          <a:p>
            <a:fld id="{6C412A46-B304-460B-BA6E-26B326EC1AA6}" type="slidenum">
              <a:rPr lang="en-US" smtClean="0"/>
              <a:pPr/>
              <a:t>26</a:t>
            </a:fld>
            <a:endParaRPr lang="en-US"/>
          </a:p>
        </p:txBody>
      </p:sp>
      <p:graphicFrame>
        <p:nvGraphicFramePr>
          <p:cNvPr id="3" name="Table 3">
            <a:extLst>
              <a:ext uri="{FF2B5EF4-FFF2-40B4-BE49-F238E27FC236}">
                <a16:creationId xmlns:a16="http://schemas.microsoft.com/office/drawing/2014/main" id="{922C5EC1-4709-89F4-0A51-129D5914229D}"/>
              </a:ext>
            </a:extLst>
          </p:cNvPr>
          <p:cNvGraphicFramePr>
            <a:graphicFrameLocks noGrp="1"/>
          </p:cNvGraphicFramePr>
          <p:nvPr>
            <p:extLst>
              <p:ext uri="{D42A27DB-BD31-4B8C-83A1-F6EECF244321}">
                <p14:modId xmlns:p14="http://schemas.microsoft.com/office/powerpoint/2010/main" val="2338172119"/>
              </p:ext>
            </p:extLst>
          </p:nvPr>
        </p:nvGraphicFramePr>
        <p:xfrm>
          <a:off x="381000" y="1113064"/>
          <a:ext cx="3581400" cy="505968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902503880"/>
                    </a:ext>
                  </a:extLst>
                </a:gridCol>
                <a:gridCol w="918713">
                  <a:extLst>
                    <a:ext uri="{9D8B030D-6E8A-4147-A177-3AD203B41FA5}">
                      <a16:colId xmlns:a16="http://schemas.microsoft.com/office/drawing/2014/main" val="4011805946"/>
                    </a:ext>
                  </a:extLst>
                </a:gridCol>
                <a:gridCol w="1824487">
                  <a:extLst>
                    <a:ext uri="{9D8B030D-6E8A-4147-A177-3AD203B41FA5}">
                      <a16:colId xmlns:a16="http://schemas.microsoft.com/office/drawing/2014/main" val="531842177"/>
                    </a:ext>
                  </a:extLst>
                </a:gridCol>
              </a:tblGrid>
              <a:tr h="370840">
                <a:tc>
                  <a:txBody>
                    <a:bodyPr/>
                    <a:lstStyle/>
                    <a:p>
                      <a:r>
                        <a:rPr lang="en-IN" sz="2000" b="1" dirty="0">
                          <a:latin typeface="Times New Roman" panose="02020603050405020304" pitchFamily="18" charset="0"/>
                          <a:cs typeface="Times New Roman" panose="02020603050405020304" pitchFamily="18" charset="0"/>
                        </a:rPr>
                        <a:t>Time</a:t>
                      </a:r>
                    </a:p>
                  </a:txBody>
                  <a:tcPr/>
                </a:tc>
                <a:tc>
                  <a:txBody>
                    <a:bodyPr/>
                    <a:lstStyle/>
                    <a:p>
                      <a:r>
                        <a:rPr lang="en-IN" sz="2000" b="1" dirty="0">
                          <a:latin typeface="Times New Roman" panose="02020603050405020304" pitchFamily="18" charset="0"/>
                          <a:cs typeface="Times New Roman" panose="02020603050405020304" pitchFamily="18" charset="0"/>
                        </a:rPr>
                        <a:t>Log Time</a:t>
                      </a:r>
                    </a:p>
                  </a:txBody>
                  <a:tcPr/>
                </a:tc>
                <a:tc>
                  <a:txBody>
                    <a:bodyPr/>
                    <a:lstStyle/>
                    <a:p>
                      <a:r>
                        <a:rPr lang="en-IN" sz="2000" b="1" dirty="0">
                          <a:latin typeface="Times New Roman" panose="02020603050405020304" pitchFamily="18" charset="0"/>
                          <a:cs typeface="Times New Roman" panose="02020603050405020304" pitchFamily="18" charset="0"/>
                        </a:rPr>
                        <a:t>Log % Drug Release</a:t>
                      </a:r>
                    </a:p>
                  </a:txBody>
                  <a:tcPr/>
                </a:tc>
                <a:extLst>
                  <a:ext uri="{0D108BD9-81ED-4DB2-BD59-A6C34878D82A}">
                    <a16:rowId xmlns:a16="http://schemas.microsoft.com/office/drawing/2014/main" val="2821104461"/>
                  </a:ext>
                </a:extLst>
              </a:tr>
              <a:tr h="370840">
                <a:tc>
                  <a:txBody>
                    <a:bodyPr/>
                    <a:lstStyle/>
                    <a:p>
                      <a:r>
                        <a:rPr lang="en-IN" sz="2000" dirty="0">
                          <a:latin typeface="Times New Roman" panose="02020603050405020304" pitchFamily="18" charset="0"/>
                          <a:cs typeface="Times New Roman" panose="02020603050405020304" pitchFamily="18" charset="0"/>
                        </a:rPr>
                        <a:t>0</a:t>
                      </a:r>
                    </a:p>
                  </a:txBody>
                  <a:tcPr/>
                </a:tc>
                <a:tc>
                  <a:txBody>
                    <a:bodyPr/>
                    <a:lstStyle/>
                    <a:p>
                      <a:r>
                        <a:rPr lang="en-IN" sz="2000" dirty="0">
                          <a:latin typeface="Times New Roman" panose="02020603050405020304" pitchFamily="18" charset="0"/>
                          <a:cs typeface="Times New Roman" panose="02020603050405020304" pitchFamily="18" charset="0"/>
                        </a:rPr>
                        <a:t>0</a:t>
                      </a:r>
                    </a:p>
                  </a:txBody>
                  <a:tcPr/>
                </a:tc>
                <a:tc>
                  <a:txBody>
                    <a:bodyPr/>
                    <a:lstStyle/>
                    <a:p>
                      <a:r>
                        <a:rPr lang="en-IN" sz="2000" dirty="0">
                          <a:latin typeface="Times New Roman" panose="02020603050405020304" pitchFamily="18" charset="0"/>
                          <a:cs typeface="Times New Roman" panose="02020603050405020304" pitchFamily="18" charset="0"/>
                        </a:rPr>
                        <a:t>0</a:t>
                      </a:r>
                    </a:p>
                  </a:txBody>
                  <a:tcPr/>
                </a:tc>
                <a:extLst>
                  <a:ext uri="{0D108BD9-81ED-4DB2-BD59-A6C34878D82A}">
                    <a16:rowId xmlns:a16="http://schemas.microsoft.com/office/drawing/2014/main" val="1003936472"/>
                  </a:ext>
                </a:extLst>
              </a:tr>
              <a:tr h="370840">
                <a:tc>
                  <a:txBody>
                    <a:bodyPr/>
                    <a:lstStyle/>
                    <a:p>
                      <a:r>
                        <a:rPr lang="en-IN" sz="2000" dirty="0">
                          <a:latin typeface="Times New Roman" panose="02020603050405020304" pitchFamily="18" charset="0"/>
                          <a:cs typeface="Times New Roman" panose="02020603050405020304" pitchFamily="18" charset="0"/>
                        </a:rPr>
                        <a:t>1</a:t>
                      </a:r>
                    </a:p>
                  </a:txBody>
                  <a:tcPr/>
                </a:tc>
                <a:tc>
                  <a:txBody>
                    <a:bodyPr/>
                    <a:lstStyle/>
                    <a:p>
                      <a:r>
                        <a:rPr lang="en-IN" sz="2000" dirty="0">
                          <a:latin typeface="Times New Roman" panose="02020603050405020304" pitchFamily="18" charset="0"/>
                          <a:cs typeface="Times New Roman" panose="02020603050405020304" pitchFamily="18" charset="0"/>
                        </a:rPr>
                        <a:t>0.000</a:t>
                      </a:r>
                    </a:p>
                  </a:txBody>
                  <a:tcPr/>
                </a:tc>
                <a:tc>
                  <a:txBody>
                    <a:bodyPr/>
                    <a:lstStyle/>
                    <a:p>
                      <a:pPr algn="ctr" fontAlgn="b"/>
                      <a:r>
                        <a:rPr lang="en-IN" sz="2000" b="0" u="none" strike="noStrike" dirty="0">
                          <a:effectLst/>
                          <a:latin typeface="Times New Roman" panose="02020603050405020304" pitchFamily="18" charset="0"/>
                          <a:cs typeface="Times New Roman" panose="02020603050405020304" pitchFamily="18" charset="0"/>
                        </a:rPr>
                        <a:t>1.204</a:t>
                      </a:r>
                      <a:endParaRPr lang="en-IN" sz="2000" b="0" i="0" u="none" strike="noStrike" dirty="0">
                        <a:effectLst/>
                        <a:latin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2611381376"/>
                  </a:ext>
                </a:extLst>
              </a:tr>
              <a:tr h="370840">
                <a:tc>
                  <a:txBody>
                    <a:bodyPr/>
                    <a:lstStyle/>
                    <a:p>
                      <a:r>
                        <a:rPr lang="en-IN" sz="2000" dirty="0">
                          <a:latin typeface="Times New Roman" panose="02020603050405020304" pitchFamily="18" charset="0"/>
                          <a:cs typeface="Times New Roman" panose="02020603050405020304" pitchFamily="18" charset="0"/>
                        </a:rPr>
                        <a:t>2</a:t>
                      </a:r>
                    </a:p>
                  </a:txBody>
                  <a:tcPr/>
                </a:tc>
                <a:tc>
                  <a:txBody>
                    <a:bodyPr/>
                    <a:lstStyle/>
                    <a:p>
                      <a:r>
                        <a:rPr lang="en-IN" sz="2000" dirty="0">
                          <a:latin typeface="Times New Roman" panose="02020603050405020304" pitchFamily="18" charset="0"/>
                          <a:cs typeface="Times New Roman" panose="02020603050405020304" pitchFamily="18" charset="0"/>
                        </a:rPr>
                        <a:t>0.301</a:t>
                      </a:r>
                    </a:p>
                  </a:txBody>
                  <a:tcPr/>
                </a:tc>
                <a:tc>
                  <a:txBody>
                    <a:bodyPr/>
                    <a:lstStyle/>
                    <a:p>
                      <a:pPr algn="ctr" fontAlgn="b"/>
                      <a:r>
                        <a:rPr lang="en-IN" sz="2000" b="0" u="none" strike="noStrike">
                          <a:effectLst/>
                          <a:latin typeface="Times New Roman" panose="02020603050405020304" pitchFamily="18" charset="0"/>
                          <a:cs typeface="Times New Roman" panose="02020603050405020304" pitchFamily="18" charset="0"/>
                        </a:rPr>
                        <a:t>1.462</a:t>
                      </a:r>
                      <a:endParaRPr lang="en-IN" sz="2000" b="0" i="0" u="none" strike="noStrike">
                        <a:effectLst/>
                        <a:latin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1121251055"/>
                  </a:ext>
                </a:extLst>
              </a:tr>
              <a:tr h="370840">
                <a:tc>
                  <a:txBody>
                    <a:bodyPr/>
                    <a:lstStyle/>
                    <a:p>
                      <a:r>
                        <a:rPr lang="en-IN" sz="2000" dirty="0">
                          <a:latin typeface="Times New Roman" panose="02020603050405020304" pitchFamily="18" charset="0"/>
                          <a:cs typeface="Times New Roman" panose="02020603050405020304" pitchFamily="18" charset="0"/>
                        </a:rPr>
                        <a:t>3</a:t>
                      </a:r>
                    </a:p>
                  </a:txBody>
                  <a:tcPr/>
                </a:tc>
                <a:tc>
                  <a:txBody>
                    <a:bodyPr/>
                    <a:lstStyle/>
                    <a:p>
                      <a:r>
                        <a:rPr lang="en-IN" sz="2000" dirty="0">
                          <a:latin typeface="Times New Roman" panose="02020603050405020304" pitchFamily="18" charset="0"/>
                          <a:cs typeface="Times New Roman" panose="02020603050405020304" pitchFamily="18" charset="0"/>
                        </a:rPr>
                        <a:t>0.477</a:t>
                      </a:r>
                    </a:p>
                  </a:txBody>
                  <a:tcPr/>
                </a:tc>
                <a:tc>
                  <a:txBody>
                    <a:bodyPr/>
                    <a:lstStyle/>
                    <a:p>
                      <a:pPr algn="ctr" fontAlgn="b"/>
                      <a:r>
                        <a:rPr lang="en-IN" sz="2000" b="0" u="none" strike="noStrike" dirty="0">
                          <a:effectLst/>
                          <a:latin typeface="Times New Roman" panose="02020603050405020304" pitchFamily="18" charset="0"/>
                          <a:cs typeface="Times New Roman" panose="02020603050405020304" pitchFamily="18" charset="0"/>
                        </a:rPr>
                        <a:t>1.568</a:t>
                      </a:r>
                      <a:endParaRPr lang="en-IN" sz="2000" b="0" i="0" u="none" strike="noStrike" dirty="0">
                        <a:effectLst/>
                        <a:latin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977933614"/>
                  </a:ext>
                </a:extLst>
              </a:tr>
              <a:tr h="370840">
                <a:tc>
                  <a:txBody>
                    <a:bodyPr/>
                    <a:lstStyle/>
                    <a:p>
                      <a:r>
                        <a:rPr lang="en-IN" sz="2000" dirty="0">
                          <a:latin typeface="Times New Roman" panose="02020603050405020304" pitchFamily="18" charset="0"/>
                          <a:cs typeface="Times New Roman" panose="02020603050405020304" pitchFamily="18" charset="0"/>
                        </a:rPr>
                        <a:t>4</a:t>
                      </a:r>
                    </a:p>
                  </a:txBody>
                  <a:tcPr/>
                </a:tc>
                <a:tc>
                  <a:txBody>
                    <a:bodyPr/>
                    <a:lstStyle/>
                    <a:p>
                      <a:r>
                        <a:rPr lang="en-IN" sz="2000" dirty="0">
                          <a:latin typeface="Times New Roman" panose="02020603050405020304" pitchFamily="18" charset="0"/>
                          <a:cs typeface="Times New Roman" panose="02020603050405020304" pitchFamily="18" charset="0"/>
                        </a:rPr>
                        <a:t>0.602</a:t>
                      </a:r>
                    </a:p>
                  </a:txBody>
                  <a:tcPr/>
                </a:tc>
                <a:tc>
                  <a:txBody>
                    <a:bodyPr/>
                    <a:lstStyle/>
                    <a:p>
                      <a:pPr algn="ctr" fontAlgn="b"/>
                      <a:r>
                        <a:rPr lang="en-IN" sz="2000" b="0" u="none" strike="noStrike" dirty="0">
                          <a:effectLst/>
                          <a:latin typeface="Times New Roman" panose="02020603050405020304" pitchFamily="18" charset="0"/>
                          <a:cs typeface="Times New Roman" panose="02020603050405020304" pitchFamily="18" charset="0"/>
                        </a:rPr>
                        <a:t>1.716</a:t>
                      </a:r>
                      <a:endParaRPr lang="en-IN" sz="2000" b="0" i="0" u="none" strike="noStrike" dirty="0">
                        <a:effectLst/>
                        <a:latin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2933715429"/>
                  </a:ext>
                </a:extLst>
              </a:tr>
              <a:tr h="370840">
                <a:tc>
                  <a:txBody>
                    <a:bodyPr/>
                    <a:lstStyle/>
                    <a:p>
                      <a:r>
                        <a:rPr lang="en-IN" sz="2000" dirty="0">
                          <a:latin typeface="Times New Roman" panose="02020603050405020304" pitchFamily="18" charset="0"/>
                          <a:cs typeface="Times New Roman" panose="02020603050405020304" pitchFamily="18" charset="0"/>
                        </a:rPr>
                        <a:t>5</a:t>
                      </a:r>
                    </a:p>
                  </a:txBody>
                  <a:tcPr/>
                </a:tc>
                <a:tc>
                  <a:txBody>
                    <a:bodyPr/>
                    <a:lstStyle/>
                    <a:p>
                      <a:r>
                        <a:rPr lang="en-IN" sz="2000" dirty="0">
                          <a:latin typeface="Times New Roman" panose="02020603050405020304" pitchFamily="18" charset="0"/>
                          <a:cs typeface="Times New Roman" panose="02020603050405020304" pitchFamily="18" charset="0"/>
                        </a:rPr>
                        <a:t>0.699</a:t>
                      </a:r>
                    </a:p>
                  </a:txBody>
                  <a:tcPr/>
                </a:tc>
                <a:tc>
                  <a:txBody>
                    <a:bodyPr/>
                    <a:lstStyle/>
                    <a:p>
                      <a:pPr algn="ctr" fontAlgn="b"/>
                      <a:r>
                        <a:rPr lang="en-IN" sz="2000" b="0" u="none" strike="noStrike" dirty="0">
                          <a:effectLst/>
                          <a:latin typeface="Times New Roman" panose="02020603050405020304" pitchFamily="18" charset="0"/>
                          <a:cs typeface="Times New Roman" panose="02020603050405020304" pitchFamily="18" charset="0"/>
                        </a:rPr>
                        <a:t>1.763</a:t>
                      </a:r>
                      <a:endParaRPr lang="en-IN" sz="2000" b="0" i="0" u="none" strike="noStrike" dirty="0">
                        <a:effectLst/>
                        <a:latin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1237276249"/>
                  </a:ext>
                </a:extLst>
              </a:tr>
              <a:tr h="370840">
                <a:tc>
                  <a:txBody>
                    <a:bodyPr/>
                    <a:lstStyle/>
                    <a:p>
                      <a:r>
                        <a:rPr lang="en-IN" sz="2000" dirty="0">
                          <a:latin typeface="Times New Roman" panose="02020603050405020304" pitchFamily="18" charset="0"/>
                          <a:cs typeface="Times New Roman" panose="02020603050405020304" pitchFamily="18" charset="0"/>
                        </a:rPr>
                        <a:t>6</a:t>
                      </a:r>
                    </a:p>
                  </a:txBody>
                  <a:tcPr/>
                </a:tc>
                <a:tc>
                  <a:txBody>
                    <a:bodyPr/>
                    <a:lstStyle/>
                    <a:p>
                      <a:r>
                        <a:rPr lang="en-IN" sz="2000" dirty="0">
                          <a:latin typeface="Times New Roman" panose="02020603050405020304" pitchFamily="18" charset="0"/>
                          <a:cs typeface="Times New Roman" panose="02020603050405020304" pitchFamily="18" charset="0"/>
                        </a:rPr>
                        <a:t>0.778</a:t>
                      </a:r>
                    </a:p>
                  </a:txBody>
                  <a:tcPr/>
                </a:tc>
                <a:tc>
                  <a:txBody>
                    <a:bodyPr/>
                    <a:lstStyle/>
                    <a:p>
                      <a:pPr algn="ctr" fontAlgn="b"/>
                      <a:r>
                        <a:rPr lang="en-IN" sz="2000" b="0" u="none" strike="noStrike" dirty="0">
                          <a:effectLst/>
                          <a:latin typeface="Times New Roman" panose="02020603050405020304" pitchFamily="18" charset="0"/>
                          <a:cs typeface="Times New Roman" panose="02020603050405020304" pitchFamily="18" charset="0"/>
                        </a:rPr>
                        <a:t>1.792</a:t>
                      </a:r>
                      <a:endParaRPr lang="en-IN" sz="2000" b="0" i="0" u="none" strike="noStrike" dirty="0">
                        <a:effectLst/>
                        <a:latin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3202555624"/>
                  </a:ext>
                </a:extLst>
              </a:tr>
              <a:tr h="370840">
                <a:tc>
                  <a:txBody>
                    <a:bodyPr/>
                    <a:lstStyle/>
                    <a:p>
                      <a:r>
                        <a:rPr lang="en-IN" sz="2000" dirty="0">
                          <a:latin typeface="Times New Roman" panose="02020603050405020304" pitchFamily="18" charset="0"/>
                          <a:cs typeface="Times New Roman" panose="02020603050405020304" pitchFamily="18" charset="0"/>
                        </a:rPr>
                        <a:t>7</a:t>
                      </a:r>
                    </a:p>
                  </a:txBody>
                  <a:tcPr/>
                </a:tc>
                <a:tc>
                  <a:txBody>
                    <a:bodyPr/>
                    <a:lstStyle/>
                    <a:p>
                      <a:r>
                        <a:rPr lang="en-IN" sz="2000" dirty="0">
                          <a:latin typeface="Times New Roman" panose="02020603050405020304" pitchFamily="18" charset="0"/>
                          <a:cs typeface="Times New Roman" panose="02020603050405020304" pitchFamily="18" charset="0"/>
                        </a:rPr>
                        <a:t>0.845</a:t>
                      </a:r>
                    </a:p>
                  </a:txBody>
                  <a:tcPr/>
                </a:tc>
                <a:tc>
                  <a:txBody>
                    <a:bodyPr/>
                    <a:lstStyle/>
                    <a:p>
                      <a:pPr algn="ctr" fontAlgn="b"/>
                      <a:r>
                        <a:rPr lang="en-IN" sz="2000" b="0" u="none" strike="noStrike" dirty="0">
                          <a:effectLst/>
                          <a:latin typeface="Times New Roman" panose="02020603050405020304" pitchFamily="18" charset="0"/>
                          <a:cs typeface="Times New Roman" panose="02020603050405020304" pitchFamily="18" charset="0"/>
                        </a:rPr>
                        <a:t>1.898</a:t>
                      </a:r>
                      <a:endParaRPr lang="en-IN" sz="2000" b="0" i="0" u="none" strike="noStrike" dirty="0">
                        <a:effectLst/>
                        <a:latin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1971754007"/>
                  </a:ext>
                </a:extLst>
              </a:tr>
              <a:tr h="370840">
                <a:tc>
                  <a:txBody>
                    <a:bodyPr/>
                    <a:lstStyle/>
                    <a:p>
                      <a:r>
                        <a:rPr lang="en-IN" sz="2000" dirty="0">
                          <a:latin typeface="Times New Roman" panose="02020603050405020304" pitchFamily="18" charset="0"/>
                          <a:cs typeface="Times New Roman" panose="02020603050405020304" pitchFamily="18" charset="0"/>
                        </a:rPr>
                        <a:t>8</a:t>
                      </a:r>
                    </a:p>
                  </a:txBody>
                  <a:tcPr/>
                </a:tc>
                <a:tc>
                  <a:txBody>
                    <a:bodyPr/>
                    <a:lstStyle/>
                    <a:p>
                      <a:r>
                        <a:rPr lang="en-IN" sz="2000" dirty="0">
                          <a:latin typeface="Times New Roman" panose="02020603050405020304" pitchFamily="18" charset="0"/>
                          <a:cs typeface="Times New Roman" panose="02020603050405020304" pitchFamily="18" charset="0"/>
                        </a:rPr>
                        <a:t>0.903</a:t>
                      </a:r>
                    </a:p>
                  </a:txBody>
                  <a:tcPr/>
                </a:tc>
                <a:tc>
                  <a:txBody>
                    <a:bodyPr/>
                    <a:lstStyle/>
                    <a:p>
                      <a:pPr algn="ctr" fontAlgn="b"/>
                      <a:r>
                        <a:rPr lang="en-IN" sz="2000" b="0" u="none" strike="noStrike" dirty="0">
                          <a:effectLst/>
                          <a:latin typeface="Times New Roman" panose="02020603050405020304" pitchFamily="18" charset="0"/>
                          <a:cs typeface="Times New Roman" panose="02020603050405020304" pitchFamily="18" charset="0"/>
                        </a:rPr>
                        <a:t>1.940</a:t>
                      </a:r>
                      <a:endParaRPr lang="en-IN" sz="2000" b="0" i="0" u="none" strike="noStrike" dirty="0">
                        <a:effectLst/>
                        <a:latin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417014273"/>
                  </a:ext>
                </a:extLst>
              </a:tr>
              <a:tr h="370840">
                <a:tc>
                  <a:txBody>
                    <a:bodyPr/>
                    <a:lstStyle/>
                    <a:p>
                      <a:r>
                        <a:rPr lang="en-IN" sz="2000" dirty="0">
                          <a:latin typeface="Times New Roman" panose="02020603050405020304" pitchFamily="18" charset="0"/>
                          <a:cs typeface="Times New Roman" panose="02020603050405020304" pitchFamily="18" charset="0"/>
                        </a:rPr>
                        <a:t>10</a:t>
                      </a:r>
                    </a:p>
                  </a:txBody>
                  <a:tcPr/>
                </a:tc>
                <a:tc>
                  <a:txBody>
                    <a:bodyPr/>
                    <a:lstStyle/>
                    <a:p>
                      <a:r>
                        <a:rPr lang="en-IN" sz="2000" dirty="0">
                          <a:latin typeface="Times New Roman" panose="02020603050405020304" pitchFamily="18" charset="0"/>
                          <a:cs typeface="Times New Roman" panose="02020603050405020304" pitchFamily="18" charset="0"/>
                        </a:rPr>
                        <a:t>1.000</a:t>
                      </a:r>
                    </a:p>
                  </a:txBody>
                  <a:tcPr/>
                </a:tc>
                <a:tc>
                  <a:txBody>
                    <a:bodyPr/>
                    <a:lstStyle/>
                    <a:p>
                      <a:pPr algn="ctr" fontAlgn="b"/>
                      <a:r>
                        <a:rPr lang="en-IN" sz="2000" b="0" u="none" strike="noStrike" dirty="0">
                          <a:effectLst/>
                          <a:latin typeface="Times New Roman" panose="02020603050405020304" pitchFamily="18" charset="0"/>
                          <a:cs typeface="Times New Roman" panose="02020603050405020304" pitchFamily="18" charset="0"/>
                        </a:rPr>
                        <a:t>1.964</a:t>
                      </a:r>
                      <a:endParaRPr lang="en-IN" sz="2000" b="0" i="0" u="none" strike="noStrike" dirty="0">
                        <a:effectLst/>
                        <a:latin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1605167138"/>
                  </a:ext>
                </a:extLst>
              </a:tr>
              <a:tr h="370840">
                <a:tc>
                  <a:txBody>
                    <a:bodyPr/>
                    <a:lstStyle/>
                    <a:p>
                      <a:r>
                        <a:rPr lang="en-IN" sz="2000" dirty="0">
                          <a:latin typeface="Times New Roman" panose="02020603050405020304" pitchFamily="18" charset="0"/>
                          <a:cs typeface="Times New Roman" panose="02020603050405020304" pitchFamily="18" charset="0"/>
                        </a:rPr>
                        <a:t>12</a:t>
                      </a:r>
                    </a:p>
                  </a:txBody>
                  <a:tcPr/>
                </a:tc>
                <a:tc>
                  <a:txBody>
                    <a:bodyPr/>
                    <a:lstStyle/>
                    <a:p>
                      <a:r>
                        <a:rPr lang="en-IN" sz="2000" dirty="0">
                          <a:latin typeface="Times New Roman" panose="02020603050405020304" pitchFamily="18" charset="0"/>
                          <a:cs typeface="Times New Roman" panose="02020603050405020304" pitchFamily="18" charset="0"/>
                        </a:rPr>
                        <a:t>1.079</a:t>
                      </a:r>
                    </a:p>
                  </a:txBody>
                  <a:tcPr/>
                </a:tc>
                <a:tc>
                  <a:txBody>
                    <a:bodyPr/>
                    <a:lstStyle/>
                    <a:p>
                      <a:pPr algn="ctr" fontAlgn="b"/>
                      <a:r>
                        <a:rPr lang="en-IN" sz="2000" b="0" u="none" strike="noStrike" dirty="0">
                          <a:effectLst/>
                          <a:latin typeface="Times New Roman" panose="02020603050405020304" pitchFamily="18" charset="0"/>
                          <a:cs typeface="Times New Roman" panose="02020603050405020304" pitchFamily="18" charset="0"/>
                        </a:rPr>
                        <a:t>1.991</a:t>
                      </a:r>
                      <a:endParaRPr lang="en-IN" sz="2000" b="0" i="0" u="none" strike="noStrike" dirty="0">
                        <a:effectLst/>
                        <a:latin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551261784"/>
                  </a:ext>
                </a:extLst>
              </a:tr>
            </a:tbl>
          </a:graphicData>
        </a:graphic>
      </p:graphicFrame>
      <p:graphicFrame>
        <p:nvGraphicFramePr>
          <p:cNvPr id="4" name="Chart 3">
            <a:extLst>
              <a:ext uri="{FF2B5EF4-FFF2-40B4-BE49-F238E27FC236}">
                <a16:creationId xmlns:a16="http://schemas.microsoft.com/office/drawing/2014/main" id="{07DE9F67-9A58-FF1D-11DD-4A045A238767}"/>
              </a:ext>
            </a:extLst>
          </p:cNvPr>
          <p:cNvGraphicFramePr>
            <a:graphicFrameLocks noGrp="1"/>
          </p:cNvGraphicFramePr>
          <p:nvPr>
            <p:extLst>
              <p:ext uri="{D42A27DB-BD31-4B8C-83A1-F6EECF244321}">
                <p14:modId xmlns:p14="http://schemas.microsoft.com/office/powerpoint/2010/main" val="3695348798"/>
              </p:ext>
            </p:extLst>
          </p:nvPr>
        </p:nvGraphicFramePr>
        <p:xfrm>
          <a:off x="4077633" y="1113064"/>
          <a:ext cx="4648201" cy="4631872"/>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65800F54-48D5-CD3F-9135-5FBC59BAE8A1}"/>
              </a:ext>
            </a:extLst>
          </p:cNvPr>
          <p:cNvSpPr txBox="1"/>
          <p:nvPr/>
        </p:nvSpPr>
        <p:spPr>
          <a:xfrm>
            <a:off x="2203655" y="392277"/>
            <a:ext cx="7737987"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KORS-MEYER PEPPAS MODEL</a:t>
            </a:r>
          </a:p>
        </p:txBody>
      </p:sp>
      <p:sp>
        <p:nvSpPr>
          <p:cNvPr id="8" name="TextBox 7">
            <a:extLst>
              <a:ext uri="{FF2B5EF4-FFF2-40B4-BE49-F238E27FC236}">
                <a16:creationId xmlns:a16="http://schemas.microsoft.com/office/drawing/2014/main" id="{F0992AA0-9F62-FE49-0064-F34B1D57B5C1}"/>
              </a:ext>
            </a:extLst>
          </p:cNvPr>
          <p:cNvSpPr txBox="1"/>
          <p:nvPr/>
        </p:nvSpPr>
        <p:spPr>
          <a:xfrm>
            <a:off x="4191000" y="5826222"/>
            <a:ext cx="4572000" cy="646331"/>
          </a:xfrm>
          <a:prstGeom prst="rect">
            <a:avLst/>
          </a:prstGeom>
          <a:noFill/>
        </p:spPr>
        <p:txBody>
          <a:bodyPr wrap="square">
            <a:spAutoFit/>
          </a:bodyPr>
          <a:lstStyle/>
          <a:p>
            <a:r>
              <a:rPr lang="en-IN" dirty="0" err="1">
                <a:latin typeface="Times New Roman" panose="02020603050405020304" pitchFamily="18" charset="0"/>
                <a:cs typeface="Times New Roman" panose="02020603050405020304" pitchFamily="18" charset="0"/>
              </a:rPr>
              <a:t>Korsemayer-Peppas</a:t>
            </a:r>
            <a:r>
              <a:rPr lang="en-IN" dirty="0">
                <a:latin typeface="Times New Roman" panose="02020603050405020304" pitchFamily="18" charset="0"/>
                <a:cs typeface="Times New Roman" panose="02020603050405020304" pitchFamily="18" charset="0"/>
              </a:rPr>
              <a:t> plot for optimized formulation (F4)</a:t>
            </a:r>
          </a:p>
        </p:txBody>
      </p:sp>
    </p:spTree>
    <p:extLst>
      <p:ext uri="{BB962C8B-B14F-4D97-AF65-F5344CB8AC3E}">
        <p14:creationId xmlns:p14="http://schemas.microsoft.com/office/powerpoint/2010/main" val="39057340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041FF1-AC34-7BE5-703F-C1736A7F2970}"/>
              </a:ext>
            </a:extLst>
          </p:cNvPr>
          <p:cNvSpPr>
            <a:spLocks noGrp="1"/>
          </p:cNvSpPr>
          <p:nvPr>
            <p:ph type="sldNum" sz="quarter" idx="12"/>
          </p:nvPr>
        </p:nvSpPr>
        <p:spPr/>
        <p:txBody>
          <a:bodyPr/>
          <a:lstStyle/>
          <a:p>
            <a:fld id="{6C412A46-B304-460B-BA6E-26B326EC1AA6}" type="slidenum">
              <a:rPr lang="en-US" smtClean="0"/>
              <a:pPr/>
              <a:t>27</a:t>
            </a:fld>
            <a:endParaRPr lang="en-US"/>
          </a:p>
        </p:txBody>
      </p:sp>
      <p:pic>
        <p:nvPicPr>
          <p:cNvPr id="3" name="Picture 2">
            <a:extLst>
              <a:ext uri="{FF2B5EF4-FFF2-40B4-BE49-F238E27FC236}">
                <a16:creationId xmlns:a16="http://schemas.microsoft.com/office/drawing/2014/main" id="{4F3C0FF7-6053-C171-BCB2-786B73091CB1}"/>
              </a:ext>
            </a:extLst>
          </p:cNvPr>
          <p:cNvPicPr>
            <a:picLocks noChangeAspect="1"/>
          </p:cNvPicPr>
          <p:nvPr/>
        </p:nvPicPr>
        <p:blipFill>
          <a:blip r:embed="rId2"/>
          <a:stretch>
            <a:fillRect/>
          </a:stretch>
        </p:blipFill>
        <p:spPr>
          <a:xfrm>
            <a:off x="3858006" y="1828800"/>
            <a:ext cx="5105400" cy="3962400"/>
          </a:xfrm>
          <a:prstGeom prst="rect">
            <a:avLst/>
          </a:prstGeom>
        </p:spPr>
      </p:pic>
      <p:graphicFrame>
        <p:nvGraphicFramePr>
          <p:cNvPr id="4" name="Table 4">
            <a:extLst>
              <a:ext uri="{FF2B5EF4-FFF2-40B4-BE49-F238E27FC236}">
                <a16:creationId xmlns:a16="http://schemas.microsoft.com/office/drawing/2014/main" id="{5C7327A2-E1AD-7E99-7627-ABD61DF36DD3}"/>
              </a:ext>
            </a:extLst>
          </p:cNvPr>
          <p:cNvGraphicFramePr>
            <a:graphicFrameLocks noGrp="1"/>
          </p:cNvGraphicFramePr>
          <p:nvPr>
            <p:extLst>
              <p:ext uri="{D42A27DB-BD31-4B8C-83A1-F6EECF244321}">
                <p14:modId xmlns:p14="http://schemas.microsoft.com/office/powerpoint/2010/main" val="2076600988"/>
              </p:ext>
            </p:extLst>
          </p:nvPr>
        </p:nvGraphicFramePr>
        <p:xfrm>
          <a:off x="762000" y="1700467"/>
          <a:ext cx="2590800" cy="4754880"/>
        </p:xfrm>
        <a:graphic>
          <a:graphicData uri="http://schemas.openxmlformats.org/drawingml/2006/table">
            <a:tbl>
              <a:tblPr firstRow="1" bandRow="1">
                <a:tableStyleId>{5940675A-B579-460E-94D1-54222C63F5DA}</a:tableStyleId>
              </a:tblPr>
              <a:tblGrid>
                <a:gridCol w="990600">
                  <a:extLst>
                    <a:ext uri="{9D8B030D-6E8A-4147-A177-3AD203B41FA5}">
                      <a16:colId xmlns:a16="http://schemas.microsoft.com/office/drawing/2014/main" val="3381450845"/>
                    </a:ext>
                  </a:extLst>
                </a:gridCol>
                <a:gridCol w="1600200">
                  <a:extLst>
                    <a:ext uri="{9D8B030D-6E8A-4147-A177-3AD203B41FA5}">
                      <a16:colId xmlns:a16="http://schemas.microsoft.com/office/drawing/2014/main" val="2843802987"/>
                    </a:ext>
                  </a:extLst>
                </a:gridCol>
              </a:tblGrid>
              <a:tr h="370840">
                <a:tc>
                  <a:txBody>
                    <a:bodyPr/>
                    <a:lstStyle/>
                    <a:p>
                      <a:r>
                        <a:rPr lang="en-IN" sz="2000" b="1" dirty="0">
                          <a:latin typeface="Times New Roman" panose="02020603050405020304" pitchFamily="18" charset="0"/>
                          <a:cs typeface="Times New Roman" panose="02020603050405020304" pitchFamily="18" charset="0"/>
                        </a:rPr>
                        <a:t>Time</a:t>
                      </a:r>
                    </a:p>
                  </a:txBody>
                  <a:tcPr/>
                </a:tc>
                <a:tc>
                  <a:txBody>
                    <a:bodyPr/>
                    <a:lstStyle/>
                    <a:p>
                      <a:r>
                        <a:rPr lang="en-IN" sz="2000" b="1" dirty="0">
                          <a:latin typeface="Times New Roman" panose="02020603050405020304" pitchFamily="18" charset="0"/>
                          <a:cs typeface="Times New Roman" panose="02020603050405020304" pitchFamily="18" charset="0"/>
                        </a:rPr>
                        <a:t>Q 1/3-Qt 1/3</a:t>
                      </a:r>
                    </a:p>
                  </a:txBody>
                  <a:tcPr/>
                </a:tc>
                <a:extLst>
                  <a:ext uri="{0D108BD9-81ED-4DB2-BD59-A6C34878D82A}">
                    <a16:rowId xmlns:a16="http://schemas.microsoft.com/office/drawing/2014/main" val="3080426689"/>
                  </a:ext>
                </a:extLst>
              </a:tr>
              <a:tr h="370840">
                <a:tc>
                  <a:txBody>
                    <a:bodyPr/>
                    <a:lstStyle/>
                    <a:p>
                      <a:r>
                        <a:rPr lang="en-IN" sz="2000" dirty="0">
                          <a:latin typeface="Times New Roman" panose="02020603050405020304" pitchFamily="18" charset="0"/>
                          <a:cs typeface="Times New Roman" panose="02020603050405020304" pitchFamily="18" charset="0"/>
                        </a:rPr>
                        <a:t>0</a:t>
                      </a:r>
                    </a:p>
                  </a:txBody>
                  <a:tcPr/>
                </a:tc>
                <a:tc>
                  <a:txBody>
                    <a:bodyPr/>
                    <a:lstStyle/>
                    <a:p>
                      <a:pPr algn="ctr" fontAlgn="b"/>
                      <a:r>
                        <a:rPr lang="en-IN" sz="2000" b="0" u="none" strike="noStrike" dirty="0">
                          <a:effectLst/>
                          <a:latin typeface="Times New Roman" panose="02020603050405020304" pitchFamily="18" charset="0"/>
                          <a:cs typeface="Times New Roman" panose="02020603050405020304" pitchFamily="18" charset="0"/>
                        </a:rPr>
                        <a:t>0.000</a:t>
                      </a:r>
                      <a:endParaRPr lang="en-IN" sz="2000" b="0" i="0" u="none" strike="noStrike" dirty="0">
                        <a:effectLst/>
                        <a:latin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1932926778"/>
                  </a:ext>
                </a:extLst>
              </a:tr>
              <a:tr h="370840">
                <a:tc>
                  <a:txBody>
                    <a:bodyPr/>
                    <a:lstStyle/>
                    <a:p>
                      <a:r>
                        <a:rPr lang="en-IN" sz="2000" dirty="0">
                          <a:latin typeface="Times New Roman" panose="02020603050405020304" pitchFamily="18" charset="0"/>
                          <a:cs typeface="Times New Roman" panose="02020603050405020304" pitchFamily="18" charset="0"/>
                        </a:rPr>
                        <a:t>1</a:t>
                      </a:r>
                    </a:p>
                  </a:txBody>
                  <a:tcPr/>
                </a:tc>
                <a:tc>
                  <a:txBody>
                    <a:bodyPr/>
                    <a:lstStyle/>
                    <a:p>
                      <a:pPr algn="ctr" fontAlgn="b"/>
                      <a:r>
                        <a:rPr lang="en-IN" sz="2000" b="0" u="none" strike="noStrike" dirty="0">
                          <a:effectLst/>
                          <a:latin typeface="Times New Roman" panose="02020603050405020304" pitchFamily="18" charset="0"/>
                          <a:cs typeface="Times New Roman" panose="02020603050405020304" pitchFamily="18" charset="0"/>
                        </a:rPr>
                        <a:t>0.262</a:t>
                      </a:r>
                      <a:endParaRPr lang="en-IN" sz="2000" b="0" i="0" u="none" strike="noStrike" dirty="0">
                        <a:effectLst/>
                        <a:latin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1053651945"/>
                  </a:ext>
                </a:extLst>
              </a:tr>
              <a:tr h="370840">
                <a:tc>
                  <a:txBody>
                    <a:bodyPr/>
                    <a:lstStyle/>
                    <a:p>
                      <a:r>
                        <a:rPr lang="en-IN" sz="2000" dirty="0">
                          <a:latin typeface="Times New Roman" panose="02020603050405020304" pitchFamily="18" charset="0"/>
                          <a:cs typeface="Times New Roman" panose="02020603050405020304" pitchFamily="18" charset="0"/>
                        </a:rPr>
                        <a:t>2</a:t>
                      </a:r>
                    </a:p>
                  </a:txBody>
                  <a:tcPr/>
                </a:tc>
                <a:tc>
                  <a:txBody>
                    <a:bodyPr/>
                    <a:lstStyle/>
                    <a:p>
                      <a:pPr algn="ctr" fontAlgn="b"/>
                      <a:r>
                        <a:rPr lang="en-IN" sz="2000" b="0" u="none" strike="noStrike" dirty="0">
                          <a:effectLst/>
                          <a:latin typeface="Times New Roman" panose="02020603050405020304" pitchFamily="18" charset="0"/>
                          <a:cs typeface="Times New Roman" panose="02020603050405020304" pitchFamily="18" charset="0"/>
                        </a:rPr>
                        <a:t>0.501</a:t>
                      </a:r>
                      <a:endParaRPr lang="en-IN" sz="2000" b="0" i="0" u="none" strike="noStrike" dirty="0">
                        <a:effectLst/>
                        <a:latin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3257028210"/>
                  </a:ext>
                </a:extLst>
              </a:tr>
              <a:tr h="370840">
                <a:tc>
                  <a:txBody>
                    <a:bodyPr/>
                    <a:lstStyle/>
                    <a:p>
                      <a:r>
                        <a:rPr lang="en-IN" sz="2000" dirty="0">
                          <a:latin typeface="Times New Roman" panose="02020603050405020304" pitchFamily="18" charset="0"/>
                          <a:cs typeface="Times New Roman" panose="02020603050405020304" pitchFamily="18" charset="0"/>
                        </a:rPr>
                        <a:t>3</a:t>
                      </a:r>
                    </a:p>
                  </a:txBody>
                  <a:tcPr/>
                </a:tc>
                <a:tc>
                  <a:txBody>
                    <a:bodyPr/>
                    <a:lstStyle/>
                    <a:p>
                      <a:pPr algn="ctr" fontAlgn="b"/>
                      <a:r>
                        <a:rPr lang="en-IN" sz="2000" b="0" u="none" strike="noStrike" dirty="0">
                          <a:effectLst/>
                          <a:latin typeface="Times New Roman" panose="02020603050405020304" pitchFamily="18" charset="0"/>
                          <a:cs typeface="Times New Roman" panose="02020603050405020304" pitchFamily="18" charset="0"/>
                        </a:rPr>
                        <a:t>0.663</a:t>
                      </a:r>
                      <a:endParaRPr lang="en-IN" sz="2000" b="0" i="0" u="none" strike="noStrike" dirty="0">
                        <a:effectLst/>
                        <a:latin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2300502453"/>
                  </a:ext>
                </a:extLst>
              </a:tr>
              <a:tr h="370840">
                <a:tc>
                  <a:txBody>
                    <a:bodyPr/>
                    <a:lstStyle/>
                    <a:p>
                      <a:r>
                        <a:rPr lang="en-IN" sz="2000" dirty="0">
                          <a:latin typeface="Times New Roman" panose="02020603050405020304" pitchFamily="18" charset="0"/>
                          <a:cs typeface="Times New Roman" panose="02020603050405020304" pitchFamily="18" charset="0"/>
                        </a:rPr>
                        <a:t>4</a:t>
                      </a:r>
                    </a:p>
                  </a:txBody>
                  <a:tcPr/>
                </a:tc>
                <a:tc>
                  <a:txBody>
                    <a:bodyPr/>
                    <a:lstStyle/>
                    <a:p>
                      <a:pPr algn="ctr" fontAlgn="b"/>
                      <a:r>
                        <a:rPr lang="en-IN" sz="2000" b="0" u="none" strike="noStrike" dirty="0">
                          <a:effectLst/>
                          <a:latin typeface="Times New Roman" panose="02020603050405020304" pitchFamily="18" charset="0"/>
                          <a:cs typeface="Times New Roman" panose="02020603050405020304" pitchFamily="18" charset="0"/>
                        </a:rPr>
                        <a:t>1.007</a:t>
                      </a:r>
                      <a:endParaRPr lang="en-IN" sz="2000" b="0" i="0" u="none" strike="noStrike" dirty="0">
                        <a:effectLst/>
                        <a:latin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1753565962"/>
                  </a:ext>
                </a:extLst>
              </a:tr>
              <a:tr h="370840">
                <a:tc>
                  <a:txBody>
                    <a:bodyPr/>
                    <a:lstStyle/>
                    <a:p>
                      <a:r>
                        <a:rPr lang="en-IN" sz="2000" dirty="0">
                          <a:latin typeface="Times New Roman" panose="02020603050405020304" pitchFamily="18" charset="0"/>
                          <a:cs typeface="Times New Roman" panose="02020603050405020304" pitchFamily="18" charset="0"/>
                        </a:rPr>
                        <a:t>5</a:t>
                      </a:r>
                    </a:p>
                  </a:txBody>
                  <a:tcPr/>
                </a:tc>
                <a:tc>
                  <a:txBody>
                    <a:bodyPr/>
                    <a:lstStyle/>
                    <a:p>
                      <a:pPr algn="ctr" fontAlgn="b"/>
                      <a:r>
                        <a:rPr lang="en-IN" sz="2000" b="0" u="none" strike="noStrike" dirty="0">
                          <a:effectLst/>
                          <a:latin typeface="Times New Roman" panose="02020603050405020304" pitchFamily="18" charset="0"/>
                          <a:cs typeface="Times New Roman" panose="02020603050405020304" pitchFamily="18" charset="0"/>
                        </a:rPr>
                        <a:t>1.166</a:t>
                      </a:r>
                      <a:endParaRPr lang="en-IN" sz="2000" b="0" i="0" u="none" strike="noStrike" dirty="0">
                        <a:effectLst/>
                        <a:latin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3121462729"/>
                  </a:ext>
                </a:extLst>
              </a:tr>
              <a:tr h="370840">
                <a:tc>
                  <a:txBody>
                    <a:bodyPr/>
                    <a:lstStyle/>
                    <a:p>
                      <a:r>
                        <a:rPr lang="en-IN" sz="2000" dirty="0">
                          <a:latin typeface="Times New Roman" panose="02020603050405020304" pitchFamily="18" charset="0"/>
                          <a:cs typeface="Times New Roman" panose="02020603050405020304" pitchFamily="18" charset="0"/>
                        </a:rPr>
                        <a:t>6</a:t>
                      </a:r>
                    </a:p>
                  </a:txBody>
                  <a:tcPr/>
                </a:tc>
                <a:tc>
                  <a:txBody>
                    <a:bodyPr/>
                    <a:lstStyle/>
                    <a:p>
                      <a:pPr algn="ctr" fontAlgn="b"/>
                      <a:r>
                        <a:rPr lang="en-IN" sz="2000" b="0" u="none" strike="noStrike" dirty="0">
                          <a:effectLst/>
                          <a:latin typeface="Times New Roman" panose="02020603050405020304" pitchFamily="18" charset="0"/>
                          <a:cs typeface="Times New Roman" panose="02020603050405020304" pitchFamily="18" charset="0"/>
                        </a:rPr>
                        <a:t>1.280</a:t>
                      </a:r>
                      <a:endParaRPr lang="en-IN" sz="2000" b="0" i="0" u="none" strike="noStrike" dirty="0">
                        <a:effectLst/>
                        <a:latin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2401862656"/>
                  </a:ext>
                </a:extLst>
              </a:tr>
              <a:tr h="370840">
                <a:tc>
                  <a:txBody>
                    <a:bodyPr/>
                    <a:lstStyle/>
                    <a:p>
                      <a:r>
                        <a:rPr lang="en-IN" sz="2000" dirty="0">
                          <a:latin typeface="Times New Roman" panose="02020603050405020304" pitchFamily="18" charset="0"/>
                          <a:cs typeface="Times New Roman" panose="02020603050405020304" pitchFamily="18" charset="0"/>
                        </a:rPr>
                        <a:t>7</a:t>
                      </a:r>
                    </a:p>
                  </a:txBody>
                  <a:tcPr/>
                </a:tc>
                <a:tc>
                  <a:txBody>
                    <a:bodyPr/>
                    <a:lstStyle/>
                    <a:p>
                      <a:pPr algn="ctr" fontAlgn="b"/>
                      <a:r>
                        <a:rPr lang="en-IN" sz="2000" b="0" u="none" strike="noStrike" dirty="0">
                          <a:effectLst/>
                          <a:latin typeface="Times New Roman" panose="02020603050405020304" pitchFamily="18" charset="0"/>
                          <a:cs typeface="Times New Roman" panose="02020603050405020304" pitchFamily="18" charset="0"/>
                        </a:rPr>
                        <a:t>1.883</a:t>
                      </a:r>
                      <a:endParaRPr lang="en-IN" sz="2000" b="0" i="0" u="none" strike="noStrike" dirty="0">
                        <a:effectLst/>
                        <a:latin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1632016914"/>
                  </a:ext>
                </a:extLst>
              </a:tr>
              <a:tr h="370840">
                <a:tc>
                  <a:txBody>
                    <a:bodyPr/>
                    <a:lstStyle/>
                    <a:p>
                      <a:r>
                        <a:rPr lang="en-IN" sz="2000" dirty="0">
                          <a:latin typeface="Times New Roman" panose="02020603050405020304" pitchFamily="18" charset="0"/>
                          <a:cs typeface="Times New Roman" panose="02020603050405020304" pitchFamily="18" charset="0"/>
                        </a:rPr>
                        <a:t>8</a:t>
                      </a:r>
                    </a:p>
                  </a:txBody>
                  <a:tcPr/>
                </a:tc>
                <a:tc>
                  <a:txBody>
                    <a:bodyPr/>
                    <a:lstStyle/>
                    <a:p>
                      <a:pPr algn="ctr" fontAlgn="b"/>
                      <a:r>
                        <a:rPr lang="en-IN" sz="2000" b="0" u="none" strike="noStrike" dirty="0">
                          <a:effectLst/>
                          <a:latin typeface="Times New Roman" panose="02020603050405020304" pitchFamily="18" charset="0"/>
                          <a:cs typeface="Times New Roman" panose="02020603050405020304" pitchFamily="18" charset="0"/>
                        </a:rPr>
                        <a:t>2.290</a:t>
                      </a:r>
                      <a:endParaRPr lang="en-IN" sz="2000" b="0" i="0" u="none" strike="noStrike" dirty="0">
                        <a:effectLst/>
                        <a:latin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4039892715"/>
                  </a:ext>
                </a:extLst>
              </a:tr>
              <a:tr h="370840">
                <a:tc>
                  <a:txBody>
                    <a:bodyPr/>
                    <a:lstStyle/>
                    <a:p>
                      <a:r>
                        <a:rPr lang="en-IN" sz="2000" dirty="0">
                          <a:latin typeface="Times New Roman" panose="02020603050405020304" pitchFamily="18" charset="0"/>
                          <a:cs typeface="Times New Roman" panose="02020603050405020304" pitchFamily="18" charset="0"/>
                        </a:rPr>
                        <a:t>10</a:t>
                      </a:r>
                    </a:p>
                  </a:txBody>
                  <a:tcPr/>
                </a:tc>
                <a:tc>
                  <a:txBody>
                    <a:bodyPr/>
                    <a:lstStyle/>
                    <a:p>
                      <a:pPr algn="ctr" fontAlgn="b"/>
                      <a:r>
                        <a:rPr lang="en-IN" sz="2000" b="0" u="none" strike="noStrike">
                          <a:effectLst/>
                          <a:latin typeface="Times New Roman" panose="02020603050405020304" pitchFamily="18" charset="0"/>
                          <a:cs typeface="Times New Roman" panose="02020603050405020304" pitchFamily="18" charset="0"/>
                        </a:rPr>
                        <a:t>2.642</a:t>
                      </a:r>
                      <a:endParaRPr lang="en-IN" sz="2000" b="0" i="0" u="none" strike="noStrike">
                        <a:effectLst/>
                        <a:latin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1344784874"/>
                  </a:ext>
                </a:extLst>
              </a:tr>
              <a:tr h="370840">
                <a:tc>
                  <a:txBody>
                    <a:bodyPr/>
                    <a:lstStyle/>
                    <a:p>
                      <a:r>
                        <a:rPr lang="en-IN" sz="2000" dirty="0">
                          <a:latin typeface="Times New Roman" panose="02020603050405020304" pitchFamily="18" charset="0"/>
                          <a:cs typeface="Times New Roman" panose="02020603050405020304" pitchFamily="18" charset="0"/>
                        </a:rPr>
                        <a:t>12</a:t>
                      </a:r>
                    </a:p>
                  </a:txBody>
                  <a:tcPr/>
                </a:tc>
                <a:tc>
                  <a:txBody>
                    <a:bodyPr/>
                    <a:lstStyle/>
                    <a:p>
                      <a:pPr algn="ctr" fontAlgn="b"/>
                      <a:r>
                        <a:rPr lang="en-IN" sz="2000" b="0" u="none" strike="noStrike" dirty="0">
                          <a:effectLst/>
                          <a:latin typeface="Times New Roman" panose="02020603050405020304" pitchFamily="18" charset="0"/>
                          <a:cs typeface="Times New Roman" panose="02020603050405020304" pitchFamily="18" charset="0"/>
                        </a:rPr>
                        <a:t>3.382</a:t>
                      </a:r>
                      <a:endParaRPr lang="en-IN" sz="2000" b="0" i="0" u="none" strike="noStrike" dirty="0">
                        <a:effectLst/>
                        <a:latin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2432263599"/>
                  </a:ext>
                </a:extLst>
              </a:tr>
            </a:tbl>
          </a:graphicData>
        </a:graphic>
      </p:graphicFrame>
      <p:sp>
        <p:nvSpPr>
          <p:cNvPr id="5" name="TextBox 4">
            <a:extLst>
              <a:ext uri="{FF2B5EF4-FFF2-40B4-BE49-F238E27FC236}">
                <a16:creationId xmlns:a16="http://schemas.microsoft.com/office/drawing/2014/main" id="{39D650D9-ED44-7DDC-7ABA-801461F17D52}"/>
              </a:ext>
            </a:extLst>
          </p:cNvPr>
          <p:cNvSpPr txBox="1"/>
          <p:nvPr/>
        </p:nvSpPr>
        <p:spPr>
          <a:xfrm>
            <a:off x="2895600" y="533400"/>
            <a:ext cx="3124200"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HIXON CROWELL</a:t>
            </a:r>
          </a:p>
        </p:txBody>
      </p:sp>
      <p:sp>
        <p:nvSpPr>
          <p:cNvPr id="7" name="TextBox 6">
            <a:extLst>
              <a:ext uri="{FF2B5EF4-FFF2-40B4-BE49-F238E27FC236}">
                <a16:creationId xmlns:a16="http://schemas.microsoft.com/office/drawing/2014/main" id="{C8748A76-05A3-4DF4-0F96-FF5A78FA74EB}"/>
              </a:ext>
            </a:extLst>
          </p:cNvPr>
          <p:cNvSpPr txBox="1"/>
          <p:nvPr/>
        </p:nvSpPr>
        <p:spPr>
          <a:xfrm>
            <a:off x="4089273" y="5747461"/>
            <a:ext cx="3657600" cy="707886"/>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Hixon Crowell plot for optimized Formulation (F4)</a:t>
            </a:r>
          </a:p>
        </p:txBody>
      </p:sp>
    </p:spTree>
    <p:extLst>
      <p:ext uri="{BB962C8B-B14F-4D97-AF65-F5344CB8AC3E}">
        <p14:creationId xmlns:p14="http://schemas.microsoft.com/office/powerpoint/2010/main" val="21091808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AA038C-818E-6573-0A08-39BD5E8554E2}"/>
              </a:ext>
            </a:extLst>
          </p:cNvPr>
          <p:cNvSpPr>
            <a:spLocks noGrp="1"/>
          </p:cNvSpPr>
          <p:nvPr>
            <p:ph type="sldNum" sz="quarter" idx="12"/>
          </p:nvPr>
        </p:nvSpPr>
        <p:spPr/>
        <p:txBody>
          <a:bodyPr/>
          <a:lstStyle/>
          <a:p>
            <a:fld id="{6C412A46-B304-460B-BA6E-26B326EC1AA6}" type="slidenum">
              <a:rPr lang="en-US" smtClean="0"/>
              <a:pPr/>
              <a:t>28</a:t>
            </a:fld>
            <a:endParaRPr lang="en-US"/>
          </a:p>
        </p:txBody>
      </p:sp>
      <p:sp>
        <p:nvSpPr>
          <p:cNvPr id="3" name="TextBox 2">
            <a:extLst>
              <a:ext uri="{FF2B5EF4-FFF2-40B4-BE49-F238E27FC236}">
                <a16:creationId xmlns:a16="http://schemas.microsoft.com/office/drawing/2014/main" id="{84EBDAB0-97FB-00F7-C91C-6D67A9F39DD7}"/>
              </a:ext>
            </a:extLst>
          </p:cNvPr>
          <p:cNvSpPr txBox="1"/>
          <p:nvPr/>
        </p:nvSpPr>
        <p:spPr>
          <a:xfrm>
            <a:off x="309781" y="762000"/>
            <a:ext cx="8146526" cy="369332"/>
          </a:xfrm>
          <a:prstGeom prst="rect">
            <a:avLst/>
          </a:prstGeom>
          <a:noFill/>
        </p:spPr>
        <p:txBody>
          <a:bodyPr wrap="none" rtlCol="0">
            <a:spAutoFit/>
          </a:bodyPr>
          <a:lstStyle/>
          <a:p>
            <a:pPr lvl="0" algn="ctr" fontAlgn="base">
              <a:spcBef>
                <a:spcPct val="0"/>
              </a:spcBef>
              <a:spcAft>
                <a:spcPct val="0"/>
              </a:spcAft>
              <a:tabLst>
                <a:tab pos="5886450" algn="l"/>
              </a:tabLst>
            </a:pPr>
            <a:r>
              <a:rPr kumimoji="0" lang="en-US"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Table :RELEASE KINETICS OF OPTIMISED FORMULATION OF R</a:t>
            </a:r>
            <a:r>
              <a:rPr kumimoji="0" lang="en-US" b="1" i="0"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2</a:t>
            </a:r>
            <a:r>
              <a:rPr kumimoji="0" lang="en-US"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VALUE</a:t>
            </a:r>
            <a:endParaRPr kumimoji="0" lang="en-US" sz="2800" b="0" i="0" u="none" strike="noStrike" cap="none" normalizeH="0" baseline="0" dirty="0">
              <a:ln>
                <a:noFill/>
              </a:ln>
              <a:solidFill>
                <a:schemeClr val="tx1"/>
              </a:solidFill>
              <a:effectLst/>
              <a:latin typeface="Times New Roman" pitchFamily="18" charset="0"/>
              <a:cs typeface="Times New Roman" pitchFamily="18" charset="0"/>
            </a:endParaRPr>
          </a:p>
        </p:txBody>
      </p:sp>
      <p:graphicFrame>
        <p:nvGraphicFramePr>
          <p:cNvPr id="4" name="Table 3">
            <a:extLst>
              <a:ext uri="{FF2B5EF4-FFF2-40B4-BE49-F238E27FC236}">
                <a16:creationId xmlns:a16="http://schemas.microsoft.com/office/drawing/2014/main" id="{AC1E076B-BCFA-7FF1-16D8-4AF74530D32E}"/>
              </a:ext>
            </a:extLst>
          </p:cNvPr>
          <p:cNvGraphicFramePr>
            <a:graphicFrameLocks noGrp="1"/>
          </p:cNvGraphicFramePr>
          <p:nvPr>
            <p:extLst>
              <p:ext uri="{D42A27DB-BD31-4B8C-83A1-F6EECF244321}">
                <p14:modId xmlns:p14="http://schemas.microsoft.com/office/powerpoint/2010/main" val="2741979336"/>
              </p:ext>
            </p:extLst>
          </p:nvPr>
        </p:nvGraphicFramePr>
        <p:xfrm>
          <a:off x="2100662" y="1600200"/>
          <a:ext cx="6833990" cy="2454901"/>
        </p:xfrm>
        <a:graphic>
          <a:graphicData uri="http://schemas.openxmlformats.org/drawingml/2006/table">
            <a:tbl>
              <a:tblPr>
                <a:tableStyleId>{5940675A-B579-460E-94D1-54222C63F5DA}</a:tableStyleId>
              </a:tblPr>
              <a:tblGrid>
                <a:gridCol w="1150056">
                  <a:extLst>
                    <a:ext uri="{9D8B030D-6E8A-4147-A177-3AD203B41FA5}">
                      <a16:colId xmlns:a16="http://schemas.microsoft.com/office/drawing/2014/main" val="2731437275"/>
                    </a:ext>
                  </a:extLst>
                </a:gridCol>
                <a:gridCol w="1393338">
                  <a:extLst>
                    <a:ext uri="{9D8B030D-6E8A-4147-A177-3AD203B41FA5}">
                      <a16:colId xmlns:a16="http://schemas.microsoft.com/office/drawing/2014/main" val="3110062522"/>
                    </a:ext>
                  </a:extLst>
                </a:gridCol>
                <a:gridCol w="2145298">
                  <a:extLst>
                    <a:ext uri="{9D8B030D-6E8A-4147-A177-3AD203B41FA5}">
                      <a16:colId xmlns:a16="http://schemas.microsoft.com/office/drawing/2014/main" val="4042014565"/>
                    </a:ext>
                  </a:extLst>
                </a:gridCol>
                <a:gridCol w="2145298">
                  <a:extLst>
                    <a:ext uri="{9D8B030D-6E8A-4147-A177-3AD203B41FA5}">
                      <a16:colId xmlns:a16="http://schemas.microsoft.com/office/drawing/2014/main" val="260951420"/>
                    </a:ext>
                  </a:extLst>
                </a:gridCol>
              </a:tblGrid>
              <a:tr h="308616">
                <a:tc>
                  <a:txBody>
                    <a:bodyPr/>
                    <a:lstStyle/>
                    <a:p>
                      <a:pPr algn="ctr" fontAlgn="b"/>
                      <a:r>
                        <a:rPr lang="en-IN" sz="2000" b="1" u="none" strike="noStrike" dirty="0">
                          <a:effectLst/>
                          <a:latin typeface="Times New Roman" panose="02020603050405020304" pitchFamily="18" charset="0"/>
                          <a:cs typeface="Times New Roman" panose="02020603050405020304" pitchFamily="18" charset="0"/>
                        </a:rPr>
                        <a:t>ZERO</a:t>
                      </a:r>
                      <a:endParaRPr lang="en-IN" sz="2000" b="1" i="0" u="none" strike="noStrike" dirty="0">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fontAlgn="b"/>
                      <a:r>
                        <a:rPr lang="en-IN" sz="2000" b="1" u="none" strike="noStrike" dirty="0">
                          <a:effectLst/>
                          <a:latin typeface="Times New Roman" panose="02020603050405020304" pitchFamily="18" charset="0"/>
                          <a:cs typeface="Times New Roman" panose="02020603050405020304" pitchFamily="18" charset="0"/>
                        </a:rPr>
                        <a:t>HIGUCHI</a:t>
                      </a:r>
                      <a:endParaRPr lang="en-IN" sz="2000" b="1" i="0" u="none" strike="noStrike" dirty="0">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fontAlgn="b"/>
                      <a:r>
                        <a:rPr lang="en-IN" sz="2000" b="1" u="none" strike="noStrike" dirty="0">
                          <a:effectLst/>
                          <a:latin typeface="Times New Roman" panose="02020603050405020304" pitchFamily="18" charset="0"/>
                          <a:cs typeface="Times New Roman" panose="02020603050405020304" pitchFamily="18" charset="0"/>
                        </a:rPr>
                        <a:t>PEPPAS</a:t>
                      </a:r>
                      <a:endParaRPr lang="en-IN" sz="2000" b="1" i="0" u="none" strike="noStrike" dirty="0">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fontAlgn="b"/>
                      <a:r>
                        <a:rPr lang="en-IN" sz="2000" b="1" u="none" strike="noStrike" dirty="0">
                          <a:effectLst/>
                          <a:latin typeface="Times New Roman" panose="02020603050405020304" pitchFamily="18" charset="0"/>
                          <a:cs typeface="Times New Roman" panose="02020603050405020304" pitchFamily="18" charset="0"/>
                        </a:rPr>
                        <a:t>Hixson Crowell</a:t>
                      </a:r>
                      <a:endParaRPr lang="en-IN" sz="2000" b="1" i="0" u="none" strike="noStrike" dirty="0">
                        <a:effectLst/>
                        <a:latin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1188137967"/>
                  </a:ext>
                </a:extLst>
              </a:tr>
              <a:tr h="575149">
                <a:tc>
                  <a:txBody>
                    <a:bodyPr/>
                    <a:lstStyle/>
                    <a:p>
                      <a:pPr algn="ctr" fontAlgn="b"/>
                      <a:r>
                        <a:rPr lang="en-IN" sz="1800" u="none" strike="noStrike" dirty="0">
                          <a:effectLst/>
                          <a:latin typeface="Times New Roman" panose="02020603050405020304" pitchFamily="18" charset="0"/>
                          <a:cs typeface="Times New Roman" panose="02020603050405020304" pitchFamily="18" charset="0"/>
                        </a:rPr>
                        <a:t>R(</a:t>
                      </a:r>
                      <a:r>
                        <a:rPr lang="en-IN" sz="1800" u="none" strike="noStrike" dirty="0" err="1">
                          <a:effectLst/>
                          <a:latin typeface="Times New Roman" panose="02020603050405020304" pitchFamily="18" charset="0"/>
                          <a:cs typeface="Times New Roman" panose="02020603050405020304" pitchFamily="18" charset="0"/>
                        </a:rPr>
                        <a:t>CvT</a:t>
                      </a:r>
                      <a:r>
                        <a:rPr lang="en-IN" sz="1800" u="none" strike="noStrike" dirty="0">
                          <a:effectLst/>
                          <a:latin typeface="Times New Roman" panose="02020603050405020304" pitchFamily="18" charset="0"/>
                          <a:cs typeface="Times New Roman" panose="02020603050405020304" pitchFamily="18" charset="0"/>
                        </a:rPr>
                        <a:t>)</a:t>
                      </a:r>
                      <a:endParaRPr lang="en-IN" sz="1800" b="1" i="0" u="none" strike="noStrike" dirty="0">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fontAlgn="b"/>
                      <a:r>
                        <a:rPr lang="en-IN" sz="1800" u="none" strike="noStrike" dirty="0">
                          <a:effectLst/>
                          <a:latin typeface="Times New Roman" panose="02020603050405020304" pitchFamily="18" charset="0"/>
                          <a:cs typeface="Times New Roman" panose="02020603050405020304" pitchFamily="18" charset="0"/>
                        </a:rPr>
                        <a:t>R(</a:t>
                      </a:r>
                      <a:r>
                        <a:rPr lang="en-IN" sz="1800" u="none" strike="noStrike" dirty="0" err="1">
                          <a:effectLst/>
                          <a:latin typeface="Times New Roman" panose="02020603050405020304" pitchFamily="18" charset="0"/>
                          <a:cs typeface="Times New Roman" panose="02020603050405020304" pitchFamily="18" charset="0"/>
                        </a:rPr>
                        <a:t>CvRoot</a:t>
                      </a:r>
                      <a:r>
                        <a:rPr lang="en-IN" sz="1800" u="none" strike="noStrike" dirty="0">
                          <a:effectLst/>
                          <a:latin typeface="Times New Roman" panose="02020603050405020304" pitchFamily="18" charset="0"/>
                          <a:cs typeface="Times New Roman" panose="02020603050405020304" pitchFamily="18" charset="0"/>
                        </a:rPr>
                        <a:t>(T)</a:t>
                      </a:r>
                      <a:endParaRPr lang="en-IN" sz="1800" b="1" i="0" u="none" strike="noStrike" dirty="0">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fontAlgn="b"/>
                      <a:r>
                        <a:rPr lang="fr-FR" sz="1800" u="none" strike="noStrike" dirty="0">
                          <a:effectLst/>
                          <a:latin typeface="Times New Roman" panose="02020603050405020304" pitchFamily="18" charset="0"/>
                          <a:cs typeface="Times New Roman" panose="02020603050405020304" pitchFamily="18" charset="0"/>
                        </a:rPr>
                        <a:t>Log T vs Log C</a:t>
                      </a:r>
                      <a:endParaRPr lang="fr-FR" sz="1800" b="1" i="0" u="none" strike="noStrike" dirty="0">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fontAlgn="b"/>
                      <a:r>
                        <a:rPr lang="en-IN" sz="1800" u="none" strike="noStrike" dirty="0">
                          <a:effectLst/>
                          <a:latin typeface="Times New Roman" panose="02020603050405020304" pitchFamily="18" charset="0"/>
                          <a:cs typeface="Times New Roman" panose="02020603050405020304" pitchFamily="18" charset="0"/>
                        </a:rPr>
                        <a:t>TIME Vs (Q1/3-Qt1/3)</a:t>
                      </a:r>
                      <a:endParaRPr lang="en-IN" sz="1800" b="1" i="0" u="none" strike="noStrike" dirty="0">
                        <a:effectLst/>
                        <a:latin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2280539551"/>
                  </a:ext>
                </a:extLst>
              </a:tr>
              <a:tr h="308616">
                <a:tc>
                  <a:txBody>
                    <a:bodyPr/>
                    <a:lstStyle/>
                    <a:p>
                      <a:pPr algn="ctr" fontAlgn="b"/>
                      <a:r>
                        <a:rPr lang="en-IN" sz="1800" u="none" strike="noStrike" dirty="0">
                          <a:effectLst/>
                          <a:latin typeface="Times New Roman" panose="02020603050405020304" pitchFamily="18" charset="0"/>
                          <a:cs typeface="Times New Roman" panose="02020603050405020304" pitchFamily="18" charset="0"/>
                        </a:rPr>
                        <a:t>8.311</a:t>
                      </a:r>
                      <a:endParaRPr lang="en-IN" sz="1800" b="0" i="0" u="none" strike="noStrike" dirty="0">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fontAlgn="b"/>
                      <a:r>
                        <a:rPr lang="en-IN" sz="1800" u="none" strike="noStrike">
                          <a:effectLst/>
                          <a:latin typeface="Times New Roman" panose="02020603050405020304" pitchFamily="18" charset="0"/>
                          <a:cs typeface="Times New Roman" panose="02020603050405020304" pitchFamily="18" charset="0"/>
                        </a:rPr>
                        <a:t>30.286</a:t>
                      </a:r>
                      <a:endParaRPr lang="en-IN" sz="1800" b="0" i="0" u="none" strike="noStrike">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fontAlgn="b"/>
                      <a:r>
                        <a:rPr lang="en-IN" sz="1800" u="none" strike="noStrike" dirty="0">
                          <a:effectLst/>
                          <a:latin typeface="Times New Roman" panose="02020603050405020304" pitchFamily="18" charset="0"/>
                          <a:cs typeface="Times New Roman" panose="02020603050405020304" pitchFamily="18" charset="0"/>
                        </a:rPr>
                        <a:t>0.910</a:t>
                      </a:r>
                      <a:endParaRPr lang="en-IN" sz="1800" b="0" i="0" u="none" strike="noStrike" dirty="0">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fontAlgn="b"/>
                      <a:r>
                        <a:rPr lang="en-IN" sz="1800" u="none" strike="noStrike">
                          <a:effectLst/>
                          <a:latin typeface="Times New Roman" panose="02020603050405020304" pitchFamily="18" charset="0"/>
                          <a:cs typeface="Times New Roman" panose="02020603050405020304" pitchFamily="18" charset="0"/>
                        </a:rPr>
                        <a:t>0.249</a:t>
                      </a:r>
                      <a:endParaRPr lang="en-IN" sz="1800" b="0" i="0" u="none" strike="noStrike">
                        <a:effectLst/>
                        <a:latin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2451106324"/>
                  </a:ext>
                </a:extLst>
              </a:tr>
              <a:tr h="308616">
                <a:tc>
                  <a:txBody>
                    <a:bodyPr/>
                    <a:lstStyle/>
                    <a:p>
                      <a:pPr algn="ctr" fontAlgn="b"/>
                      <a:r>
                        <a:rPr lang="en-IN" sz="1800" u="none" strike="noStrike" dirty="0">
                          <a:effectLst/>
                          <a:latin typeface="Times New Roman" panose="02020603050405020304" pitchFamily="18" charset="0"/>
                          <a:cs typeface="Times New Roman" panose="02020603050405020304" pitchFamily="18" charset="0"/>
                        </a:rPr>
                        <a:t> </a:t>
                      </a:r>
                      <a:endParaRPr lang="en-IN" sz="1800" b="0" i="0" u="none" strike="noStrike" dirty="0">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fontAlgn="b"/>
                      <a:r>
                        <a:rPr lang="en-IN" sz="1800" u="none" strike="noStrike">
                          <a:effectLst/>
                          <a:latin typeface="Times New Roman" panose="02020603050405020304" pitchFamily="18" charset="0"/>
                          <a:cs typeface="Times New Roman" panose="02020603050405020304" pitchFamily="18" charset="0"/>
                        </a:rPr>
                        <a:t> </a:t>
                      </a:r>
                      <a:endParaRPr lang="en-IN" sz="1800" b="0" i="0" u="none" strike="noStrike">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fontAlgn="b"/>
                      <a:r>
                        <a:rPr lang="en-IN" sz="1800" u="none" strike="noStrike" dirty="0">
                          <a:effectLst/>
                          <a:latin typeface="Times New Roman" panose="02020603050405020304" pitchFamily="18" charset="0"/>
                          <a:cs typeface="Times New Roman" panose="02020603050405020304" pitchFamily="18" charset="0"/>
                        </a:rPr>
                        <a:t> </a:t>
                      </a:r>
                      <a:endParaRPr lang="en-IN" sz="1800" b="0" i="0" u="none" strike="noStrike" dirty="0">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fontAlgn="b"/>
                      <a:r>
                        <a:rPr lang="en-IN" sz="1800" u="none" strike="noStrike">
                          <a:effectLst/>
                          <a:latin typeface="Times New Roman" panose="02020603050405020304" pitchFamily="18" charset="0"/>
                          <a:cs typeface="Times New Roman" panose="02020603050405020304" pitchFamily="18" charset="0"/>
                        </a:rPr>
                        <a:t> </a:t>
                      </a:r>
                      <a:endParaRPr lang="en-IN" sz="1800" b="0" i="0" u="none" strike="noStrike">
                        <a:effectLst/>
                        <a:latin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4140609491"/>
                  </a:ext>
                </a:extLst>
              </a:tr>
              <a:tr h="308616">
                <a:tc>
                  <a:txBody>
                    <a:bodyPr/>
                    <a:lstStyle/>
                    <a:p>
                      <a:pPr algn="ctr" fontAlgn="b"/>
                      <a:r>
                        <a:rPr lang="en-IN" sz="1800" u="none" strike="noStrike" dirty="0">
                          <a:effectLst/>
                          <a:latin typeface="Times New Roman" panose="02020603050405020304" pitchFamily="18" charset="0"/>
                          <a:cs typeface="Times New Roman" panose="02020603050405020304" pitchFamily="18" charset="0"/>
                        </a:rPr>
                        <a:t>0.9925</a:t>
                      </a:r>
                      <a:endParaRPr lang="en-IN" sz="1800" b="0" i="0" u="none" strike="noStrike" dirty="0">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fontAlgn="b"/>
                      <a:r>
                        <a:rPr lang="en-IN" sz="1800" u="none" strike="noStrike">
                          <a:effectLst/>
                          <a:latin typeface="Times New Roman" panose="02020603050405020304" pitchFamily="18" charset="0"/>
                          <a:cs typeface="Times New Roman" panose="02020603050405020304" pitchFamily="18" charset="0"/>
                        </a:rPr>
                        <a:t>0.9683</a:t>
                      </a:r>
                      <a:endParaRPr lang="en-IN" sz="1800" b="0" i="0" u="none" strike="noStrike">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fontAlgn="b"/>
                      <a:r>
                        <a:rPr lang="en-IN" sz="1800" u="none" strike="noStrike">
                          <a:effectLst/>
                          <a:latin typeface="Times New Roman" panose="02020603050405020304" pitchFamily="18" charset="0"/>
                          <a:cs typeface="Times New Roman" panose="02020603050405020304" pitchFamily="18" charset="0"/>
                        </a:rPr>
                        <a:t>0.9967</a:t>
                      </a:r>
                      <a:endParaRPr lang="en-IN" sz="1800" b="0" i="0" u="none" strike="noStrike">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fontAlgn="b"/>
                      <a:r>
                        <a:rPr lang="en-IN" sz="1800" u="none" strike="noStrike" dirty="0">
                          <a:effectLst/>
                          <a:latin typeface="Times New Roman" panose="02020603050405020304" pitchFamily="18" charset="0"/>
                          <a:cs typeface="Times New Roman" panose="02020603050405020304" pitchFamily="18" charset="0"/>
                        </a:rPr>
                        <a:t>0.9858</a:t>
                      </a:r>
                      <a:endParaRPr lang="en-IN" sz="1800" b="0" i="0" u="none" strike="noStrike" dirty="0">
                        <a:effectLst/>
                        <a:latin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1767919617"/>
                  </a:ext>
                </a:extLst>
              </a:tr>
              <a:tr h="322644">
                <a:tc>
                  <a:txBody>
                    <a:bodyPr/>
                    <a:lstStyle/>
                    <a:p>
                      <a:pPr algn="ctr" fontAlgn="b"/>
                      <a:r>
                        <a:rPr lang="en-IN" sz="1800" u="none" strike="noStrike">
                          <a:effectLst/>
                          <a:latin typeface="Times New Roman" panose="02020603050405020304" pitchFamily="18" charset="0"/>
                          <a:cs typeface="Times New Roman" panose="02020603050405020304" pitchFamily="18" charset="0"/>
                        </a:rPr>
                        <a:t> </a:t>
                      </a:r>
                      <a:endParaRPr lang="en-IN" sz="1800" b="0" i="0" u="none" strike="noStrike">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fontAlgn="b"/>
                      <a:r>
                        <a:rPr lang="en-IN" sz="1800" u="none" strike="noStrike" dirty="0">
                          <a:effectLst/>
                          <a:latin typeface="Times New Roman" panose="02020603050405020304" pitchFamily="18" charset="0"/>
                          <a:cs typeface="Times New Roman" panose="02020603050405020304" pitchFamily="18" charset="0"/>
                        </a:rPr>
                        <a:t> </a:t>
                      </a:r>
                      <a:endParaRPr lang="en-IN" sz="1800" b="0" i="0" u="none" strike="noStrike" dirty="0">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fontAlgn="b"/>
                      <a:r>
                        <a:rPr lang="en-IN" sz="1800" u="none" strike="noStrike">
                          <a:effectLst/>
                          <a:latin typeface="Times New Roman" panose="02020603050405020304" pitchFamily="18" charset="0"/>
                          <a:cs typeface="Times New Roman" panose="02020603050405020304" pitchFamily="18" charset="0"/>
                        </a:rPr>
                        <a:t> </a:t>
                      </a:r>
                      <a:endParaRPr lang="en-IN" sz="1800" b="0" i="0" u="none" strike="noStrike">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fontAlgn="b"/>
                      <a:r>
                        <a:rPr lang="en-IN" sz="1800" u="none" strike="noStrike" dirty="0">
                          <a:effectLst/>
                          <a:latin typeface="Times New Roman" panose="02020603050405020304" pitchFamily="18" charset="0"/>
                          <a:cs typeface="Times New Roman" panose="02020603050405020304" pitchFamily="18" charset="0"/>
                        </a:rPr>
                        <a:t> </a:t>
                      </a:r>
                      <a:endParaRPr lang="en-IN" sz="1800" b="0" i="0" u="none" strike="noStrike" dirty="0">
                        <a:effectLst/>
                        <a:latin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2785648213"/>
                  </a:ext>
                </a:extLst>
              </a:tr>
              <a:tr h="322644">
                <a:tc>
                  <a:txBody>
                    <a:bodyPr/>
                    <a:lstStyle/>
                    <a:p>
                      <a:pPr algn="ctr" fontAlgn="b"/>
                      <a:r>
                        <a:rPr lang="en-IN" sz="1800" u="none" strike="noStrike">
                          <a:effectLst/>
                          <a:latin typeface="Times New Roman" panose="02020603050405020304" pitchFamily="18" charset="0"/>
                          <a:cs typeface="Times New Roman" panose="02020603050405020304" pitchFamily="18" charset="0"/>
                        </a:rPr>
                        <a:t>0.9850</a:t>
                      </a:r>
                      <a:endParaRPr lang="en-IN" sz="1800" b="0" i="0" u="none" strike="noStrike">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fontAlgn="b"/>
                      <a:r>
                        <a:rPr lang="en-IN" sz="1800" u="none" strike="noStrike" dirty="0">
                          <a:effectLst/>
                          <a:latin typeface="Times New Roman" panose="02020603050405020304" pitchFamily="18" charset="0"/>
                          <a:cs typeface="Times New Roman" panose="02020603050405020304" pitchFamily="18" charset="0"/>
                        </a:rPr>
                        <a:t>0.9376</a:t>
                      </a:r>
                      <a:endParaRPr lang="en-IN" sz="1800" b="0" i="0" u="none" strike="noStrike" dirty="0">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fontAlgn="b"/>
                      <a:r>
                        <a:rPr lang="en-IN" sz="1800" u="none" strike="noStrike" dirty="0">
                          <a:effectLst/>
                          <a:latin typeface="Times New Roman" panose="02020603050405020304" pitchFamily="18" charset="0"/>
                          <a:cs typeface="Times New Roman" panose="02020603050405020304" pitchFamily="18" charset="0"/>
                        </a:rPr>
                        <a:t>0.9934</a:t>
                      </a:r>
                      <a:endParaRPr lang="en-IN" sz="1800" b="0" i="0" u="none" strike="noStrike" dirty="0">
                        <a:effectLst/>
                        <a:latin typeface="Times New Roman" panose="02020603050405020304" pitchFamily="18" charset="0"/>
                        <a:cs typeface="Times New Roman" panose="02020603050405020304" pitchFamily="18" charset="0"/>
                      </a:endParaRPr>
                    </a:p>
                  </a:txBody>
                  <a:tcPr marL="0" marR="0" marT="0" marB="0" anchor="b"/>
                </a:tc>
                <a:tc>
                  <a:txBody>
                    <a:bodyPr/>
                    <a:lstStyle/>
                    <a:p>
                      <a:pPr algn="ctr" fontAlgn="b"/>
                      <a:r>
                        <a:rPr lang="en-IN" sz="1800" u="none" strike="noStrike" dirty="0">
                          <a:effectLst/>
                          <a:latin typeface="Times New Roman" panose="02020603050405020304" pitchFamily="18" charset="0"/>
                          <a:cs typeface="Times New Roman" panose="02020603050405020304" pitchFamily="18" charset="0"/>
                        </a:rPr>
                        <a:t>0.9719</a:t>
                      </a:r>
                      <a:endParaRPr lang="en-IN" sz="1800" b="0" i="0" u="none" strike="noStrike" dirty="0">
                        <a:effectLst/>
                        <a:latin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239048895"/>
                  </a:ext>
                </a:extLst>
              </a:tr>
            </a:tbl>
          </a:graphicData>
        </a:graphic>
      </p:graphicFrame>
      <p:graphicFrame>
        <p:nvGraphicFramePr>
          <p:cNvPr id="6" name="Table 6">
            <a:extLst>
              <a:ext uri="{FF2B5EF4-FFF2-40B4-BE49-F238E27FC236}">
                <a16:creationId xmlns:a16="http://schemas.microsoft.com/office/drawing/2014/main" id="{EF011BBF-B107-324E-28E7-8031E0974028}"/>
              </a:ext>
            </a:extLst>
          </p:cNvPr>
          <p:cNvGraphicFramePr>
            <a:graphicFrameLocks noGrp="1"/>
          </p:cNvGraphicFramePr>
          <p:nvPr>
            <p:extLst>
              <p:ext uri="{D42A27DB-BD31-4B8C-83A1-F6EECF244321}">
                <p14:modId xmlns:p14="http://schemas.microsoft.com/office/powerpoint/2010/main" val="3571297296"/>
              </p:ext>
            </p:extLst>
          </p:nvPr>
        </p:nvGraphicFramePr>
        <p:xfrm>
          <a:off x="607142" y="1600200"/>
          <a:ext cx="1493520" cy="2463876"/>
        </p:xfrm>
        <a:graphic>
          <a:graphicData uri="http://schemas.openxmlformats.org/drawingml/2006/table">
            <a:tbl>
              <a:tblPr firstRow="1" bandRow="1">
                <a:tableStyleId>{5940675A-B579-460E-94D1-54222C63F5DA}</a:tableStyleId>
              </a:tblPr>
              <a:tblGrid>
                <a:gridCol w="1493520">
                  <a:extLst>
                    <a:ext uri="{9D8B030D-6E8A-4147-A177-3AD203B41FA5}">
                      <a16:colId xmlns:a16="http://schemas.microsoft.com/office/drawing/2014/main" val="146856711"/>
                    </a:ext>
                  </a:extLst>
                </a:gridCol>
              </a:tblGrid>
              <a:tr h="2463876">
                <a:tc>
                  <a:txBody>
                    <a:bodyPr/>
                    <a:lstStyle/>
                    <a:p>
                      <a:pPr algn="ctr"/>
                      <a:r>
                        <a:rPr lang="en-IN" b="1" dirty="0">
                          <a:latin typeface="Times New Roman" panose="02020603050405020304" pitchFamily="18" charset="0"/>
                          <a:cs typeface="Times New Roman" panose="02020603050405020304" pitchFamily="18" charset="0"/>
                        </a:rPr>
                        <a:t>                                                                                                                                                                                                                                                                                                                                                                         Formulation Code F4</a:t>
                      </a:r>
                    </a:p>
                  </a:txBody>
                  <a:tcPr/>
                </a:tc>
                <a:extLst>
                  <a:ext uri="{0D108BD9-81ED-4DB2-BD59-A6C34878D82A}">
                    <a16:rowId xmlns:a16="http://schemas.microsoft.com/office/drawing/2014/main" val="3353174220"/>
                  </a:ext>
                </a:extLst>
              </a:tr>
            </a:tbl>
          </a:graphicData>
        </a:graphic>
      </p:graphicFrame>
      <p:sp>
        <p:nvSpPr>
          <p:cNvPr id="8" name="TextBox 7">
            <a:extLst>
              <a:ext uri="{FF2B5EF4-FFF2-40B4-BE49-F238E27FC236}">
                <a16:creationId xmlns:a16="http://schemas.microsoft.com/office/drawing/2014/main" id="{EB57D6A2-BCCA-7FF0-28DD-52C4A0F90D7F}"/>
              </a:ext>
            </a:extLst>
          </p:cNvPr>
          <p:cNvSpPr txBox="1"/>
          <p:nvPr/>
        </p:nvSpPr>
        <p:spPr>
          <a:xfrm>
            <a:off x="685800" y="4523969"/>
            <a:ext cx="7924800" cy="923330"/>
          </a:xfrm>
          <a:prstGeom prst="rect">
            <a:avLst/>
          </a:prstGeom>
          <a:noFill/>
        </p:spPr>
        <p:txBody>
          <a:bodyPr wrap="square">
            <a:spAutoFit/>
          </a:bodyPr>
          <a:lstStyle/>
          <a:p>
            <a:r>
              <a:rPr lang="en-US" dirty="0">
                <a:latin typeface="Times New Roman" pitchFamily="18" charset="0"/>
                <a:cs typeface="Times New Roman" pitchFamily="18" charset="0"/>
              </a:rPr>
              <a:t>As n value is less than 1 , the optimized formulation follows non-</a:t>
            </a:r>
            <a:r>
              <a:rPr lang="en-US" dirty="0" err="1">
                <a:latin typeface="Times New Roman" pitchFamily="18" charset="0"/>
                <a:cs typeface="Times New Roman" pitchFamily="18" charset="0"/>
              </a:rPr>
              <a:t>fickian</a:t>
            </a:r>
            <a:r>
              <a:rPr lang="en-US" dirty="0">
                <a:latin typeface="Times New Roman" pitchFamily="18" charset="0"/>
                <a:cs typeface="Times New Roman" pitchFamily="18" charset="0"/>
              </a:rPr>
              <a:t> diffusion model. To find the n value the above kinetic models were used.</a:t>
            </a: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0055700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DFCE5-56FE-B852-D670-8F02EA37E779}"/>
              </a:ext>
            </a:extLst>
          </p:cNvPr>
          <p:cNvSpPr>
            <a:spLocks noGrp="1"/>
          </p:cNvSpPr>
          <p:nvPr>
            <p:ph type="title"/>
          </p:nvPr>
        </p:nvSpPr>
        <p:spPr>
          <a:xfrm>
            <a:off x="318165" y="108079"/>
            <a:ext cx="7467600" cy="1143000"/>
          </a:xfrm>
        </p:spPr>
        <p:txBody>
          <a:bodyPr>
            <a:normAutofit/>
          </a:bodyPr>
          <a:lstStyle/>
          <a:p>
            <a:pPr algn="ctr"/>
            <a:r>
              <a:rPr lang="en-IN" sz="40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DB4FE8D3-F031-9E82-66C1-27859D177277}"/>
              </a:ext>
            </a:extLst>
          </p:cNvPr>
          <p:cNvSpPr>
            <a:spLocks noGrp="1"/>
          </p:cNvSpPr>
          <p:nvPr>
            <p:ph idx="1"/>
          </p:nvPr>
        </p:nvSpPr>
        <p:spPr>
          <a:xfrm>
            <a:off x="0" y="1251079"/>
            <a:ext cx="9296400" cy="4876800"/>
          </a:xfrm>
        </p:spPr>
        <p:txBody>
          <a:bodyPr>
            <a:noAutofit/>
          </a:bodyPr>
          <a:lstStyle/>
          <a:p>
            <a:pPr marL="201930" marR="365760" algn="just">
              <a:lnSpc>
                <a:spcPct val="103000"/>
              </a:lnSpc>
              <a:spcBef>
                <a:spcPts val="1215"/>
              </a:spcBef>
              <a:spcAft>
                <a:spcPts val="0"/>
              </a:spcAft>
            </a:pPr>
            <a:r>
              <a:rPr lang="en-US" sz="1800" dirty="0">
                <a:effectLst/>
                <a:latin typeface="Times New Roman" panose="02020603050405020304" pitchFamily="18" charset="0"/>
                <a:ea typeface="Times New Roman" panose="02020603050405020304" pitchFamily="18" charset="0"/>
              </a:rPr>
              <a:t>A new sustained-release system of </a:t>
            </a:r>
            <a:r>
              <a:rPr lang="en-US" sz="1800" dirty="0">
                <a:latin typeface="Times New Roman" panose="02020603050405020304" pitchFamily="18" charset="0"/>
                <a:ea typeface="Times New Roman" panose="02020603050405020304" pitchFamily="18" charset="0"/>
              </a:rPr>
              <a:t>drug-entrapped</a:t>
            </a:r>
            <a:r>
              <a:rPr lang="en-US" sz="1800" dirty="0">
                <a:effectLst/>
                <a:latin typeface="Times New Roman" panose="02020603050405020304" pitchFamily="18" charset="0"/>
                <a:ea typeface="Times New Roman" panose="02020603050405020304" pitchFamily="18" charset="0"/>
              </a:rPr>
              <a:t> </a:t>
            </a:r>
            <a:r>
              <a:rPr lang="en-US" sz="1800" dirty="0">
                <a:latin typeface="Times New Roman" panose="02020603050405020304" pitchFamily="18" charset="0"/>
                <a:ea typeface="Times New Roman" panose="02020603050405020304" pitchFamily="18" charset="0"/>
              </a:rPr>
              <a:t>sodium</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alginate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beads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was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formulated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by</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a:t>
            </a:r>
            <a:r>
              <a:rPr lang="en-US" sz="1800" spc="5" dirty="0">
                <a:effectLst/>
                <a:latin typeface="Times New Roman" panose="02020603050405020304" pitchFamily="18" charset="0"/>
                <a:ea typeface="Times New Roman" panose="02020603050405020304" pitchFamily="18" charset="0"/>
              </a:rPr>
              <a:t> </a:t>
            </a:r>
            <a:r>
              <a:rPr lang="en-US" sz="1800" spc="5" dirty="0">
                <a:latin typeface="Times New Roman" panose="02020603050405020304" pitchFamily="18" charset="0"/>
                <a:ea typeface="Times New Roman" panose="02020603050405020304" pitchFamily="18" charset="0"/>
              </a:rPr>
              <a:t>ion </a:t>
            </a:r>
            <a:r>
              <a:rPr lang="en-US" sz="1800" dirty="0">
                <a:effectLst/>
                <a:latin typeface="Times New Roman" panose="02020603050405020304" pitchFamily="18" charset="0"/>
                <a:ea typeface="Times New Roman" panose="02020603050405020304" pitchFamily="18" charset="0"/>
              </a:rPr>
              <a:t>gelation</a:t>
            </a:r>
            <a:r>
              <a:rPr lang="en-US" sz="1800" spc="-2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method. the beads were designed by different excipients like HPMC, egg albumin, tween-80, and sodium alginate along with the drug. </a:t>
            </a:r>
          </a:p>
          <a:p>
            <a:pPr marL="201930" marR="365760" algn="just">
              <a:lnSpc>
                <a:spcPct val="103000"/>
              </a:lnSpc>
              <a:spcBef>
                <a:spcPts val="1215"/>
              </a:spcBef>
              <a:spcAft>
                <a:spcPts val="0"/>
              </a:spcAft>
            </a:pPr>
            <a:r>
              <a:rPr lang="en-US" sz="1800" dirty="0">
                <a:effectLst/>
                <a:latin typeface="Times New Roman" panose="02020603050405020304" pitchFamily="18" charset="0"/>
                <a:ea typeface="Times New Roman" panose="02020603050405020304" pitchFamily="18" charset="0"/>
              </a:rPr>
              <a:t>Different evaluation tests are performed like FTIR studies, swelling index, drug content, bead size measurement, and in-vitro dissolution studies.</a:t>
            </a:r>
            <a:r>
              <a:rPr lang="en-US" sz="1800" dirty="0">
                <a:latin typeface="Times New Roman" pitchFamily="18" charset="0"/>
                <a:cs typeface="Times New Roman" pitchFamily="18" charset="0"/>
              </a:rPr>
              <a:t> All the results obtained from the tests are correlated with the limits and were found to be within the range.</a:t>
            </a:r>
            <a:r>
              <a:rPr lang="en-US" sz="1800" dirty="0">
                <a:effectLst/>
                <a:latin typeface="Times New Roman" panose="02020603050405020304" pitchFamily="18" charset="0"/>
                <a:ea typeface="Times New Roman" panose="02020603050405020304" pitchFamily="18" charset="0"/>
              </a:rPr>
              <a:t> Its morphological and release characteristics were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studied.</a:t>
            </a:r>
            <a:r>
              <a:rPr lang="en-US" sz="1800" spc="5" dirty="0">
                <a:effectLst/>
                <a:latin typeface="Times New Roman" panose="02020603050405020304" pitchFamily="18" charset="0"/>
                <a:ea typeface="Times New Roman" panose="02020603050405020304" pitchFamily="18" charset="0"/>
              </a:rPr>
              <a:t> </a:t>
            </a:r>
          </a:p>
          <a:p>
            <a:pPr marL="201930" marR="365760" algn="just">
              <a:lnSpc>
                <a:spcPct val="103000"/>
              </a:lnSpc>
              <a:spcBef>
                <a:spcPts val="1215"/>
              </a:spcBef>
              <a:spcAft>
                <a:spcPts val="0"/>
              </a:spcAft>
            </a:pPr>
            <a:r>
              <a:rPr lang="en-US" sz="1800" dirty="0">
                <a:effectLst/>
                <a:latin typeface="Times New Roman" panose="02020603050405020304" pitchFamily="18" charset="0"/>
                <a:ea typeface="Times New Roman" panose="02020603050405020304" pitchFamily="18" charset="0"/>
              </a:rPr>
              <a:t>The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beads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were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easy</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to</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prepare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mean</a:t>
            </a:r>
            <a:r>
              <a:rPr lang="en-US" sz="1800" spc="5" dirty="0">
                <a:effectLst/>
                <a:latin typeface="Times New Roman" panose="02020603050405020304" pitchFamily="18" charset="0"/>
                <a:ea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rPr>
              <a:t>diameter</a:t>
            </a:r>
            <a:r>
              <a:rPr lang="en-US" sz="1800" spc="-70" dirty="0">
                <a:effectLst/>
                <a:latin typeface="Times New Roman" panose="02020603050405020304" pitchFamily="18" charset="0"/>
                <a:ea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rPr>
              <a:t>of</a:t>
            </a:r>
            <a:r>
              <a:rPr lang="en-US" sz="1800" spc="-70" dirty="0">
                <a:effectLst/>
                <a:latin typeface="Times New Roman" panose="02020603050405020304" pitchFamily="18" charset="0"/>
                <a:ea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rPr>
              <a:t>beads</a:t>
            </a:r>
            <a:r>
              <a:rPr lang="en-US" sz="1800" spc="-7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increased</a:t>
            </a:r>
            <a:r>
              <a:rPr lang="en-US" sz="1800" spc="-7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with</a:t>
            </a:r>
            <a:r>
              <a:rPr lang="en-US" sz="1800" spc="-70" dirty="0">
                <a:effectLst/>
                <a:latin typeface="Times New Roman" panose="02020603050405020304" pitchFamily="18" charset="0"/>
                <a:ea typeface="Times New Roman" panose="02020603050405020304" pitchFamily="18" charset="0"/>
              </a:rPr>
              <a:t> </a:t>
            </a:r>
            <a:r>
              <a:rPr lang="en-US" sz="1800" spc="-70" dirty="0">
                <a:latin typeface="Times New Roman" panose="02020603050405020304" pitchFamily="18" charset="0"/>
                <a:ea typeface="Times New Roman" panose="02020603050405020304" pitchFamily="18" charset="0"/>
              </a:rPr>
              <a:t>the effect of </a:t>
            </a:r>
            <a:r>
              <a:rPr lang="en-US" sz="1800" dirty="0">
                <a:effectLst/>
                <a:latin typeface="Times New Roman" panose="02020603050405020304" pitchFamily="18" charset="0"/>
                <a:ea typeface="Times New Roman" panose="02020603050405020304" pitchFamily="18" charset="0"/>
              </a:rPr>
              <a:t>the</a:t>
            </a:r>
            <a:r>
              <a:rPr lang="en-US" sz="1800" spc="-7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amount</a:t>
            </a:r>
            <a:r>
              <a:rPr lang="en-US" sz="1800" spc="-7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 sodium alginate and HPMC.</a:t>
            </a:r>
            <a:r>
              <a:rPr lang="en-US" sz="1800" dirty="0">
                <a:latin typeface="Times New Roman" pitchFamily="18" charset="0"/>
                <a:cs typeface="Times New Roman" pitchFamily="18" charset="0"/>
              </a:rPr>
              <a:t> From the proposed study, the </a:t>
            </a:r>
            <a:r>
              <a:rPr lang="en-US" sz="1800" b="1" dirty="0">
                <a:latin typeface="Times New Roman" pitchFamily="18" charset="0"/>
                <a:cs typeface="Times New Roman" pitchFamily="18" charset="0"/>
              </a:rPr>
              <a:t>F4 </a:t>
            </a:r>
            <a:r>
              <a:rPr lang="en-US" sz="1800" dirty="0">
                <a:latin typeface="Times New Roman" pitchFamily="18" charset="0"/>
                <a:cs typeface="Times New Roman" pitchFamily="18" charset="0"/>
              </a:rPr>
              <a:t> formulation was found to have drug content, swelling index and bead size, and high dissolution rate. The total drug release from F4 formulation in p</a:t>
            </a:r>
            <a:r>
              <a:rPr lang="en-US" sz="1800" baseline="30000" dirty="0">
                <a:latin typeface="Times New Roman" pitchFamily="18" charset="0"/>
                <a:cs typeface="Times New Roman" pitchFamily="18" charset="0"/>
              </a:rPr>
              <a:t>H</a:t>
            </a:r>
            <a:r>
              <a:rPr lang="en-US" sz="1800" dirty="0">
                <a:latin typeface="Times New Roman" pitchFamily="18" charset="0"/>
                <a:cs typeface="Times New Roman" pitchFamily="18" charset="0"/>
              </a:rPr>
              <a:t> 6.8 phosphate buffer (dissolution medium) was found to be 98% drug release.</a:t>
            </a:r>
            <a:r>
              <a:rPr lang="en-US" sz="1800" dirty="0">
                <a:effectLst/>
                <a:latin typeface="Times New Roman" panose="02020603050405020304" pitchFamily="18" charset="0"/>
                <a:ea typeface="Times New Roman" panose="02020603050405020304" pitchFamily="18" charset="0"/>
              </a:rPr>
              <a:t> Among different Formulations, </a:t>
            </a:r>
            <a:r>
              <a:rPr lang="en-US" sz="1800" b="1" dirty="0">
                <a:effectLst/>
                <a:latin typeface="Times New Roman" panose="02020603050405020304" pitchFamily="18" charset="0"/>
                <a:ea typeface="Times New Roman" panose="02020603050405020304" pitchFamily="18" charset="0"/>
              </a:rPr>
              <a:t>F4 </a:t>
            </a:r>
            <a:r>
              <a:rPr lang="en-US" sz="1800" dirty="0">
                <a:effectLst/>
                <a:latin typeface="Times New Roman" panose="02020603050405020304" pitchFamily="18" charset="0"/>
                <a:ea typeface="Times New Roman" panose="02020603050405020304" pitchFamily="18" charset="0"/>
              </a:rPr>
              <a:t>has shown a </a:t>
            </a:r>
            <a:r>
              <a:rPr lang="en-US" sz="1800" dirty="0">
                <a:latin typeface="Times New Roman" panose="02020603050405020304" pitchFamily="18" charset="0"/>
                <a:ea typeface="Times New Roman" panose="02020603050405020304" pitchFamily="18" charset="0"/>
              </a:rPr>
              <a:t>high dissolution rate effect. </a:t>
            </a:r>
          </a:p>
          <a:p>
            <a:pPr marL="201930" marR="365760" algn="just">
              <a:lnSpc>
                <a:spcPct val="103000"/>
              </a:lnSpc>
              <a:spcBef>
                <a:spcPts val="1215"/>
              </a:spcBef>
              <a:spcAft>
                <a:spcPts val="0"/>
              </a:spcAft>
            </a:pPr>
            <a:r>
              <a:rPr lang="en-US" sz="1800" dirty="0">
                <a:effectLst/>
                <a:latin typeface="Times New Roman" panose="02020603050405020304" pitchFamily="18" charset="0"/>
                <a:ea typeface="Times New Roman" panose="02020603050405020304" pitchFamily="18" charset="0"/>
              </a:rPr>
              <a:t>The beads showed excellent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sustaining properties as compared to the conventional beads.</a:t>
            </a:r>
            <a:r>
              <a:rPr lang="en-US" sz="1800" spc="-2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Thus, the ion gelation technique appears to be a useful tool</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for the development of multi-particulate systems even for a</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water-soluble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drug.</a:t>
            </a:r>
            <a:endParaRPr lang="en-IN" sz="1800" dirty="0">
              <a:effectLst/>
              <a:latin typeface="Times New Roman" panose="02020603050405020304" pitchFamily="18" charset="0"/>
              <a:ea typeface="Times New Roman" panose="02020603050405020304" pitchFamily="18" charset="0"/>
            </a:endParaRPr>
          </a:p>
          <a:p>
            <a:pPr marL="0" indent="0">
              <a:buNone/>
            </a:pPr>
            <a:endParaRPr lang="en-IN" sz="1800" dirty="0">
              <a:effectLst/>
              <a:latin typeface="Times New Roman" panose="02020603050405020304" pitchFamily="18" charset="0"/>
              <a:ea typeface="Times New Roman" panose="02020603050405020304" pitchFamily="18" charset="0"/>
            </a:endParaRPr>
          </a:p>
          <a:p>
            <a:endParaRPr lang="en-IN" sz="1800" dirty="0"/>
          </a:p>
        </p:txBody>
      </p:sp>
      <p:sp>
        <p:nvSpPr>
          <p:cNvPr id="4" name="Slide Number Placeholder 3">
            <a:extLst>
              <a:ext uri="{FF2B5EF4-FFF2-40B4-BE49-F238E27FC236}">
                <a16:creationId xmlns:a16="http://schemas.microsoft.com/office/drawing/2014/main" id="{D86BAB7F-136A-7F42-FF4B-F2F99BAA7F60}"/>
              </a:ext>
            </a:extLst>
          </p:cNvPr>
          <p:cNvSpPr>
            <a:spLocks noGrp="1"/>
          </p:cNvSpPr>
          <p:nvPr>
            <p:ph type="sldNum" sz="quarter" idx="12"/>
          </p:nvPr>
        </p:nvSpPr>
        <p:spPr/>
        <p:txBody>
          <a:bodyPr/>
          <a:lstStyle/>
          <a:p>
            <a:fld id="{6C412A46-B304-460B-BA6E-26B326EC1AA6}" type="slidenum">
              <a:rPr lang="en-US" smtClean="0"/>
              <a:pPr/>
              <a:t>29</a:t>
            </a:fld>
            <a:endParaRPr lang="en-US"/>
          </a:p>
        </p:txBody>
      </p:sp>
    </p:spTree>
    <p:extLst>
      <p:ext uri="{BB962C8B-B14F-4D97-AF65-F5344CB8AC3E}">
        <p14:creationId xmlns:p14="http://schemas.microsoft.com/office/powerpoint/2010/main" val="39047250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50533-306D-02F0-1F7E-618E3E8A7D7D}"/>
              </a:ext>
            </a:extLst>
          </p:cNvPr>
          <p:cNvSpPr>
            <a:spLocks noGrp="1"/>
          </p:cNvSpPr>
          <p:nvPr>
            <p:ph type="title"/>
          </p:nvPr>
        </p:nvSpPr>
        <p:spPr>
          <a:xfrm>
            <a:off x="585941" y="108079"/>
            <a:ext cx="7467600" cy="1143000"/>
          </a:xfrm>
        </p:spPr>
        <p:txBody>
          <a:bodyPr>
            <a:normAutofit/>
          </a:bodyPr>
          <a:lstStyle/>
          <a:p>
            <a:pPr algn="ctr"/>
            <a:r>
              <a:rPr lang="en-IN" sz="4000" b="1" dirty="0">
                <a:latin typeface="Times New Roman" panose="02020603050405020304" pitchFamily="18" charset="0"/>
                <a:cs typeface="Times New Roman" panose="02020603050405020304" pitchFamily="18" charset="0"/>
              </a:rPr>
              <a:t>REFERENCES</a:t>
            </a:r>
          </a:p>
        </p:txBody>
      </p:sp>
      <p:sp>
        <p:nvSpPr>
          <p:cNvPr id="4" name="Content Placeholder 3">
            <a:extLst>
              <a:ext uri="{FF2B5EF4-FFF2-40B4-BE49-F238E27FC236}">
                <a16:creationId xmlns:a16="http://schemas.microsoft.com/office/drawing/2014/main" id="{614B663A-34CF-4857-93C4-AE2E93D1D343}"/>
              </a:ext>
            </a:extLst>
          </p:cNvPr>
          <p:cNvSpPr>
            <a:spLocks noGrp="1"/>
          </p:cNvSpPr>
          <p:nvPr>
            <p:ph idx="1"/>
          </p:nvPr>
        </p:nvSpPr>
        <p:spPr>
          <a:xfrm>
            <a:off x="152400" y="1025892"/>
            <a:ext cx="8839200" cy="5493258"/>
          </a:xfrm>
        </p:spPr>
        <p:txBody>
          <a:bodyPr>
            <a:noAutofit/>
          </a:bodyPr>
          <a:lstStyle/>
          <a:p>
            <a:pPr marL="0" indent="0">
              <a:buNone/>
            </a:pPr>
            <a:r>
              <a:rPr lang="en-IN" sz="1600" dirty="0">
                <a:latin typeface="Times New Roman" panose="02020603050405020304" pitchFamily="18" charset="0"/>
                <a:cs typeface="Times New Roman" panose="02020603050405020304" pitchFamily="18" charset="0"/>
              </a:rPr>
              <a:t>1) </a:t>
            </a:r>
            <a:r>
              <a:rPr lang="en-IN" sz="1600" dirty="0" err="1">
                <a:latin typeface="Times New Roman" panose="02020603050405020304" pitchFamily="18" charset="0"/>
                <a:cs typeface="Times New Roman" panose="02020603050405020304" pitchFamily="18" charset="0"/>
              </a:rPr>
              <a:t>Suryakanta</a:t>
            </a:r>
            <a:r>
              <a:rPr lang="en-IN" sz="1600" dirty="0">
                <a:latin typeface="Times New Roman" panose="02020603050405020304" pitchFamily="18" charset="0"/>
                <a:cs typeface="Times New Roman" panose="02020603050405020304" pitchFamily="18" charset="0"/>
              </a:rPr>
              <a:t> Swain1 *, </a:t>
            </a:r>
            <a:r>
              <a:rPr lang="en-IN" sz="1600" dirty="0" err="1">
                <a:latin typeface="Times New Roman" panose="02020603050405020304" pitchFamily="18" charset="0"/>
                <a:cs typeface="Times New Roman" panose="02020603050405020304" pitchFamily="18" charset="0"/>
              </a:rPr>
              <a:t>Aurobinda</a:t>
            </a:r>
            <a:r>
              <a:rPr lang="en-IN" sz="1600" dirty="0">
                <a:latin typeface="Times New Roman" panose="02020603050405020304" pitchFamily="18" charset="0"/>
                <a:cs typeface="Times New Roman" panose="02020603050405020304" pitchFamily="18" charset="0"/>
              </a:rPr>
              <a:t> Behera, Sarwar Beg1, </a:t>
            </a:r>
            <a:r>
              <a:rPr lang="en-IN" sz="1600" dirty="0" err="1">
                <a:latin typeface="Times New Roman" panose="02020603050405020304" pitchFamily="18" charset="0"/>
                <a:cs typeface="Times New Roman" panose="02020603050405020304" pitchFamily="18" charset="0"/>
              </a:rPr>
              <a:t>Chinam</a:t>
            </a:r>
            <a:r>
              <a:rPr lang="en-IN" sz="1600" dirty="0">
                <a:latin typeface="Times New Roman" panose="02020603050405020304" pitchFamily="18" charset="0"/>
                <a:cs typeface="Times New Roman" panose="02020603050405020304" pitchFamily="18" charset="0"/>
              </a:rPr>
              <a:t> N. Patra, Subash C. Dinda2, </a:t>
            </a:r>
            <a:r>
              <a:rPr lang="en-IN" sz="1600" dirty="0" err="1">
                <a:latin typeface="Times New Roman" panose="02020603050405020304" pitchFamily="18" charset="0"/>
                <a:cs typeface="Times New Roman" panose="02020603050405020304" pitchFamily="18" charset="0"/>
              </a:rPr>
              <a:t>Jammula</a:t>
            </a:r>
            <a:r>
              <a:rPr lang="en-IN" sz="1600" dirty="0">
                <a:latin typeface="Times New Roman" panose="02020603050405020304" pitchFamily="18" charset="0"/>
                <a:cs typeface="Times New Roman" panose="02020603050405020304" pitchFamily="18" charset="0"/>
              </a:rPr>
              <a:t> Sruti1,and </a:t>
            </a:r>
            <a:r>
              <a:rPr lang="en-IN" sz="1600" dirty="0" err="1">
                <a:latin typeface="Times New Roman" panose="02020603050405020304" pitchFamily="18" charset="0"/>
                <a:cs typeface="Times New Roman" panose="02020603050405020304" pitchFamily="18" charset="0"/>
              </a:rPr>
              <a:t>Muddana</a:t>
            </a:r>
            <a:r>
              <a:rPr lang="en-IN" sz="1600" dirty="0">
                <a:latin typeface="Times New Roman" panose="02020603050405020304" pitchFamily="18" charset="0"/>
                <a:cs typeface="Times New Roman" panose="02020603050405020304" pitchFamily="18" charset="0"/>
              </a:rPr>
              <a:t> E. B. Rao1, "Modified Alginate Beads for Mucoadhesive Drug Delivery System: An Updated Review of Patents", Recent Patents on Drug Delivery &amp; Formulation 2012, 6, 259-277.</a:t>
            </a:r>
          </a:p>
          <a:p>
            <a:pPr marL="0" indent="0">
              <a:buNone/>
            </a:pPr>
            <a:r>
              <a:rPr lang="en-IN" sz="1600" dirty="0">
                <a:latin typeface="Times New Roman" panose="02020603050405020304" pitchFamily="18" charset="0"/>
                <a:cs typeface="Times New Roman" panose="02020603050405020304" pitchFamily="18" charset="0"/>
              </a:rPr>
              <a:t>2) Khan, Ismail, &amp; </a:t>
            </a:r>
            <a:r>
              <a:rPr lang="en-IN" sz="1600" dirty="0" err="1">
                <a:latin typeface="Times New Roman" panose="02020603050405020304" pitchFamily="18" charset="0"/>
                <a:cs typeface="Times New Roman" panose="02020603050405020304" pitchFamily="18" charset="0"/>
              </a:rPr>
              <a:t>Gani</a:t>
            </a:r>
            <a:r>
              <a:rPr lang="en-IN" sz="1600" dirty="0">
                <a:latin typeface="Times New Roman" panose="02020603050405020304" pitchFamily="18" charset="0"/>
                <a:cs typeface="Times New Roman" panose="02020603050405020304" pitchFamily="18" charset="0"/>
              </a:rPr>
              <a:t>, "Recent Development in Sustained-Release Beads" International Journal of </a:t>
            </a:r>
            <a:r>
              <a:rPr lang="en-IN" sz="1600" dirty="0" err="1">
                <a:latin typeface="Times New Roman" panose="02020603050405020304" pitchFamily="18" charset="0"/>
                <a:cs typeface="Times New Roman" panose="02020603050405020304" pitchFamily="18" charset="0"/>
              </a:rPr>
              <a:t>Researchin</a:t>
            </a:r>
            <a:r>
              <a:rPr lang="en-IN" sz="1600" dirty="0">
                <a:latin typeface="Times New Roman" panose="02020603050405020304" pitchFamily="18" charset="0"/>
                <a:cs typeface="Times New Roman" panose="02020603050405020304" pitchFamily="18" charset="0"/>
              </a:rPr>
              <a:t> Pharmaceutical Sciences, 27 Jan 2020.</a:t>
            </a:r>
          </a:p>
          <a:p>
            <a:pPr marL="0" indent="0">
              <a:buNone/>
            </a:pPr>
            <a:r>
              <a:rPr lang="en-IN" sz="1600" dirty="0">
                <a:latin typeface="Times New Roman" panose="02020603050405020304" pitchFamily="18" charset="0"/>
                <a:cs typeface="Times New Roman" panose="02020603050405020304" pitchFamily="18" charset="0"/>
              </a:rPr>
              <a:t>3) </a:t>
            </a:r>
            <a:r>
              <a:rPr lang="en-IN" sz="1600" dirty="0" err="1">
                <a:latin typeface="Times New Roman" panose="02020603050405020304" pitchFamily="18" charset="0"/>
                <a:cs typeface="Times New Roman" panose="02020603050405020304" pitchFamily="18" charset="0"/>
              </a:rPr>
              <a:t>Suryakanta</a:t>
            </a:r>
            <a:r>
              <a:rPr lang="en-IN" sz="1600" dirty="0">
                <a:latin typeface="Times New Roman" panose="02020603050405020304" pitchFamily="18" charset="0"/>
                <a:cs typeface="Times New Roman" panose="02020603050405020304" pitchFamily="18" charset="0"/>
              </a:rPr>
              <a:t> Swain1 *, </a:t>
            </a:r>
            <a:r>
              <a:rPr lang="en-IN" sz="1600" dirty="0" err="1">
                <a:latin typeface="Times New Roman" panose="02020603050405020304" pitchFamily="18" charset="0"/>
                <a:cs typeface="Times New Roman" panose="02020603050405020304" pitchFamily="18" charset="0"/>
              </a:rPr>
              <a:t>Aurobinda</a:t>
            </a:r>
            <a:r>
              <a:rPr lang="en-IN" sz="1600" dirty="0">
                <a:latin typeface="Times New Roman" panose="02020603050405020304" pitchFamily="18" charset="0"/>
                <a:cs typeface="Times New Roman" panose="02020603050405020304" pitchFamily="18" charset="0"/>
              </a:rPr>
              <a:t> Behera, Sarwar Beg1, </a:t>
            </a:r>
            <a:r>
              <a:rPr lang="en-IN" sz="1600" dirty="0" err="1">
                <a:latin typeface="Times New Roman" panose="02020603050405020304" pitchFamily="18" charset="0"/>
                <a:cs typeface="Times New Roman" panose="02020603050405020304" pitchFamily="18" charset="0"/>
              </a:rPr>
              <a:t>Chinam</a:t>
            </a:r>
            <a:r>
              <a:rPr lang="en-IN" sz="1600" dirty="0">
                <a:latin typeface="Times New Roman" panose="02020603050405020304" pitchFamily="18" charset="0"/>
                <a:cs typeface="Times New Roman" panose="02020603050405020304" pitchFamily="18" charset="0"/>
              </a:rPr>
              <a:t> N. Patra, Subash C. Dinda2, </a:t>
            </a:r>
            <a:r>
              <a:rPr lang="en-IN" sz="1600" dirty="0" err="1">
                <a:latin typeface="Times New Roman" panose="02020603050405020304" pitchFamily="18" charset="0"/>
                <a:cs typeface="Times New Roman" panose="02020603050405020304" pitchFamily="18" charset="0"/>
              </a:rPr>
              <a:t>Jammula</a:t>
            </a:r>
            <a:r>
              <a:rPr lang="en-IN" sz="1600" dirty="0">
                <a:latin typeface="Times New Roman" panose="02020603050405020304" pitchFamily="18" charset="0"/>
                <a:cs typeface="Times New Roman" panose="02020603050405020304" pitchFamily="18" charset="0"/>
              </a:rPr>
              <a:t> Sruti1,and </a:t>
            </a:r>
            <a:r>
              <a:rPr lang="en-IN" sz="1600" dirty="0" err="1">
                <a:latin typeface="Times New Roman" panose="02020603050405020304" pitchFamily="18" charset="0"/>
                <a:cs typeface="Times New Roman" panose="02020603050405020304" pitchFamily="18" charset="0"/>
              </a:rPr>
              <a:t>Muddana</a:t>
            </a:r>
            <a:r>
              <a:rPr lang="en-IN" sz="1600" dirty="0">
                <a:latin typeface="Times New Roman" panose="02020603050405020304" pitchFamily="18" charset="0"/>
                <a:cs typeface="Times New Roman" panose="02020603050405020304" pitchFamily="18" charset="0"/>
              </a:rPr>
              <a:t> E. B. Rao1, "Modified Alginate Beads for Mucoadhesive Drug Delivery System: An Updated Review of Patents", Recent Patents on Drug Delivery &amp; Formulation 2012, 6, 259-277.</a:t>
            </a:r>
          </a:p>
          <a:p>
            <a:pPr marL="0" indent="0">
              <a:buNone/>
            </a:pPr>
            <a:r>
              <a:rPr lang="en-IN" sz="1600" dirty="0">
                <a:latin typeface="Times New Roman" panose="02020603050405020304" pitchFamily="18" charset="0"/>
                <a:cs typeface="Times New Roman" panose="02020603050405020304" pitchFamily="18" charset="0"/>
              </a:rPr>
              <a:t>4) </a:t>
            </a:r>
            <a:r>
              <a:rPr lang="en-IN" sz="1600" dirty="0" err="1">
                <a:latin typeface="Times New Roman" panose="02020603050405020304" pitchFamily="18" charset="0"/>
                <a:cs typeface="Times New Roman" panose="02020603050405020304" pitchFamily="18" charset="0"/>
              </a:rPr>
              <a:t>Engyel</a:t>
            </a:r>
            <a:r>
              <a:rPr lang="en-IN" sz="1600" dirty="0">
                <a:latin typeface="Times New Roman" panose="02020603050405020304" pitchFamily="18" charset="0"/>
                <a:cs typeface="Times New Roman" panose="02020603050405020304" pitchFamily="18" charset="0"/>
              </a:rPr>
              <a:t> M, </a:t>
            </a:r>
            <a:r>
              <a:rPr lang="en-IN" sz="1600" dirty="0" err="1">
                <a:latin typeface="Times New Roman" panose="02020603050405020304" pitchFamily="18" charset="0"/>
                <a:cs typeface="Times New Roman" panose="02020603050405020304" pitchFamily="18" charset="0"/>
              </a:rPr>
              <a:t>Kállai</a:t>
            </a:r>
            <a:r>
              <a:rPr lang="en-IN" sz="1600" dirty="0">
                <a:latin typeface="Times New Roman" panose="02020603050405020304" pitchFamily="18" charset="0"/>
                <a:cs typeface="Times New Roman" panose="02020603050405020304" pitchFamily="18" charset="0"/>
              </a:rPr>
              <a:t>-Szabó N, </a:t>
            </a:r>
            <a:r>
              <a:rPr lang="en-IN" sz="1600" dirty="0" err="1">
                <a:latin typeface="Times New Roman" panose="02020603050405020304" pitchFamily="18" charset="0"/>
                <a:cs typeface="Times New Roman" panose="02020603050405020304" pitchFamily="18" charset="0"/>
              </a:rPr>
              <a:t>Antal</a:t>
            </a:r>
            <a:r>
              <a:rPr lang="en-IN" sz="1600" dirty="0">
                <a:latin typeface="Times New Roman" panose="02020603050405020304" pitchFamily="18" charset="0"/>
                <a:cs typeface="Times New Roman" panose="02020603050405020304" pitchFamily="18" charset="0"/>
              </a:rPr>
              <a:t> V, </a:t>
            </a:r>
            <a:r>
              <a:rPr lang="en-IN" sz="1600" dirty="0" err="1">
                <a:latin typeface="Times New Roman" panose="02020603050405020304" pitchFamily="18" charset="0"/>
                <a:cs typeface="Times New Roman" panose="02020603050405020304" pitchFamily="18" charset="0"/>
              </a:rPr>
              <a:t>Laki</a:t>
            </a:r>
            <a:r>
              <a:rPr lang="en-IN" sz="1600" dirty="0">
                <a:latin typeface="Times New Roman" panose="02020603050405020304" pitchFamily="18" charset="0"/>
                <a:cs typeface="Times New Roman" panose="02020603050405020304" pitchFamily="18" charset="0"/>
              </a:rPr>
              <a:t> AJ, </a:t>
            </a:r>
            <a:r>
              <a:rPr lang="en-IN" sz="1600" dirty="0" err="1">
                <a:latin typeface="Times New Roman" panose="02020603050405020304" pitchFamily="18" charset="0"/>
                <a:cs typeface="Times New Roman" panose="02020603050405020304" pitchFamily="18" charset="0"/>
              </a:rPr>
              <a:t>Antal</a:t>
            </a:r>
            <a:r>
              <a:rPr lang="en-IN" sz="1600" dirty="0">
                <a:latin typeface="Times New Roman" panose="02020603050405020304" pitchFamily="18" charset="0"/>
                <a:cs typeface="Times New Roman" panose="02020603050405020304" pitchFamily="18" charset="0"/>
              </a:rPr>
              <a:t> I. Microparticles, particulate spheres, and microbeads for advanced drug delivery. Sci Pharm. 2019; 87 (3)</a:t>
            </a:r>
          </a:p>
          <a:p>
            <a:pPr marL="0" indent="0">
              <a:buNone/>
            </a:pPr>
            <a:r>
              <a:rPr lang="en-IN" sz="1600" dirty="0">
                <a:latin typeface="Times New Roman" panose="02020603050405020304" pitchFamily="18" charset="0"/>
                <a:cs typeface="Times New Roman" panose="02020603050405020304" pitchFamily="18" charset="0"/>
              </a:rPr>
              <a:t>5). DAS MK, AHMED AB, SAHA </a:t>
            </a:r>
            <a:r>
              <a:rPr lang="en-IN" sz="1600" dirty="0" err="1">
                <a:latin typeface="Times New Roman" panose="02020603050405020304" pitchFamily="18" charset="0"/>
                <a:cs typeface="Times New Roman" panose="02020603050405020304" pitchFamily="18" charset="0"/>
              </a:rPr>
              <a:t>D.Particulate</a:t>
            </a:r>
            <a:r>
              <a:rPr lang="en-IN" sz="1600" dirty="0">
                <a:latin typeface="Times New Roman" panose="02020603050405020304" pitchFamily="18" charset="0"/>
                <a:cs typeface="Times New Roman" panose="02020603050405020304" pitchFamily="18" charset="0"/>
              </a:rPr>
              <a:t> spheres a Drug Delivery System Review. Int J </a:t>
            </a:r>
            <a:r>
              <a:rPr lang="en-IN" sz="1600" dirty="0" err="1">
                <a:latin typeface="Times New Roman" panose="02020603050405020304" pitchFamily="18" charset="0"/>
                <a:cs typeface="Times New Roman" panose="02020603050405020304" pitchFamily="18" charset="0"/>
              </a:rPr>
              <a:t>Curr</a:t>
            </a:r>
            <a:r>
              <a:rPr lang="en-IN" sz="1600" dirty="0">
                <a:latin typeface="Times New Roman" panose="02020603050405020304" pitchFamily="18" charset="0"/>
                <a:cs typeface="Times New Roman" panose="02020603050405020304" pitchFamily="18" charset="0"/>
              </a:rPr>
              <a:t> PharmRes.2019; 34–41.</a:t>
            </a:r>
          </a:p>
          <a:p>
            <a:pPr marL="0" indent="0">
              <a:buNone/>
            </a:pPr>
            <a:r>
              <a:rPr lang="en-IN" sz="1600" dirty="0">
                <a:latin typeface="Times New Roman" panose="02020603050405020304" pitchFamily="18" charset="0"/>
                <a:cs typeface="Times New Roman" panose="02020603050405020304" pitchFamily="18" charset="0"/>
              </a:rPr>
              <a:t>6) Khan, Ismail, &amp; </a:t>
            </a:r>
            <a:r>
              <a:rPr lang="en-IN" sz="1600" dirty="0" err="1">
                <a:latin typeface="Times New Roman" panose="02020603050405020304" pitchFamily="18" charset="0"/>
                <a:cs typeface="Times New Roman" panose="02020603050405020304" pitchFamily="18" charset="0"/>
              </a:rPr>
              <a:t>Gani</a:t>
            </a:r>
            <a:r>
              <a:rPr lang="en-IN" sz="1600" dirty="0">
                <a:latin typeface="Times New Roman" panose="02020603050405020304" pitchFamily="18" charset="0"/>
                <a:cs typeface="Times New Roman" panose="02020603050405020304" pitchFamily="18" charset="0"/>
              </a:rPr>
              <a:t>, "Recent Development in Sustained-Release Beads" International Journal of </a:t>
            </a:r>
            <a:r>
              <a:rPr lang="en-IN" sz="1600" dirty="0" err="1">
                <a:latin typeface="Times New Roman" panose="02020603050405020304" pitchFamily="18" charset="0"/>
                <a:cs typeface="Times New Roman" panose="02020603050405020304" pitchFamily="18" charset="0"/>
              </a:rPr>
              <a:t>Researchin</a:t>
            </a:r>
            <a:r>
              <a:rPr lang="en-IN" sz="1600" dirty="0">
                <a:latin typeface="Times New Roman" panose="02020603050405020304" pitchFamily="18" charset="0"/>
                <a:cs typeface="Times New Roman" panose="02020603050405020304" pitchFamily="18" charset="0"/>
              </a:rPr>
              <a:t> Pharmaceutical Sciences, 27 Jan 2020.</a:t>
            </a:r>
          </a:p>
          <a:p>
            <a:pPr marL="0" indent="0">
              <a:buNone/>
            </a:pPr>
            <a:r>
              <a:rPr lang="en-IN" sz="1600" dirty="0">
                <a:latin typeface="Times New Roman" panose="02020603050405020304" pitchFamily="18" charset="0"/>
                <a:cs typeface="Times New Roman" panose="02020603050405020304" pitchFamily="18" charset="0"/>
              </a:rPr>
              <a:t>8) </a:t>
            </a:r>
            <a:r>
              <a:rPr lang="en-IN" sz="1600" dirty="0" err="1">
                <a:latin typeface="Times New Roman" panose="02020603050405020304" pitchFamily="18" charset="0"/>
                <a:cs typeface="Times New Roman" panose="02020603050405020304" pitchFamily="18" charset="0"/>
              </a:rPr>
              <a:t>Valluru</a:t>
            </a:r>
            <a:r>
              <a:rPr lang="en-IN" sz="1600" dirty="0">
                <a:latin typeface="Times New Roman" panose="02020603050405020304" pitchFamily="18" charset="0"/>
                <a:cs typeface="Times New Roman" panose="02020603050405020304" pitchFamily="18" charset="0"/>
              </a:rPr>
              <a:t> Ravi *, T.M. Pramod Kumar1 and N. Rama Rao "Investigation of Ghatti Gum as a Carrier to develop</a:t>
            </a:r>
          </a:p>
          <a:p>
            <a:pPr marL="0" indent="0">
              <a:buNone/>
            </a:pPr>
            <a:r>
              <a:rPr lang="en-IN" sz="1600" dirty="0">
                <a:latin typeface="Times New Roman" panose="02020603050405020304" pitchFamily="18" charset="0"/>
                <a:cs typeface="Times New Roman" panose="02020603050405020304" pitchFamily="18" charset="0"/>
              </a:rPr>
              <a:t>Polymeric Blend Beads of Galantamine Hydrobromide" International Journal of </a:t>
            </a:r>
            <a:r>
              <a:rPr lang="en-IN" sz="1600" dirty="0" err="1">
                <a:latin typeface="Times New Roman" panose="02020603050405020304" pitchFamily="18" charset="0"/>
                <a:cs typeface="Times New Roman" panose="02020603050405020304" pitchFamily="18" charset="0"/>
              </a:rPr>
              <a:t>ChemTech</a:t>
            </a:r>
            <a:r>
              <a:rPr lang="en-IN" sz="1600" dirty="0">
                <a:latin typeface="Times New Roman" panose="02020603050405020304" pitchFamily="18" charset="0"/>
                <a:cs typeface="Times New Roman" panose="02020603050405020304" pitchFamily="18" charset="0"/>
              </a:rPr>
              <a:t> Research CODEN</a:t>
            </a:r>
          </a:p>
          <a:p>
            <a:pPr marL="0" indent="0">
              <a:buNone/>
            </a:pPr>
            <a:r>
              <a:rPr lang="en-IN" sz="1600" dirty="0">
                <a:latin typeface="Times New Roman" panose="02020603050405020304" pitchFamily="18" charset="0"/>
                <a:cs typeface="Times New Roman" panose="02020603050405020304" pitchFamily="18" charset="0"/>
              </a:rPr>
              <a:t>(USA): IJCRGG ISSN: 0974-4290 Vol.9, No.03 pp 482-490, 2016</a:t>
            </a:r>
          </a:p>
          <a:p>
            <a:pPr marL="0" indent="0">
              <a:buNone/>
            </a:pPr>
            <a:r>
              <a:rPr lang="en-IN" sz="1600" dirty="0">
                <a:latin typeface="Times New Roman" panose="02020603050405020304" pitchFamily="18" charset="0"/>
                <a:cs typeface="Times New Roman" panose="02020603050405020304" pitchFamily="18" charset="0"/>
              </a:rPr>
              <a:t>.</a:t>
            </a:r>
          </a:p>
        </p:txBody>
      </p:sp>
      <p:sp>
        <p:nvSpPr>
          <p:cNvPr id="3" name="Slide Number Placeholder 2">
            <a:extLst>
              <a:ext uri="{FF2B5EF4-FFF2-40B4-BE49-F238E27FC236}">
                <a16:creationId xmlns:a16="http://schemas.microsoft.com/office/drawing/2014/main" id="{1AC3F478-9524-BC29-718B-FFA8EDB1A41F}"/>
              </a:ext>
            </a:extLst>
          </p:cNvPr>
          <p:cNvSpPr>
            <a:spLocks noGrp="1"/>
          </p:cNvSpPr>
          <p:nvPr>
            <p:ph type="sldNum" sz="quarter" idx="12"/>
          </p:nvPr>
        </p:nvSpPr>
        <p:spPr/>
        <p:txBody>
          <a:bodyPr/>
          <a:lstStyle/>
          <a:p>
            <a:fld id="{6C412A46-B304-460B-BA6E-26B326EC1AA6}" type="slidenum">
              <a:rPr lang="en-US" smtClean="0"/>
              <a:pPr/>
              <a:t>30</a:t>
            </a:fld>
            <a:endParaRPr lang="en-US"/>
          </a:p>
        </p:txBody>
      </p:sp>
    </p:spTree>
    <p:extLst>
      <p:ext uri="{BB962C8B-B14F-4D97-AF65-F5344CB8AC3E}">
        <p14:creationId xmlns:p14="http://schemas.microsoft.com/office/powerpoint/2010/main" val="21590862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AutoShape 2" descr="Nanotechnology physics1"/>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8" name="AutoShape 4" descr="Nanotechnology physics1"/>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0" name="AutoShape 6" descr="Nanotechnology physics1"/>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2" name="AutoShape 8" descr="Nanotechnology physics1"/>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4" name="AutoShape 10" descr="Nanotechnology physics1"/>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6" name="AutoShape 12" descr="Nanotechnology physics1"/>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8" name="AutoShape 14" descr="Nanotechnology physics1"/>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0" name="AutoShape 16" descr="Nanotechnology physics1"/>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2" name="AutoShape 18" descr="blob:https://web.whatsapp.com/bffc9f86-bafc-4c49-b703-4068a42822b0"/>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1" name="Picture 10" descr="123.jpg"/>
          <p:cNvPicPr>
            <a:picLocks noChangeAspect="1"/>
          </p:cNvPicPr>
          <p:nvPr/>
        </p:nvPicPr>
        <p:blipFill>
          <a:blip r:embed="rId2"/>
          <a:stretch>
            <a:fillRect/>
          </a:stretch>
        </p:blipFill>
        <p:spPr>
          <a:xfrm>
            <a:off x="0" y="0"/>
            <a:ext cx="9144000" cy="6858000"/>
          </a:xfrm>
          <a:prstGeom prst="rect">
            <a:avLst/>
          </a:prstGeom>
        </p:spPr>
      </p:pic>
      <p:sp>
        <p:nvSpPr>
          <p:cNvPr id="2" name="Slide Number Placeholder 1">
            <a:extLst>
              <a:ext uri="{FF2B5EF4-FFF2-40B4-BE49-F238E27FC236}">
                <a16:creationId xmlns:a16="http://schemas.microsoft.com/office/drawing/2014/main" id="{C06BE616-DA94-6B9F-C246-B841EE293FE4}"/>
              </a:ext>
            </a:extLst>
          </p:cNvPr>
          <p:cNvSpPr>
            <a:spLocks noGrp="1"/>
          </p:cNvSpPr>
          <p:nvPr>
            <p:ph type="sldNum" sz="quarter" idx="12"/>
          </p:nvPr>
        </p:nvSpPr>
        <p:spPr/>
        <p:txBody>
          <a:bodyPr/>
          <a:lstStyle/>
          <a:p>
            <a:fld id="{6C412A46-B304-460B-BA6E-26B326EC1AA6}" type="slidenum">
              <a:rPr lang="en-US" smtClean="0"/>
              <a:pPr/>
              <a:t>31</a:t>
            </a:fld>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TM03090434[[fn=Wood Type]]</Template>
  <TotalTime>1163</TotalTime>
  <Words>2831</Words>
  <Application>Microsoft Office PowerPoint</Application>
  <PresentationFormat>On-screen Show (4:3)</PresentationFormat>
  <Paragraphs>644</Paragraphs>
  <Slides>31</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vt:lpstr>
      <vt:lpstr>Calibri</vt:lpstr>
      <vt:lpstr>Rockwell</vt:lpstr>
      <vt:lpstr>Rockwell Condensed</vt:lpstr>
      <vt:lpstr>Symbol</vt:lpstr>
      <vt:lpstr>Times New Roman</vt:lpstr>
      <vt:lpstr>Wingdings</vt:lpstr>
      <vt:lpstr>Wood Type</vt:lpstr>
      <vt:lpstr>PowerPoint Presentation</vt:lpstr>
      <vt:lpstr>CONTENTS </vt:lpstr>
      <vt:lpstr>ABSTRACT </vt:lpstr>
      <vt:lpstr>AIM</vt:lpstr>
      <vt:lpstr>INTRODUCTION</vt:lpstr>
      <vt:lpstr>ADVANTAGES</vt:lpstr>
      <vt:lpstr>   API PROFILE</vt:lpstr>
      <vt:lpstr>   LITERATURE REVIEW</vt:lpstr>
      <vt:lpstr>PLAN OF WORK </vt:lpstr>
      <vt:lpstr>NEED OF WORK</vt:lpstr>
      <vt:lpstr>METHOD OF PREPARATION OF MICROBEADS  </vt:lpstr>
      <vt:lpstr>PowerPoint Presentation</vt:lpstr>
      <vt:lpstr>                                                                                         METHODOLOGY  FORMULATION TABLE </vt:lpstr>
      <vt:lpstr>EVALUATION TESTS</vt:lpstr>
      <vt:lpstr>            EVALUATION PARAMETERS</vt:lpstr>
      <vt:lpstr>RESULTS AND DISCUSSION DEVELOPMENT OF CALIBRATION CURVE  The absorbance for various concentrations measured at 222 nm as follows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laxmicomputers</dc:creator>
  <cp:lastModifiedBy>gajji sathvika</cp:lastModifiedBy>
  <cp:revision>29</cp:revision>
  <dcterms:created xsi:type="dcterms:W3CDTF">2023-04-15T09:47:01Z</dcterms:created>
  <dcterms:modified xsi:type="dcterms:W3CDTF">2023-08-09T12:28:58Z</dcterms:modified>
</cp:coreProperties>
</file>